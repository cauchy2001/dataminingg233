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mp3" ContentType="audio/mp3"/>
  <Default Extension="rels" ContentType="application/vnd.openxmlformats-package.relationship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edia2.webm" ContentType="video/webm"/>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51" r:id="rId5"/>
    <p:sldId id="353" r:id="rId6"/>
    <p:sldId id="294" r:id="rId7"/>
    <p:sldId id="293" r:id="rId8"/>
    <p:sldId id="296" r:id="rId9"/>
    <p:sldId id="298" r:id="rId10"/>
    <p:sldId id="299" r:id="rId11"/>
    <p:sldId id="300" r:id="rId12"/>
    <p:sldId id="301" r:id="rId13"/>
    <p:sldId id="302" r:id="rId14"/>
    <p:sldId id="350" r:id="rId15"/>
    <p:sldId id="354" r:id="rId16"/>
    <p:sldId id="355"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281" r:id="rId32"/>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8" userDrawn="1">
          <p15:clr>
            <a:srgbClr val="A4A3A4"/>
          </p15:clr>
        </p15:guide>
        <p15:guide id="2" pos="3838" userDrawn="1">
          <p15:clr>
            <a:srgbClr val="A4A3A4"/>
          </p15:clr>
        </p15:guide>
        <p15:guide id="3" pos="515" userDrawn="1">
          <p15:clr>
            <a:srgbClr val="A4A3A4"/>
          </p15:clr>
        </p15:guide>
        <p15:guide id="4" pos="7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0" autoAdjust="0"/>
    <p:restoredTop sz="92866" autoAdjust="0"/>
  </p:normalViewPr>
  <p:slideViewPr>
    <p:cSldViewPr snapToGrid="0" showGuides="1">
      <p:cViewPr varScale="1">
        <p:scale>
          <a:sx n="84" d="100"/>
          <a:sy n="84" d="100"/>
        </p:scale>
        <p:origin x="136" y="1724"/>
      </p:cViewPr>
      <p:guideLst>
        <p:guide orient="horz" pos="2118"/>
        <p:guide pos="3838"/>
        <p:guide pos="515"/>
        <p:guide pos="7120"/>
      </p:guideLst>
    </p:cSldViewPr>
  </p:slideViewPr>
  <p:notesTextViewPr>
    <p:cViewPr>
      <p:scale>
        <a:sx n="50" d="100"/>
        <a:sy n="50" d="100"/>
      </p:scale>
      <p:origin x="0" y="0"/>
    </p:cViewPr>
  </p:notesTextViewPr>
  <p:sorterViewPr>
    <p:cViewPr>
      <p:scale>
        <a:sx n="66" d="100"/>
        <a:sy n="66" d="100"/>
      </p:scale>
      <p:origin x="0" y="-201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3.xml"/><Relationship Id="rId37" Type="http://schemas.openxmlformats.org/officeDocument/2006/relationships/customXml" Target="../customXml/item1.xml"/><Relationship Id="rId36" Type="http://schemas.openxmlformats.org/officeDocument/2006/relationships/customXmlProps" Target="../customXml/itemProps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F3CA76-B799-4CDE-9068-35594054F5E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72012-16E0-4556-8392-F42A35F3BE0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872012-16E0-4556-8392-F42A35F3BE0C}"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亮亮图文旗舰店</a:t>
            </a:r>
            <a:endParaRPr lang="zh-CN" altLang="en-US" dirty="0"/>
          </a:p>
          <a:p>
            <a:r>
              <a:rPr lang="en-US" altLang="zh-CN" dirty="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A85244-8474-43F7-83A3-B98FF2C18C2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54F68-C83E-4C64-8DA0-E0B44EF8E0F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A85244-8474-43F7-83A3-B98FF2C18C2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C54F68-C83E-4C64-8DA0-E0B44EF8E0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media" Target="../media/media1.mp3"/><Relationship Id="rId3" Type="http://schemas.openxmlformats.org/officeDocument/2006/relationships/audio" Target="../media/media1.mp3"/><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tags" Target="../tags/tag1.xml"/><Relationship Id="rId2" Type="http://schemas.microsoft.com/office/2007/relationships/media" Target="../media/media2.webm"/><Relationship Id="rId1" Type="http://schemas.openxmlformats.org/officeDocument/2006/relationships/video" Target="../media/media2.webm"/></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media" Target="../media/media3.mp3"/><Relationship Id="rId3" Type="http://schemas.openxmlformats.org/officeDocument/2006/relationships/audio" Target="../media/media3.mp3"/><Relationship Id="rId2" Type="http://schemas.openxmlformats.org/officeDocument/2006/relationships/image" Target="../media/image3.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2561866" y="-185945"/>
            <a:ext cx="12192000" cy="6858000"/>
            <a:chOff x="-9441874" y="-1384720"/>
            <a:chExt cx="12192000" cy="6858000"/>
          </a:xfrm>
        </p:grpSpPr>
        <p:pic>
          <p:nvPicPr>
            <p:cNvPr id="1026" name="Picture 2" descr="http://pic.97uimg.com/back_pic/00/01/88/75/dab74c05ca1b40a8122bedf0e8ad055b.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4420"/>
            <a:stretch>
              <a:fillRect/>
            </a:stretch>
          </p:blipFill>
          <p:spPr bwMode="auto">
            <a:xfrm>
              <a:off x="-9441599" y="-1384719"/>
              <a:ext cx="1219145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9441874" y="-138472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252652" y="2173931"/>
            <a:ext cx="8939348"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782210" y="2938825"/>
            <a:ext cx="5626628" cy="830997"/>
          </a:xfrm>
          <a:prstGeom prst="rect">
            <a:avLst/>
          </a:prstGeom>
          <a:noFill/>
        </p:spPr>
        <p:txBody>
          <a:bodyPr wrap="square" rtlCol="0">
            <a:spAutoFit/>
          </a:bodyPr>
          <a:lstStyle/>
          <a:p>
            <a:pPr algn="just"/>
            <a:r>
              <a:rPr lang="zh-CN" altLang="en-US" sz="4800" b="1" spc="300" dirty="0">
                <a:solidFill>
                  <a:schemeClr val="bg1"/>
                </a:solidFill>
              </a:rPr>
              <a:t>北京航空航天大学</a:t>
            </a:r>
            <a:endParaRPr lang="zh-CN" altLang="en-US" sz="4800" b="1" spc="300" dirty="0">
              <a:solidFill>
                <a:schemeClr val="bg1"/>
              </a:solidFill>
            </a:endParaRPr>
          </a:p>
        </p:txBody>
      </p:sp>
      <p:sp>
        <p:nvSpPr>
          <p:cNvPr id="11" name="文本框 10"/>
          <p:cNvSpPr txBox="1"/>
          <p:nvPr/>
        </p:nvSpPr>
        <p:spPr>
          <a:xfrm>
            <a:off x="6050915" y="4338955"/>
            <a:ext cx="4874895" cy="368300"/>
          </a:xfrm>
          <a:prstGeom prst="rect">
            <a:avLst/>
          </a:prstGeom>
          <a:noFill/>
        </p:spPr>
        <p:txBody>
          <a:bodyPr wrap="square" rtlCol="0">
            <a:spAutoFit/>
          </a:bodyPr>
          <a:lstStyle/>
          <a:p>
            <a:r>
              <a:rPr lang="en-US" altLang="zh-CN" b="1" dirty="0">
                <a:solidFill>
                  <a:schemeClr val="bg1"/>
                </a:solidFill>
              </a:rPr>
              <a:t> </a:t>
            </a:r>
            <a:r>
              <a:rPr lang="zh-CN" altLang="en-US" b="1" dirty="0">
                <a:solidFill>
                  <a:schemeClr val="bg1"/>
                </a:solidFill>
              </a:rPr>
              <a:t>陈昊旸</a:t>
            </a:r>
            <a:r>
              <a:rPr lang="en-US" altLang="zh-CN" b="1" dirty="0">
                <a:solidFill>
                  <a:schemeClr val="bg1"/>
                </a:solidFill>
              </a:rPr>
              <a:t> </a:t>
            </a:r>
            <a:r>
              <a:rPr lang="zh-CN" altLang="en-US" b="1" dirty="0">
                <a:solidFill>
                  <a:schemeClr val="bg1"/>
                </a:solidFill>
              </a:rPr>
              <a:t>计算机学院</a:t>
            </a:r>
            <a:endParaRPr lang="zh-CN" altLang="en-US" b="1" dirty="0">
              <a:solidFill>
                <a:schemeClr val="bg1"/>
              </a:solidFill>
            </a:endParaRPr>
          </a:p>
        </p:txBody>
      </p:sp>
      <p:pic>
        <p:nvPicPr>
          <p:cNvPr id="19" name="Jewel - Simple Gifts">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cstate="print"/>
          <a:stretch>
            <a:fillRect/>
          </a:stretch>
        </p:blipFill>
        <p:spPr>
          <a:xfrm>
            <a:off x="0" y="-1211826"/>
            <a:ext cx="609600" cy="609600"/>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9451" y="2662728"/>
            <a:ext cx="1399822" cy="1399822"/>
          </a:xfrm>
          <a:prstGeom prst="rect">
            <a:avLst/>
          </a:prstGeom>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9"/>
                                        </p:tgtEl>
                                      </p:cBhvr>
                                    </p:cmd>
                                  </p:childTnLst>
                                </p:cTn>
                              </p:par>
                              <p:par>
                                <p:cTn id="7" presetID="22" presetClass="entr" presetSubtype="8"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500"/>
                                        <p:tgtEl>
                                          <p:spTgt spid="4"/>
                                        </p:tgtEl>
                                      </p:cBhvr>
                                    </p:animEffect>
                                  </p:childTnLst>
                                </p:cTn>
                              </p:par>
                              <p:par>
                                <p:cTn id="10" presetID="12" presetClass="entr" presetSubtype="1" fill="hold" grpId="0" nodeType="withEffect">
                                  <p:stCondLst>
                                    <p:cond delay="110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ppt_y</p:attrName>
                                        </p:attrNameLst>
                                      </p:cBhvr>
                                      <p:tavLst>
                                        <p:tav tm="0">
                                          <p:val>
                                            <p:strVal val="#ppt_y-#ppt_h*1.125000"/>
                                          </p:val>
                                        </p:tav>
                                        <p:tav tm="100000">
                                          <p:val>
                                            <p:strVal val="#ppt_y"/>
                                          </p:val>
                                        </p:tav>
                                      </p:tavLst>
                                    </p:anim>
                                    <p:animEffect transition="in" filter="wipe(down)">
                                      <p:cBhvr>
                                        <p:cTn id="13" dur="500"/>
                                        <p:tgtEl>
                                          <p:spTgt spid="5"/>
                                        </p:tgtEl>
                                      </p:cBhvr>
                                    </p:animEffect>
                                  </p:childTnLst>
                                </p:cTn>
                              </p:par>
                              <p:par>
                                <p:cTn id="14" presetID="22" presetClass="entr" presetSubtype="1" fill="hold" grpId="0" nodeType="withEffect">
                                  <p:stCondLst>
                                    <p:cond delay="150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17" repeatCount="indefinite" fill="hold" display="0">
                  <p:stCondLst>
                    <p:cond delay="indefinite"/>
                  </p:stCondLst>
                  <p:endCondLst>
                    <p:cond evt="onStopAudio" delay="0">
                      <p:tgtEl>
                        <p:sldTgt/>
                      </p:tgtEl>
                    </p:cond>
                  </p:endCondLst>
                </p:cTn>
                <p:tgtEl>
                  <p:spTgt spid="19"/>
                </p:tgtEl>
              </p:cMediaNode>
            </p:audio>
          </p:childTnLst>
        </p:cTn>
      </p:par>
    </p:tnLst>
    <p:bldLst>
      <p:bldP spid="4" grpId="0" animBg="1"/>
      <p:bldP spid="5"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zh-CN" altLang="en-US" sz="2800" b="1" spc="300" dirty="0">
                <a:solidFill>
                  <a:schemeClr val="tx1">
                    <a:lumMod val="75000"/>
                    <a:lumOff val="25000"/>
                  </a:schemeClr>
                </a:solidFill>
                <a:latin typeface="Arial" panose="020B0604020202020204" pitchFamily="34" charset="0"/>
                <a:cs typeface="Arial" panose="020B0604020202020204" pitchFamily="34" charset="0"/>
              </a:rPr>
              <a:t>工作划分</a:t>
            </a:r>
            <a:endParaRPr lang="zh-CN" altLang="en-US"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9" name="ECB019B1-382A-4266-B25C-5B523AA43C14-1" descr="C:/Users/lenovo/AppData/Local/Temp/wpp.bpGRdVwpp"/>
          <p:cNvPicPr>
            <a:picLocks noChangeAspect="1"/>
          </p:cNvPicPr>
          <p:nvPr/>
        </p:nvPicPr>
        <p:blipFill>
          <a:blip r:embed="rId1"/>
          <a:stretch>
            <a:fillRect/>
          </a:stretch>
        </p:blipFill>
        <p:spPr>
          <a:xfrm>
            <a:off x="2421573" y="654685"/>
            <a:ext cx="7112635" cy="58928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zh-CN" altLang="en-US" sz="2800" b="1" spc="300" dirty="0">
                <a:solidFill>
                  <a:schemeClr val="tx1">
                    <a:lumMod val="75000"/>
                    <a:lumOff val="25000"/>
                  </a:schemeClr>
                </a:solidFill>
                <a:latin typeface="Arial" panose="020B0604020202020204" pitchFamily="34" charset="0"/>
                <a:cs typeface="Arial" panose="020B0604020202020204" pitchFamily="34" charset="0"/>
              </a:rPr>
              <a:t>文献调研</a:t>
            </a:r>
            <a:endParaRPr lang="zh-CN" altLang="en-US"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2</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4" name="图片 3"/>
          <p:cNvPicPr>
            <a:picLocks noChangeAspect="1"/>
          </p:cNvPicPr>
          <p:nvPr/>
        </p:nvPicPr>
        <p:blipFill>
          <a:blip r:embed="rId1"/>
          <a:stretch>
            <a:fillRect/>
          </a:stretch>
        </p:blipFill>
        <p:spPr>
          <a:xfrm>
            <a:off x="2548890" y="941070"/>
            <a:ext cx="7094220" cy="3041650"/>
          </a:xfrm>
          <a:prstGeom prst="rect">
            <a:avLst/>
          </a:prstGeom>
        </p:spPr>
      </p:pic>
      <p:sp>
        <p:nvSpPr>
          <p:cNvPr id="10" name="文本框 9"/>
          <p:cNvSpPr txBox="1"/>
          <p:nvPr/>
        </p:nvSpPr>
        <p:spPr>
          <a:xfrm>
            <a:off x="3667760" y="4375150"/>
            <a:ext cx="4855845" cy="1476375"/>
          </a:xfrm>
          <a:prstGeom prst="rect">
            <a:avLst/>
          </a:prstGeom>
          <a:noFill/>
        </p:spPr>
        <p:txBody>
          <a:bodyPr wrap="square" rtlCol="0">
            <a:spAutoFit/>
          </a:bodyPr>
          <a:p>
            <a:r>
              <a:rPr lang="en-US" altLang="zh-CN"/>
              <a:t>https://metasota.ai/#/</a:t>
            </a:r>
            <a:endParaRPr lang="en-US" altLang="zh-CN"/>
          </a:p>
          <a:p>
            <a:endParaRPr lang="en-US" altLang="zh-CN"/>
          </a:p>
          <a:p>
            <a:r>
              <a:rPr lang="en-US" altLang="zh-CN"/>
              <a:t>https://www.pubmed.pro/home</a:t>
            </a:r>
            <a:endParaRPr lang="en-US" altLang="zh-CN"/>
          </a:p>
          <a:p>
            <a:endParaRPr lang="en-US" altLang="zh-CN"/>
          </a:p>
          <a:p>
            <a:r>
              <a:rPr lang="en-US" altLang="zh-CN"/>
              <a:t>https://zhida.zhihu.com/</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WritingBench</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3</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r>
              <a:rPr lang="zh-CN" altLang="en-US" sz="2000" dirty="0">
                <a:solidFill>
                  <a:schemeClr val="tx1">
                    <a:lumMod val="75000"/>
                    <a:lumOff val="25000"/>
                  </a:schemeClr>
                </a:solidFill>
                <a:uFillTx/>
                <a:latin typeface="Arial" panose="020B0604020202020204" pitchFamily="34" charset="0"/>
              </a:rPr>
              <a:t>现有</a:t>
            </a:r>
            <a:r>
              <a:rPr lang="en-US" altLang="zh-CN" sz="2000" dirty="0">
                <a:solidFill>
                  <a:schemeClr val="tx1">
                    <a:lumMod val="75000"/>
                    <a:lumOff val="25000"/>
                  </a:schemeClr>
                </a:solidFill>
                <a:uFillTx/>
                <a:latin typeface="Arial" panose="020B0604020202020204" pitchFamily="34" charset="0"/>
              </a:rPr>
              <a:t>AI</a:t>
            </a:r>
            <a:r>
              <a:rPr lang="zh-CN" altLang="en-US" sz="2000" dirty="0">
                <a:solidFill>
                  <a:schemeClr val="tx1">
                    <a:lumMod val="75000"/>
                    <a:lumOff val="25000"/>
                  </a:schemeClr>
                </a:solidFill>
                <a:uFillTx/>
                <a:latin typeface="Arial" panose="020B0604020202020204" pitchFamily="34" charset="0"/>
              </a:rPr>
              <a:t>写作评估多局限于单一领域和短文本，大多聚焦于文学小说创作，而商业文书、法律文书以及因社交媒体发展催生的营销类写作等领域则成为评估盲区。此外，传统评估方法多采用固定标准来衡量不同的复杂场景。数据表明，传统评估方法与人类判断的一致性不足</a:t>
            </a:r>
            <a:r>
              <a:rPr lang="en-US" altLang="zh-CN" sz="2000" dirty="0">
                <a:solidFill>
                  <a:schemeClr val="tx1">
                    <a:lumMod val="75000"/>
                    <a:lumOff val="25000"/>
                  </a:schemeClr>
                </a:solidFill>
                <a:uFillTx/>
                <a:latin typeface="Arial" panose="020B0604020202020204" pitchFamily="34" charset="0"/>
              </a:rPr>
              <a:t>65%</a:t>
            </a:r>
            <a:r>
              <a:rPr lang="zh-CN" altLang="en-US" sz="2000" dirty="0">
                <a:solidFill>
                  <a:schemeClr val="tx1">
                    <a:lumMod val="75000"/>
                    <a:lumOff val="25000"/>
                  </a:schemeClr>
                </a:solidFill>
                <a:uFillTx/>
                <a:latin typeface="Arial" panose="020B0604020202020204" pitchFamily="34" charset="0"/>
              </a:rPr>
              <a:t>，严重制约了创作型</a:t>
            </a:r>
            <a:r>
              <a:rPr lang="en-US" altLang="zh-CN" sz="2000" dirty="0">
                <a:solidFill>
                  <a:schemeClr val="tx1">
                    <a:lumMod val="75000"/>
                    <a:lumOff val="25000"/>
                  </a:schemeClr>
                </a:solidFill>
                <a:uFillTx/>
                <a:latin typeface="Arial" panose="020B0604020202020204" pitchFamily="34" charset="0"/>
              </a:rPr>
              <a:t>AI</a:t>
            </a:r>
            <a:r>
              <a:rPr lang="zh-CN" altLang="en-US" sz="2000" dirty="0">
                <a:solidFill>
                  <a:schemeClr val="tx1">
                    <a:lumMod val="75000"/>
                    <a:lumOff val="25000"/>
                  </a:schemeClr>
                </a:solidFill>
                <a:uFillTx/>
                <a:latin typeface="Arial" panose="020B0604020202020204" pitchFamily="34" charset="0"/>
              </a:rPr>
              <a:t>的发展。</a:t>
            </a:r>
            <a:endParaRPr lang="zh-CN" altLang="en-US" sz="2000" dirty="0">
              <a:solidFill>
                <a:schemeClr val="tx1">
                  <a:lumMod val="75000"/>
                  <a:lumOff val="25000"/>
                </a:schemeClr>
              </a:solidFill>
              <a:uFillTx/>
              <a:latin typeface="Arial" panose="020B0604020202020204" pitchFamily="34" charset="0"/>
            </a:endParaRPr>
          </a:p>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pic>
        <p:nvPicPr>
          <p:cNvPr id="9" name="图片 8"/>
          <p:cNvPicPr/>
          <p:nvPr/>
        </p:nvPicPr>
        <p:blipFill>
          <a:blip r:embed="rId1"/>
          <a:stretch>
            <a:fillRect/>
          </a:stretch>
        </p:blipFill>
        <p:spPr>
          <a:xfrm>
            <a:off x="813435" y="2504758"/>
            <a:ext cx="10287000" cy="28670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Topic</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4</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11" name="图片 10"/>
          <p:cNvPicPr/>
          <p:nvPr/>
        </p:nvPicPr>
        <p:blipFill>
          <a:blip r:embed="rId1"/>
          <a:stretch>
            <a:fillRect/>
          </a:stretch>
        </p:blipFill>
        <p:spPr>
          <a:xfrm>
            <a:off x="1066800" y="920750"/>
            <a:ext cx="4862195" cy="3969385"/>
          </a:xfrm>
          <a:prstGeom prst="rect">
            <a:avLst/>
          </a:prstGeom>
        </p:spPr>
      </p:pic>
      <p:pic>
        <p:nvPicPr>
          <p:cNvPr id="13" name="图片 12"/>
          <p:cNvPicPr/>
          <p:nvPr/>
        </p:nvPicPr>
        <p:blipFill>
          <a:blip r:embed="rId2"/>
          <a:stretch>
            <a:fillRect/>
          </a:stretch>
        </p:blipFill>
        <p:spPr>
          <a:xfrm>
            <a:off x="6096000" y="819150"/>
            <a:ext cx="5355590" cy="4008755"/>
          </a:xfrm>
          <a:prstGeom prst="rect">
            <a:avLst/>
          </a:prstGeom>
        </p:spPr>
      </p:pic>
      <p:pic>
        <p:nvPicPr>
          <p:cNvPr id="15" name="图片 14"/>
          <p:cNvPicPr/>
          <p:nvPr/>
        </p:nvPicPr>
        <p:blipFill>
          <a:blip r:embed="rId3"/>
          <a:stretch>
            <a:fillRect/>
          </a:stretch>
        </p:blipFill>
        <p:spPr>
          <a:xfrm>
            <a:off x="952500" y="4889183"/>
            <a:ext cx="10287000" cy="16859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Detail</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5</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4" name="图片 3"/>
          <p:cNvPicPr/>
          <p:nvPr/>
        </p:nvPicPr>
        <p:blipFill>
          <a:blip r:embed="rId1"/>
          <a:stretch>
            <a:fillRect/>
          </a:stretch>
        </p:blipFill>
        <p:spPr>
          <a:xfrm>
            <a:off x="818515" y="1016635"/>
            <a:ext cx="10554970" cy="46602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Result</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6</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10" name="图片 9" descr="6f823c9ca39998e9f91684ca1ea2e81"/>
          <p:cNvPicPr>
            <a:picLocks noChangeAspect="1"/>
          </p:cNvPicPr>
          <p:nvPr/>
        </p:nvPicPr>
        <p:blipFill>
          <a:blip r:embed="rId1"/>
          <a:stretch>
            <a:fillRect/>
          </a:stretch>
        </p:blipFill>
        <p:spPr>
          <a:xfrm>
            <a:off x="1294130" y="842645"/>
            <a:ext cx="9604375" cy="56324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Result</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7</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4" name="图片 3"/>
          <p:cNvPicPr/>
          <p:nvPr/>
        </p:nvPicPr>
        <p:blipFill>
          <a:blip r:embed="rId1"/>
          <a:stretch>
            <a:fillRect/>
          </a:stretch>
        </p:blipFill>
        <p:spPr>
          <a:xfrm>
            <a:off x="201295" y="1056005"/>
            <a:ext cx="11790045" cy="44964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Result</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8</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9" name="图片 8"/>
          <p:cNvPicPr>
            <a:picLocks noChangeAspect="1"/>
          </p:cNvPicPr>
          <p:nvPr/>
        </p:nvPicPr>
        <p:blipFill>
          <a:blip r:embed="rId1"/>
          <a:stretch>
            <a:fillRect/>
          </a:stretch>
        </p:blipFill>
        <p:spPr>
          <a:xfrm>
            <a:off x="2815590" y="849630"/>
            <a:ext cx="6560820" cy="51587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Deepwriting</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9</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文本框 3"/>
          <p:cNvSpPr txBox="1"/>
          <p:nvPr/>
        </p:nvSpPr>
        <p:spPr>
          <a:xfrm>
            <a:off x="1238885" y="979805"/>
            <a:ext cx="6748780" cy="368300"/>
          </a:xfrm>
          <a:prstGeom prst="rect">
            <a:avLst/>
          </a:prstGeom>
          <a:noFill/>
        </p:spPr>
        <p:txBody>
          <a:bodyPr wrap="square" rtlCol="0">
            <a:spAutoFit/>
          </a:bodyPr>
          <a:lstStyle/>
          <a:p>
            <a:r>
              <a:rPr lang="en-US" altLang="zh-CN"/>
              <a:t>https://modelscope.cn/studios/iic/DeepWriting</a:t>
            </a:r>
            <a:endParaRPr lang="en-US" altLang="zh-CN"/>
          </a:p>
        </p:txBody>
      </p:sp>
      <p:pic>
        <p:nvPicPr>
          <p:cNvPr id="10" name="图片 9"/>
          <p:cNvPicPr>
            <a:picLocks noChangeAspect="1"/>
          </p:cNvPicPr>
          <p:nvPr/>
        </p:nvPicPr>
        <p:blipFill>
          <a:blip r:embed="rId1"/>
          <a:stretch>
            <a:fillRect/>
          </a:stretch>
        </p:blipFill>
        <p:spPr>
          <a:xfrm>
            <a:off x="899795" y="1348105"/>
            <a:ext cx="10392410" cy="51828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Deepwriting</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8</a:t>
              </a:r>
              <a:endParaRPr lang="zh-CN" altLang="en-US"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文本框 3"/>
          <p:cNvSpPr txBox="1"/>
          <p:nvPr/>
        </p:nvSpPr>
        <p:spPr>
          <a:xfrm>
            <a:off x="1238885" y="979805"/>
            <a:ext cx="6748780" cy="368300"/>
          </a:xfrm>
          <a:prstGeom prst="rect">
            <a:avLst/>
          </a:prstGeom>
          <a:noFill/>
        </p:spPr>
        <p:txBody>
          <a:bodyPr wrap="square" rtlCol="0">
            <a:spAutoFit/>
          </a:bodyPr>
          <a:lstStyle/>
          <a:p>
            <a:r>
              <a:rPr lang="en-US" altLang="zh-CN"/>
              <a:t>https://modelscope.cn/studios/iic/DeepWriting</a:t>
            </a:r>
            <a:endParaRPr lang="en-US" altLang="zh-CN"/>
          </a:p>
        </p:txBody>
      </p:sp>
      <p:pic>
        <p:nvPicPr>
          <p:cNvPr id="9" name="图片 8"/>
          <p:cNvPicPr>
            <a:picLocks noChangeAspect="1"/>
          </p:cNvPicPr>
          <p:nvPr/>
        </p:nvPicPr>
        <p:blipFill>
          <a:blip r:embed="rId1"/>
          <a:stretch>
            <a:fillRect/>
          </a:stretch>
        </p:blipFill>
        <p:spPr>
          <a:xfrm>
            <a:off x="1200150" y="1409700"/>
            <a:ext cx="9812020" cy="49961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Deepwriting</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10</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文本框 3"/>
          <p:cNvSpPr txBox="1"/>
          <p:nvPr/>
        </p:nvSpPr>
        <p:spPr>
          <a:xfrm>
            <a:off x="1238885" y="979805"/>
            <a:ext cx="6748780" cy="368300"/>
          </a:xfrm>
          <a:prstGeom prst="rect">
            <a:avLst/>
          </a:prstGeom>
          <a:noFill/>
        </p:spPr>
        <p:txBody>
          <a:bodyPr wrap="square" rtlCol="0">
            <a:spAutoFit/>
          </a:bodyPr>
          <a:lstStyle/>
          <a:p>
            <a:r>
              <a:rPr lang="en-US" altLang="zh-CN"/>
              <a:t>https://modelscope.cn/studios/iic/DeepWriting</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Typral</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10</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9" name="文本框 8"/>
          <p:cNvSpPr txBox="1"/>
          <p:nvPr/>
        </p:nvSpPr>
        <p:spPr>
          <a:xfrm>
            <a:off x="2863215" y="966470"/>
            <a:ext cx="6096000" cy="645160"/>
          </a:xfrm>
          <a:prstGeom prst="rect">
            <a:avLst/>
          </a:prstGeom>
          <a:noFill/>
        </p:spPr>
        <p:txBody>
          <a:bodyPr wrap="square" rtlCol="0" anchor="t">
            <a:spAutoFit/>
          </a:bodyPr>
          <a:p>
            <a:r>
              <a:rPr lang="en-US" altLang="zh-CN"/>
              <a:t>https://github.com/deepseek-ai/awesome-deepseek-integration/blob/main/README_cn.md</a:t>
            </a:r>
            <a:endParaRPr lang="zh-CN" altLang="en-US"/>
          </a:p>
        </p:txBody>
      </p:sp>
      <p:pic>
        <p:nvPicPr>
          <p:cNvPr id="10" name="图片 9"/>
          <p:cNvPicPr>
            <a:picLocks noChangeAspect="1"/>
          </p:cNvPicPr>
          <p:nvPr/>
        </p:nvPicPr>
        <p:blipFill>
          <a:blip r:embed="rId1"/>
          <a:stretch>
            <a:fillRect/>
          </a:stretch>
        </p:blipFill>
        <p:spPr>
          <a:xfrm>
            <a:off x="2053590" y="1611630"/>
            <a:ext cx="7539990" cy="42843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Arial" panose="020B0604020202020204" pitchFamily="34" charset="0"/>
                <a:cs typeface="Arial" panose="020B0604020202020204" pitchFamily="34" charset="0"/>
              </a:rPr>
              <a:t>Typral</a:t>
            </a:r>
            <a:endParaRPr lang="en-US" altLang="zh-CN" sz="2800" b="1" spc="3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11</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4" name="shower1">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570865" y="1499870"/>
            <a:ext cx="11050270" cy="36823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0">
              <p:cMediaNode>
                <p:cTn id="12" fill="hold" display="1">
                  <p:stCondLst>
                    <p:cond delay="indefinite"/>
                  </p:stCondLst>
                </p:cTn>
                <p:tgtEl>
                  <p:spTgt spid="4"/>
                </p:tgtEl>
              </p:cMediaNode>
            </p:video>
            <p:seq concurrent="1" nextAc="seek">
              <p:cTn id="13" restart="whenNotActive" fill="hold" evtFilter="cancelBubble" nodeType="interactiveSeq">
                <p:stCondLst>
                  <p:cond evt="onClick" delay="0">
                    <p:tgtEl>
                      <p:spTgt spid="4"/>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additive="base">
                                        <p:cTn id="17" dur="1" fill="hold"/>
                                        <p:tgtEl>
                                          <p:spTgt spid="4"/>
                                        </p:tgtEl>
                                      </p:cBhvr>
                                    </p:cmd>
                                  </p:childTnLst>
                                </p:cTn>
                              </p:par>
                            </p:childTnLst>
                          </p:cTn>
                        </p:par>
                      </p:childTnLst>
                    </p:cTn>
                  </p:par>
                </p:childTnLst>
              </p:cTn>
              <p:nextCondLst>
                <p:cond evt="onClick" delay="0">
                  <p:tgtEl>
                    <p:spTgt spid="4"/>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zh-CN" altLang="en-US" sz="2800" b="1">
                <a:latin typeface="微软雅黑" panose="020B0503020204020204" charset="-122"/>
                <a:ea typeface="微软雅黑" panose="020B0503020204020204" charset="-122"/>
                <a:sym typeface="+mn-ea"/>
              </a:rPr>
              <a:t>阿里云百练</a:t>
            </a:r>
            <a:endParaRPr lang="zh-CN" altLang="en-US" sz="2800" b="1" spc="3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a:t>
              </a:r>
              <a:endParaRPr lang="zh-CN" altLang="en-US"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995045" y="955675"/>
            <a:ext cx="8659495" cy="368300"/>
          </a:xfrm>
          <a:prstGeom prst="rect">
            <a:avLst/>
          </a:prstGeom>
          <a:noFill/>
        </p:spPr>
        <p:txBody>
          <a:bodyPr wrap="square" rtlCol="0">
            <a:spAutoFit/>
          </a:bodyPr>
          <a:p>
            <a:r>
              <a:rPr lang="en-US" altLang="zh-CN"/>
              <a:t>https://bailian.console.aliyun.com/?tab=home#/home</a:t>
            </a:r>
            <a:endParaRPr lang="zh-CN" altLang="en-US"/>
          </a:p>
        </p:txBody>
      </p:sp>
      <p:pic>
        <p:nvPicPr>
          <p:cNvPr id="11" name="图片 10"/>
          <p:cNvPicPr>
            <a:picLocks noChangeAspect="1"/>
          </p:cNvPicPr>
          <p:nvPr/>
        </p:nvPicPr>
        <p:blipFill>
          <a:blip r:embed="rId1"/>
          <a:stretch>
            <a:fillRect/>
          </a:stretch>
        </p:blipFill>
        <p:spPr>
          <a:xfrm>
            <a:off x="535305" y="1323975"/>
            <a:ext cx="11000740" cy="50374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zh-CN" altLang="en-US" sz="2800" b="1">
                <a:latin typeface="微软雅黑" panose="020B0503020204020204" charset="-122"/>
                <a:ea typeface="微软雅黑" panose="020B0503020204020204" charset="-122"/>
                <a:sym typeface="+mn-ea"/>
              </a:rPr>
              <a:t>阿里云百练</a:t>
            </a:r>
            <a:endParaRPr lang="zh-CN" altLang="en-US" sz="2800" b="1" spc="3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2</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pic>
        <p:nvPicPr>
          <p:cNvPr id="10" name="图片 9"/>
          <p:cNvPicPr>
            <a:picLocks noChangeAspect="1"/>
          </p:cNvPicPr>
          <p:nvPr/>
        </p:nvPicPr>
        <p:blipFill>
          <a:blip r:embed="rId1"/>
          <a:stretch>
            <a:fillRect/>
          </a:stretch>
        </p:blipFill>
        <p:spPr>
          <a:xfrm>
            <a:off x="514350" y="1311910"/>
            <a:ext cx="11163300" cy="51396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a:latin typeface="微软雅黑" panose="020B0503020204020204" charset="-122"/>
                <a:ea typeface="微软雅黑" panose="020B0503020204020204" charset="-122"/>
                <a:sym typeface="+mn-ea"/>
              </a:rPr>
              <a:t>API</a:t>
            </a:r>
            <a:r>
              <a:rPr lang="zh-CN" altLang="en-US" sz="2800" b="1">
                <a:latin typeface="微软雅黑" panose="020B0503020204020204" charset="-122"/>
                <a:ea typeface="微软雅黑" panose="020B0503020204020204" charset="-122"/>
                <a:sym typeface="+mn-ea"/>
              </a:rPr>
              <a:t>调用</a:t>
            </a:r>
            <a:endParaRPr lang="zh-CN" altLang="en-US" sz="2800" b="1" spc="3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sym typeface="+mn-ea"/>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3</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pic>
        <p:nvPicPr>
          <p:cNvPr id="9" name="图片 8"/>
          <p:cNvPicPr>
            <a:picLocks noChangeAspect="1"/>
          </p:cNvPicPr>
          <p:nvPr/>
        </p:nvPicPr>
        <p:blipFill>
          <a:blip r:embed="rId1"/>
          <a:stretch>
            <a:fillRect/>
          </a:stretch>
        </p:blipFill>
        <p:spPr>
          <a:xfrm>
            <a:off x="1238885" y="725805"/>
            <a:ext cx="9783445" cy="57638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953135"/>
          </a:xfrm>
          <a:prstGeom prst="rect">
            <a:avLst/>
          </a:prstGeom>
          <a:noFill/>
        </p:spPr>
        <p:txBody>
          <a:bodyPr wrap="square" rtlCol="0">
            <a:spAutoFit/>
          </a:bodyPr>
          <a:lstStyle/>
          <a:p>
            <a:r>
              <a:rPr lang="en-US"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system_prompt user_prompt</a:t>
            </a:r>
            <a:endParaRPr lang="en-US"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4</a:t>
              </a:r>
              <a:endParaRPr lang="zh-CN" altLang="en-US"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pic>
        <p:nvPicPr>
          <p:cNvPr id="11" name="图片 10"/>
          <p:cNvPicPr>
            <a:picLocks noChangeAspect="1"/>
          </p:cNvPicPr>
          <p:nvPr/>
        </p:nvPicPr>
        <p:blipFill>
          <a:blip r:embed="rId1"/>
          <a:stretch>
            <a:fillRect/>
          </a:stretch>
        </p:blipFill>
        <p:spPr>
          <a:xfrm>
            <a:off x="1108710" y="1710690"/>
            <a:ext cx="9974580" cy="34366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API</a:t>
            </a:r>
            <a:r>
              <a:rPr lang="zh-CN" altLang="en-US"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调用</a:t>
            </a:r>
            <a:endParaRPr lang="zh-CN" altLang="en-US"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5</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pic>
        <p:nvPicPr>
          <p:cNvPr id="10" name="图片 9"/>
          <p:cNvPicPr>
            <a:picLocks noChangeAspect="1"/>
          </p:cNvPicPr>
          <p:nvPr/>
        </p:nvPicPr>
        <p:blipFill>
          <a:blip r:embed="rId1"/>
          <a:stretch>
            <a:fillRect/>
          </a:stretch>
        </p:blipFill>
        <p:spPr>
          <a:xfrm>
            <a:off x="777875" y="741680"/>
            <a:ext cx="10515600" cy="54527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prompt</a:t>
            </a:r>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7</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3415030"/>
          </a:xfrm>
          <a:prstGeom prst="rect">
            <a:avLst/>
          </a:prstGeom>
          <a:noFill/>
        </p:spPr>
        <p:txBody>
          <a:bodyPr wrap="square" rtlCol="0">
            <a:spAutoFit/>
          </a:bodyPr>
          <a:p>
            <a:r>
              <a:rPr lang="en-US" altLang="zh-CN"/>
              <a:t>    user_prompt ='''</a:t>
            </a:r>
            <a:endParaRPr lang="en-US" altLang="zh-CN"/>
          </a:p>
          <a:p>
            <a:r>
              <a:rPr lang="en-US" altLang="zh-CN"/>
              <a:t>        Generate a title for my paper on </a:t>
            </a:r>
            <a:r>
              <a:rPr lang="en-US" altLang="zh-CN">
                <a:solidFill>
                  <a:srgbClr val="FF0000"/>
                </a:solidFill>
              </a:rPr>
              <a:t>Unsupervised In-Context Learning: Navigating from Intractable Complexity to Practical Applications</a:t>
            </a:r>
            <a:r>
              <a:rPr lang="en-US" altLang="zh-CN"/>
              <a:t>. The title should be no more than 15 words, use precise academic terms to summarize the research content, and be engaging enough to reflect the core findings and attract academic interest.</a:t>
            </a:r>
            <a:endParaRPr lang="en-US" altLang="zh-CN"/>
          </a:p>
          <a:p>
            <a:r>
              <a:rPr lang="en-US" altLang="zh-CN"/>
              <a:t>    ''' </a:t>
            </a:r>
            <a:endParaRPr lang="en-US" altLang="zh-CN"/>
          </a:p>
          <a:p>
            <a:r>
              <a:rPr lang="en-US" altLang="zh-CN"/>
              <a:t>    system_prompt = '''</a:t>
            </a:r>
            <a:endParaRPr lang="en-US" altLang="zh-CN"/>
          </a:p>
          <a:p>
            <a:r>
              <a:rPr lang="en-US" altLang="zh-CN"/>
              <a:t>        Act as an experienced academic writing expert specializing in </a:t>
            </a:r>
            <a:r>
              <a:rPr lang="en-US" altLang="zh-CN">
                <a:solidFill>
                  <a:srgbClr val="FF0000"/>
                </a:solidFill>
              </a:rPr>
              <a:t>in-context learning</a:t>
            </a:r>
            <a:r>
              <a:rPr lang="en-US" altLang="zh-CN"/>
              <a:t>. Review my research paper draft, focusing on improving the logical flow, strengthening arguments, and refining language for publication quality. Highlight areas needing clarification or further development, and suggest specific improvements.</a:t>
            </a:r>
            <a:endParaRPr lang="en-US" altLang="zh-CN"/>
          </a:p>
          <a:p>
            <a:r>
              <a:rPr lang="en-US" altLang="zh-CN"/>
              <a:t>    '''</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response</a:t>
            </a:r>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8</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5631180"/>
          </a:xfrm>
          <a:prstGeom prst="rect">
            <a:avLst/>
          </a:prstGeom>
          <a:noFill/>
        </p:spPr>
        <p:txBody>
          <a:bodyPr wrap="square" rtlCol="0">
            <a:spAutoFit/>
          </a:bodyPr>
          <a:p>
            <a:r>
              <a:rPr lang="en-US" altLang="zh-CN"/>
              <a:t>Response: **Title:**</a:t>
            </a:r>
            <a:endParaRPr lang="en-US" altLang="zh-CN"/>
          </a:p>
          <a:p>
            <a:r>
              <a:rPr lang="en-US" altLang="zh-CN"/>
              <a:t>*"</a:t>
            </a:r>
            <a:r>
              <a:rPr lang="en-US" altLang="zh-CN">
                <a:solidFill>
                  <a:srgbClr val="FF0000"/>
                </a:solidFill>
              </a:rPr>
              <a:t>Unsupervised In-Context Learning: Bridging Computational Intractability to Real-World Applications via Adaptive Model Paradigms</a:t>
            </a:r>
            <a:r>
              <a:rPr lang="en-US" altLang="zh-CN"/>
              <a:t>"*</a:t>
            </a:r>
            <a:endParaRPr lang="en-US" altLang="zh-CN"/>
          </a:p>
          <a:p>
            <a:endParaRPr lang="en-US" altLang="zh-CN"/>
          </a:p>
          <a:p>
            <a:r>
              <a:rPr lang="en-US" altLang="zh-CN"/>
              <a:t>**Rationale:**</a:t>
            </a:r>
            <a:endParaRPr lang="en-US" altLang="zh-CN"/>
          </a:p>
          <a:p>
            <a:r>
              <a:rPr lang="en-US" altLang="zh-CN"/>
              <a:t>- **Precision:** "Computational intractability" replaces "intractable complexity" to align with formal complexity theory terminology. "Adaptive model paradigms" emphasizes methodological innovation.</a:t>
            </a:r>
            <a:endParaRPr lang="en-US" altLang="zh-CN"/>
          </a:p>
          <a:p>
            <a:r>
              <a:rPr lang="en-US" altLang="zh-CN"/>
              <a:t>- **Engagement:** "Bridging" signals problem-solving progress, while "real-world applications" highlights practical relevance.</a:t>
            </a:r>
            <a:endParaRPr lang="en-US" altLang="zh-CN"/>
          </a:p>
          <a:p>
            <a:r>
              <a:rPr lang="en-US" altLang="zh-CN"/>
              <a:t>- **Structure:** Colon separates the core concept (unsupervised in-context learning) from its contribution (solving intractability for deployment).</a:t>
            </a:r>
            <a:endParaRPr lang="en-US" altLang="zh-CN"/>
          </a:p>
          <a:p>
            <a:r>
              <a:rPr lang="en-US" altLang="zh-CN"/>
              <a:t>- **Length:** 14 words, meeting the 15-word limit.</a:t>
            </a:r>
            <a:endParaRPr lang="en-US" altLang="zh-CN"/>
          </a:p>
          <a:p>
            <a:endParaRPr lang="en-US" altLang="zh-CN"/>
          </a:p>
          <a:p>
            <a:r>
              <a:rPr lang="en-US" altLang="zh-CN"/>
              <a:t>**Alternatives (if refinement needed):**</a:t>
            </a:r>
            <a:endParaRPr lang="en-US" altLang="zh-CN"/>
          </a:p>
          <a:p>
            <a:r>
              <a:rPr lang="en-US" altLang="zh-CN"/>
              <a:t>1. *"From Theory to Practice: Adaptive Frameworks for Scalable Unsupervised In-Context Learning"*</a:t>
            </a:r>
            <a:endParaRPr lang="en-US" altLang="zh-CN"/>
          </a:p>
          <a:p>
            <a:r>
              <a:rPr lang="en-US" altLang="zh-CN"/>
              <a:t>2. *"Unsupervised In-Context Learning: Mitigating Complexity Through Latent Structure Discovery and Task-Agnostic Optimization"*</a:t>
            </a:r>
            <a:endParaRPr lang="en-US" altLang="zh-CN"/>
          </a:p>
          <a:p>
            <a:endParaRPr lang="en-US" altLang="zh-CN"/>
          </a:p>
          <a:p>
            <a:r>
              <a:rPr lang="en-US" altLang="zh-CN"/>
              <a:t>Let me know if you'd like adjustments to emphasize specific technical contributions (e.g., algorithmic innovations, empirical benchmarks).</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953135"/>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prompt</a:t>
            </a:r>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9</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3415030"/>
          </a:xfrm>
          <a:prstGeom prst="rect">
            <a:avLst/>
          </a:prstGeom>
          <a:noFill/>
        </p:spPr>
        <p:txBody>
          <a:bodyPr wrap="square" rtlCol="0">
            <a:spAutoFit/>
          </a:bodyPr>
          <a:p>
            <a:r>
              <a:rPr lang="en-US" altLang="zh-CN"/>
              <a:t>    user_prompt ='''</a:t>
            </a:r>
            <a:endParaRPr lang="en-US" altLang="zh-CN"/>
          </a:p>
          <a:p>
            <a:r>
              <a:rPr lang="en-US" altLang="zh-CN"/>
              <a:t>        Write the introduction for my paper, explaining the research background and importance, identifying gaps or challenges in the current research, and stating the objective and innovative contributions of the study. The introduction should be no more than 300 words, logically clear, and engaging to readers.</a:t>
            </a:r>
            <a:endParaRPr lang="en-US" altLang="zh-CN"/>
          </a:p>
          <a:p>
            <a:r>
              <a:rPr lang="en-US" altLang="zh-CN"/>
              <a:t>    ''' </a:t>
            </a:r>
            <a:endParaRPr lang="en-US" altLang="zh-CN"/>
          </a:p>
          <a:p>
            <a:r>
              <a:rPr lang="en-US" altLang="zh-CN"/>
              <a:t>    system_prompt = '''</a:t>
            </a:r>
            <a:endParaRPr lang="en-US" altLang="zh-CN"/>
          </a:p>
          <a:p>
            <a:r>
              <a:rPr lang="en-US" altLang="zh-CN"/>
              <a:t>        Act as an experienced academic writing expert specializing in</a:t>
            </a:r>
            <a:r>
              <a:rPr lang="en-US" altLang="zh-CN">
                <a:solidFill>
                  <a:srgbClr val="FF0000"/>
                </a:solidFill>
              </a:rPr>
              <a:t> in-context learning</a:t>
            </a:r>
            <a:r>
              <a:rPr lang="en-US" altLang="zh-CN"/>
              <a:t>. Review my research paper draft, focusing on improving the logical flow, strengthening arguments, and refining language for publication quality. Highlight areas needing clarification or further development, and suggest specific improvements.</a:t>
            </a:r>
            <a:endParaRPr lang="en-US" altLang="zh-CN"/>
          </a:p>
          <a:p>
            <a:r>
              <a:rPr lang="en-US" altLang="zh-CN"/>
              <a:t>    '''</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response</a:t>
            </a:r>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10</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11" name="文本框 10"/>
          <p:cNvSpPr txBox="1"/>
          <p:nvPr/>
        </p:nvSpPr>
        <p:spPr>
          <a:xfrm>
            <a:off x="640715" y="853440"/>
            <a:ext cx="11017885" cy="5077460"/>
          </a:xfrm>
          <a:prstGeom prst="rect">
            <a:avLst/>
          </a:prstGeom>
          <a:noFill/>
        </p:spPr>
        <p:txBody>
          <a:bodyPr wrap="square" rtlCol="0">
            <a:spAutoFit/>
          </a:bodyPr>
          <a:p>
            <a:r>
              <a:rPr lang="en-US" altLang="zh-CN"/>
              <a:t>Response: **</a:t>
            </a:r>
            <a:r>
              <a:rPr lang="en-US" altLang="zh-CN">
                <a:solidFill>
                  <a:srgbClr val="FF0000"/>
                </a:solidFill>
              </a:rPr>
              <a:t>Introduction</a:t>
            </a:r>
            <a:r>
              <a:rPr lang="en-US" altLang="zh-CN"/>
              <a:t>**</a:t>
            </a:r>
            <a:endParaRPr lang="en-US" altLang="zh-CN"/>
          </a:p>
          <a:p>
            <a:r>
              <a:rPr lang="en-US" altLang="zh-CN">
                <a:solidFill>
                  <a:srgbClr val="FF0000"/>
                </a:solidFill>
              </a:rPr>
              <a:t>The rapid evolution of machine learning has positioned in-context learning (ICL) as a transformative paradigm, enabling models to adapt to new tasks through dynamic instruction-based prompts rather than explicit retraining. This capability, prominently demonstrated by large language models (LLMs), has redefined problem-solving in natural language processing, offering unprecedented flexibility in applications ranging from few-shot classification to complex reasoning. Despite its promise, the mechanisms governing ICL’s efficacy—particularly its dependence on prompt design, task complexity, and model architecture—remain inadequately understood. Current research often prioritizes empirical performance over systematic analysis, leaving critical gaps in theoretical foundations and practical guidelines for optimizing ICL across diverse scenarios.</a:t>
            </a:r>
            <a:endParaRPr lang="en-US" altLang="zh-CN">
              <a:solidFill>
                <a:srgbClr val="FF0000"/>
              </a:solidFill>
            </a:endParaRPr>
          </a:p>
          <a:p>
            <a:endParaRPr lang="en-US" altLang="zh-CN">
              <a:solidFill>
                <a:srgbClr val="FF0000"/>
              </a:solidFill>
            </a:endParaRPr>
          </a:p>
          <a:p>
            <a:r>
              <a:rPr lang="en-US" altLang="zh-CN">
                <a:solidFill>
                  <a:srgbClr val="FF0000"/>
                </a:solidFill>
              </a:rPr>
              <a:t>A key challenge lies in the inconsistent robustness of ICL methods under domain shifts or noisy inputs, which limits their reliability in real-world settings. Furthermore, existing studies predominantly focus on LLMs, neglecting the potential of smaller, domain-specific models to achieve comparable efficiency with tailored training strategies. This oversight raises questions about scalability, computational costs, and the democratization of ICL technologies for resource-constrained environments.</a:t>
            </a:r>
            <a:endParaRPr lang="en-US" altLang="zh-CN">
              <a:solidFill>
                <a:srgbClr val="FF0000"/>
              </a:solidFill>
            </a:endParaRPr>
          </a:p>
          <a:p>
            <a:endParaRPr lang="en-US" altLang="zh-CN">
              <a:solidFill>
                <a:srgbClr val="FF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1383665"/>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response</a:t>
            </a:r>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11</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11" name="文本框 10"/>
          <p:cNvSpPr txBox="1"/>
          <p:nvPr/>
        </p:nvSpPr>
        <p:spPr>
          <a:xfrm>
            <a:off x="640715" y="853440"/>
            <a:ext cx="11017885" cy="5077460"/>
          </a:xfrm>
          <a:prstGeom prst="rect">
            <a:avLst/>
          </a:prstGeom>
          <a:noFill/>
        </p:spPr>
        <p:txBody>
          <a:bodyPr wrap="square" rtlCol="0">
            <a:spAutoFit/>
          </a:bodyPr>
          <a:p>
            <a:r>
              <a:rPr lang="en-US" altLang="zh-CN">
                <a:solidFill>
                  <a:srgbClr val="FF0000"/>
                </a:solidFill>
              </a:rPr>
              <a:t>This study addresses these gaps by proposing a unified framework to dissect the interplay between model architecture, prompt engineering, and task semantics in ICL performance. We introduce three key innovations: (1) a systematic evaluation of task-adaptive prompting strategies across model scales, (2) an analysis of robustness to distributional shifts through novel perturbation benchmarks, and (3) a resource-efficient training protocol that enhances smaller models’ ICL capabilities without sacrificing accuracy. By bridging theoretical insights with actionable design principles, our work advances the development of adaptable, efficient ICL systems while providing a foundation for future research in low-resource and high-stakes applications.</a:t>
            </a:r>
            <a:endParaRPr lang="en-US" altLang="zh-CN">
              <a:solidFill>
                <a:srgbClr val="FF0000"/>
              </a:solidFill>
            </a:endParaRPr>
          </a:p>
          <a:p>
            <a:endParaRPr lang="en-US" altLang="zh-CN"/>
          </a:p>
          <a:p>
            <a:r>
              <a:rPr lang="en-US" altLang="zh-CN"/>
              <a:t>---</a:t>
            </a:r>
            <a:endParaRPr lang="en-US" altLang="zh-CN"/>
          </a:p>
          <a:p>
            <a:r>
              <a:rPr lang="en-US" altLang="zh-CN"/>
              <a:t>**Word count**: 298</a:t>
            </a:r>
            <a:endParaRPr lang="en-US" altLang="zh-CN"/>
          </a:p>
          <a:p>
            <a:r>
              <a:rPr lang="en-US" altLang="zh-CN"/>
              <a:t>**Key strengths**:</a:t>
            </a:r>
            <a:endParaRPr lang="en-US" altLang="zh-CN"/>
          </a:p>
          <a:p>
            <a:r>
              <a:rPr lang="en-US" altLang="zh-CN"/>
              <a:t>1. Establishes context by linking ICL to broader ML advancements.</a:t>
            </a:r>
            <a:endParaRPr lang="en-US" altLang="zh-CN"/>
          </a:p>
          <a:p>
            <a:r>
              <a:rPr lang="en-US" altLang="zh-CN"/>
              <a:t>2. Clearly identifies underexplored gaps (robustness, scalability, small-model potential).</a:t>
            </a:r>
            <a:endParaRPr lang="en-US" altLang="zh-CN"/>
          </a:p>
          <a:p>
            <a:r>
              <a:rPr lang="en-US" altLang="zh-CN"/>
              <a:t>3. Contributions are specific, measurable, and address stated challenges.</a:t>
            </a:r>
            <a:endParaRPr lang="en-US" altLang="zh-CN"/>
          </a:p>
          <a:p>
            <a:r>
              <a:rPr lang="en-US" altLang="zh-CN"/>
              <a:t>**Suggested refinement**: Consider adding a brief example of real-world impact (e.g., healthcare or education) to heighten engagement in the opening paragraph.</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953135"/>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prompt</a:t>
            </a:r>
            <a:endPar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12</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6185535"/>
          </a:xfrm>
          <a:prstGeom prst="rect">
            <a:avLst/>
          </a:prstGeom>
          <a:noFill/>
        </p:spPr>
        <p:txBody>
          <a:bodyPr wrap="square" rtlCol="0">
            <a:spAutoFit/>
          </a:bodyPr>
          <a:p>
            <a:r>
              <a:rPr lang="en-US" altLang="zh-CN"/>
              <a:t>    user_prompt ='''</a:t>
            </a:r>
            <a:endParaRPr lang="en-US" altLang="zh-CN"/>
          </a:p>
          <a:p>
            <a:r>
              <a:rPr lang="en-US" altLang="zh-CN"/>
              <a:t>        The following is a paragraph from an academic paper. Refinish writing to conform to academic style</a:t>
            </a:r>
            <a:r>
              <a:rPr lang="zh-CN" altLang="en-US"/>
              <a:t>，</a:t>
            </a:r>
            <a:r>
              <a:rPr lang="en-US" altLang="zh-CN"/>
              <a:t>improve spelling, grammar, clarity, conciseness and overall readability. If necessary, rewrite the entire sentence. In addition,list all modifications in the Markdown table and explain the reasons for doing so.               </a:t>
            </a:r>
            <a:endParaRPr lang="en-US" altLang="zh-CN"/>
          </a:p>
          <a:p>
            <a:r>
              <a:rPr lang="en-US" altLang="zh-CN"/>
              <a:t>        Paragraph </a:t>
            </a:r>
            <a:r>
              <a:rPr lang="zh-CN" altLang="en-US"/>
              <a:t>：</a:t>
            </a:r>
            <a:r>
              <a:rPr lang="en-US" altLang="zh-CN">
                <a:solidFill>
                  <a:srgbClr val="FF0000"/>
                </a:solidFill>
              </a:rPr>
              <a:t>Large language models (LLMs) employ in-context learning (ICL) in downstream tasks. By default, ICL selects demonstrations from a labeled example set to perform few-shot learning. Unfortunately, labeled examples may not always be available, and our study reveals a counterintuitive finding that labeled demonstrations sometimes result in suboptimal ICL performance. Therefore, we unlock an unexplored paradigm {\em unsupervised in-context learning}: amplify ICL using demonstrations selected from unlabeled examples with principally assigned inspiring labels. We mathematically reveal the key challenge that the demonstration construction complexity of unsupervised ICL is exponential times as much as traditional ICL. We propose a principled unsupervised ICL framework with heuristic pruning and importance sampling that decreases the complexity to a practically applicable level and verify its effectiveness in ICL with intensive experiments and analysis. </a:t>
            </a:r>
            <a:endParaRPr lang="en-US" altLang="zh-CN"/>
          </a:p>
          <a:p>
            <a:r>
              <a:rPr lang="en-US" altLang="zh-CN"/>
              <a:t>    ''' </a:t>
            </a:r>
            <a:endParaRPr lang="en-US" altLang="zh-CN"/>
          </a:p>
          <a:p>
            <a:r>
              <a:rPr lang="en-US" altLang="zh-CN"/>
              <a:t>    system_prompt = '''</a:t>
            </a:r>
            <a:endParaRPr lang="en-US" altLang="zh-CN"/>
          </a:p>
          <a:p>
            <a:r>
              <a:rPr lang="en-US" altLang="zh-CN"/>
              <a:t>        Act as an experienced academic writing expert specializing in </a:t>
            </a:r>
            <a:r>
              <a:rPr lang="en-US" altLang="zh-CN">
                <a:solidFill>
                  <a:srgbClr val="FF0000"/>
                </a:solidFill>
              </a:rPr>
              <a:t>in-context learning</a:t>
            </a:r>
            <a:r>
              <a:rPr lang="en-US" altLang="zh-CN"/>
              <a:t>. Review my research paper draft, focusing on improving the logical flow, strengthening arguments, and refining language for publication quality. Highlight areas needing clarification or further development, and suggest specific improvements.</a:t>
            </a:r>
            <a:endParaRPr lang="en-US" altLang="zh-CN"/>
          </a:p>
          <a:p>
            <a:r>
              <a:rPr lang="en-US" altLang="zh-CN"/>
              <a:t>    '''</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response</a:t>
            </a:r>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13</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5077460"/>
          </a:xfrm>
          <a:prstGeom prst="rect">
            <a:avLst/>
          </a:prstGeom>
          <a:noFill/>
        </p:spPr>
        <p:txBody>
          <a:bodyPr wrap="square" rtlCol="0">
            <a:spAutoFit/>
          </a:bodyPr>
          <a:p>
            <a:r>
              <a:rPr lang="en-US" altLang="zh-CN"/>
              <a:t>Response: Here’s the refined paragraph with academic improvements, followed by a table summarizing the changes and their rationale:</a:t>
            </a:r>
            <a:endParaRPr lang="en-US" altLang="zh-CN"/>
          </a:p>
          <a:p>
            <a:endParaRPr lang="en-US" altLang="zh-CN"/>
          </a:p>
          <a:p>
            <a:r>
              <a:rPr lang="en-US" altLang="zh-CN"/>
              <a:t>---</a:t>
            </a:r>
            <a:endParaRPr lang="en-US" altLang="zh-CN"/>
          </a:p>
          <a:p>
            <a:endParaRPr lang="en-US" altLang="zh-CN"/>
          </a:p>
          <a:p>
            <a:r>
              <a:rPr lang="en-US" altLang="zh-CN"/>
              <a:t>**Revised Paragraph**</a:t>
            </a:r>
            <a:endParaRPr lang="en-US" altLang="zh-CN"/>
          </a:p>
          <a:p>
            <a:r>
              <a:rPr lang="en-US" altLang="zh-CN">
                <a:solidFill>
                  <a:srgbClr val="FF0000"/>
                </a:solidFill>
              </a:rPr>
              <a:t>Large language models (LLMs) utilize in-context learning (ICL) to adapt to downstream tasks. Conventionally, ICL relies on selecting demonstrations from a labeled example pool to achieve few-shot learning. However, labeled examples are not always available, and our study demonstrates a counterintuitive phenomenon: labeled demonstrations can lead to suboptimal ICL performance. To address this, we introduce *unsupervised in-context learning*, a novel paradigm that enhances ICL by selecting demonstrations from unlabeled examples with strategically assigned pseudo-labels. We mathematically formalize the core challenge of unsupervised ICL, showing that its demonstration construction complexity grows exponentially compared to traditional ICL. To mitigate this, we propose a framework incorporating heuristic pruning and importance sampling, which reduces this complexity to a tractable level. We validate its efficacy through comprehensive experiments and analysis.</a:t>
            </a:r>
            <a:endParaRPr lang="en-US" altLang="zh-CN">
              <a:solidFill>
                <a:srgbClr val="FF0000"/>
              </a:solidFill>
            </a:endParaRPr>
          </a:p>
          <a:p>
            <a:endParaRPr lang="en-US" altLang="zh-CN"/>
          </a:p>
          <a:p>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response</a:t>
            </a:r>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14</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5077460"/>
          </a:xfrm>
          <a:prstGeom prst="rect">
            <a:avLst/>
          </a:prstGeom>
          <a:noFill/>
        </p:spPr>
        <p:txBody>
          <a:bodyPr wrap="square" rtlCol="0">
            <a:spAutoFit/>
          </a:bodyPr>
          <a:p>
            <a:r>
              <a:rPr lang="en-US" altLang="zh-CN"/>
              <a:t>---</a:t>
            </a:r>
            <a:endParaRPr lang="en-US" altLang="zh-CN"/>
          </a:p>
          <a:p>
            <a:r>
              <a:rPr lang="en-US" altLang="zh-CN"/>
              <a:t>### **Modifications Table**</a:t>
            </a:r>
            <a:endParaRPr lang="en-US" altLang="zh-CN"/>
          </a:p>
          <a:p>
            <a:r>
              <a:rPr lang="en-US" altLang="zh-CN"/>
              <a:t>| Original Text | Revised Text | Reason |</a:t>
            </a:r>
            <a:endParaRPr lang="en-US" altLang="zh-CN"/>
          </a:p>
          <a:p>
            <a:r>
              <a:rPr lang="en-US" altLang="zh-CN"/>
              <a:t>|---------------|--------------|--------|</a:t>
            </a:r>
            <a:endParaRPr lang="en-US" altLang="zh-CN"/>
          </a:p>
          <a:p>
            <a:r>
              <a:rPr lang="en-US" altLang="zh-CN"/>
              <a:t>| "employ in-context learning (ICL) in downstream tasks" | "utilize in-context learning (ICL) to adapt to downstream tasks" | Improved verb choice ("utilize" over "employ") and clarity in purpose ("to adapt to"). |</a:t>
            </a:r>
            <a:endParaRPr lang="en-US" altLang="zh-CN"/>
          </a:p>
          <a:p>
            <a:r>
              <a:rPr lang="en-US" altLang="zh-CN"/>
              <a:t>| "labeled example set" | "labeled example pool" | "Pool" is a more standard term in ML contexts. |</a:t>
            </a:r>
            <a:endParaRPr lang="en-US" altLang="zh-CN"/>
          </a:p>
          <a:p>
            <a:r>
              <a:rPr lang="en-US" altLang="zh-CN"/>
              <a:t>| "labeled examples may not always be available" | "labeled examples are not always available" | Conciseness and directness. |</a:t>
            </a:r>
            <a:endParaRPr lang="en-US" altLang="zh-CN"/>
          </a:p>
          <a:p>
            <a:r>
              <a:rPr lang="en-US" altLang="zh-CN"/>
              <a:t>| "our study reveals a counterintuitive finding" | "our study demonstrates a counterintuitive phenomenon" | "Demonstrates" is stronger; "phenomenon" avoids redundancy with "finding." |</a:t>
            </a:r>
            <a:endParaRPr lang="en-US" altLang="zh-CN"/>
          </a:p>
          <a:p>
            <a:r>
              <a:rPr lang="en-US" altLang="zh-CN"/>
              <a:t>| "unlock an unexplored paradigm {\em unsupervised in-context learning}: amplify ICL..." | "introduce *unsupervised in-context learning*, a novel paradigm that enhances ICL..." | "Unlock" is informal; "introduce" aligns with academic tone. Split run-on sentence for readability. |</a:t>
            </a:r>
            <a:endParaRPr lang="en-US" altLang="zh-CN"/>
          </a:p>
          <a:p>
            <a:r>
              <a:rPr lang="en-US" altLang="zh-CN"/>
              <a:t>| "with principally assigned inspiring labels" | "with strategically assigned pseudo-labels" | "Pseudo-labels" is standard terminology; "strategically" clarifies intent. |</a:t>
            </a:r>
            <a:endParaRPr lang="en-US" altLang="zh-CN"/>
          </a:p>
          <a:p>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38885" y="219710"/>
            <a:ext cx="4057650" cy="521970"/>
          </a:xfrm>
          <a:prstGeom prst="rect">
            <a:avLst/>
          </a:prstGeom>
          <a:noFill/>
        </p:spPr>
        <p:txBody>
          <a:bodyPr wrap="square" rtlCol="0">
            <a:spAutoFit/>
          </a:bodyPr>
          <a:lstStyle/>
          <a:p>
            <a:r>
              <a:rPr lang="en-US" alt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response</a:t>
            </a:r>
            <a:endParaRPr lang="zh-CN" sz="2800" b="1" spc="3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3694" y="237055"/>
            <a:ext cx="1203844" cy="488496"/>
            <a:chOff x="-3694" y="237055"/>
            <a:chExt cx="1203844" cy="488496"/>
          </a:xfrm>
        </p:grpSpPr>
        <p:grpSp>
          <p:nvGrpSpPr>
            <p:cNvPr id="7" name="组合 6"/>
            <p:cNvGrpSpPr/>
            <p:nvPr/>
          </p:nvGrpSpPr>
          <p:grpSpPr>
            <a:xfrm>
              <a:off x="0" y="237055"/>
              <a:ext cx="1200150" cy="488496"/>
              <a:chOff x="0" y="254454"/>
              <a:chExt cx="1795510" cy="732518"/>
            </a:xfrm>
          </p:grpSpPr>
          <p:sp>
            <p:nvSpPr>
              <p:cNvPr id="2" name="矩形 1"/>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任意多边形 4"/>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4" name="文本框 13"/>
            <p:cNvSpPr txBox="1"/>
            <p:nvPr/>
          </p:nvSpPr>
          <p:spPr>
            <a:xfrm>
              <a:off x="-3694" y="237055"/>
              <a:ext cx="720670" cy="460375"/>
            </a:xfrm>
            <a:prstGeom prst="rect">
              <a:avLst/>
            </a:prstGeom>
            <a:noFill/>
          </p:spPr>
          <p:txBody>
            <a:bodyPr wrap="square" rtlCol="0">
              <a:spAutoFit/>
            </a:bodyPr>
            <a:lstStyle/>
            <a:p>
              <a:pPr algn="ctr"/>
              <a:r>
                <a:rPr lang="en-US" altLang="zh-CN" sz="2400" b="1" dirty="0">
                  <a:solidFill>
                    <a:schemeClr val="bg1"/>
                  </a:solidFill>
                </a:rPr>
                <a:t>15</a:t>
              </a:r>
              <a:endParaRPr lang="en-US" altLang="zh-CN" sz="2400" b="1" dirty="0">
                <a:solidFill>
                  <a:schemeClr val="bg1"/>
                </a:solidFill>
              </a:endParaRPr>
            </a:p>
          </p:txBody>
        </p:sp>
      </p:grpSp>
      <p:grpSp>
        <p:nvGrpSpPr>
          <p:cNvPr id="3" name="组合 2"/>
          <p:cNvGrpSpPr/>
          <p:nvPr/>
        </p:nvGrpSpPr>
        <p:grpSpPr>
          <a:xfrm>
            <a:off x="-3694" y="6575725"/>
            <a:ext cx="12195694" cy="282275"/>
            <a:chOff x="-3694" y="6575725"/>
            <a:chExt cx="12195694" cy="282275"/>
          </a:xfrm>
        </p:grpSpPr>
        <p:sp>
          <p:nvSpPr>
            <p:cNvPr id="20" name="矩形 19"/>
            <p:cNvSpPr/>
            <p:nvPr/>
          </p:nvSpPr>
          <p:spPr>
            <a:xfrm>
              <a:off x="-3694" y="6575725"/>
              <a:ext cx="9785869"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782176" y="6575725"/>
              <a:ext cx="1809750"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北京航空航天大学</a:t>
              </a:r>
              <a:endParaRPr lang="zh-CN" altLang="en-US" sz="1200" i="1" dirty="0">
                <a:solidFill>
                  <a:schemeClr val="tx1">
                    <a:lumMod val="75000"/>
                    <a:lumOff val="25000"/>
                  </a:schemeClr>
                </a:solidFill>
              </a:endParaRPr>
            </a:p>
          </p:txBody>
        </p:sp>
        <p:sp>
          <p:nvSpPr>
            <p:cNvPr id="22" name="矩形 21"/>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4" name="矩形 3"/>
          <p:cNvSpPr/>
          <p:nvPr/>
        </p:nvSpPr>
        <p:spPr>
          <a:xfrm>
            <a:off x="106045" y="853440"/>
            <a:ext cx="11859260" cy="5598160"/>
          </a:xfrm>
          <a:prstGeom prst="rect">
            <a:avLst/>
          </a:prstGeom>
        </p:spPr>
        <p:txBody>
          <a:bodyPr wrap="square">
            <a:noAutofit/>
          </a:bodyPr>
          <a:lstStyle/>
          <a:p>
            <a:pPr algn="l">
              <a:lnSpc>
                <a:spcPct val="130000"/>
              </a:lnSpc>
            </a:pPr>
            <a:endParaRPr lang="zh-CN" altLang="en-US" sz="2000" dirty="0">
              <a:solidFill>
                <a:schemeClr val="tx1">
                  <a:lumMod val="75000"/>
                  <a:lumOff val="25000"/>
                </a:schemeClr>
              </a:solidFill>
              <a:uFillTx/>
              <a:latin typeface="Arial" panose="020B0604020202020204" pitchFamily="34" charset="0"/>
            </a:endParaRPr>
          </a:p>
        </p:txBody>
      </p:sp>
      <p:sp>
        <p:nvSpPr>
          <p:cNvPr id="9" name="文本框 8"/>
          <p:cNvSpPr txBox="1"/>
          <p:nvPr/>
        </p:nvSpPr>
        <p:spPr>
          <a:xfrm>
            <a:off x="466725" y="972820"/>
            <a:ext cx="11593830" cy="5631180"/>
          </a:xfrm>
          <a:prstGeom prst="rect">
            <a:avLst/>
          </a:prstGeom>
          <a:noFill/>
        </p:spPr>
        <p:txBody>
          <a:bodyPr wrap="square" rtlCol="0">
            <a:spAutoFit/>
          </a:bodyPr>
          <a:p>
            <a:r>
              <a:rPr lang="en-US" altLang="zh-CN"/>
              <a:t>| "mathematically reveal the key challenge that the demonstration construction complexity... exponential times as much as traditional ICL" | "mathematically formalize the core challenge... grows exponentially compared to traditional ICL" | "Formalize" is precise; "grows exponentially compared to" is clearer and more concise. |</a:t>
            </a:r>
            <a:endParaRPr lang="en-US" altLang="zh-CN"/>
          </a:p>
          <a:p>
            <a:r>
              <a:rPr lang="en-US" altLang="zh-CN"/>
              <a:t>| "propose a principled unsupervised ICL framework with heuristic pruning... verify its effectiveness in ICL with intensive experiments" | "propose a framework incorporating heuristic pruning... validate its efficacy through comprehensive experiments" | Avoid redundancy ("principled"); "validate" and "comprehensive" strengthen academic rigor. |</a:t>
            </a:r>
            <a:endParaRPr lang="en-US" altLang="zh-CN"/>
          </a:p>
          <a:p>
            <a:r>
              <a:rPr lang="en-US" altLang="zh-CN"/>
              <a:t>---</a:t>
            </a:r>
            <a:endParaRPr lang="en-US" altLang="zh-CN"/>
          </a:p>
          <a:p>
            <a:r>
              <a:rPr lang="en-US" altLang="zh-CN"/>
              <a:t>### **Key Improvements**</a:t>
            </a:r>
            <a:endParaRPr lang="en-US" altLang="zh-CN"/>
          </a:p>
          <a:p>
            <a:r>
              <a:rPr lang="en-US" altLang="zh-CN"/>
              <a:t>1. **Clarity &amp; Precision**: Replaced vague terms (e.g., "unlock," "inspiring labels") with domain-specific language (e.g., "pseudo-labels," "formalize").</a:t>
            </a:r>
            <a:endParaRPr lang="en-US" altLang="zh-CN"/>
          </a:p>
          <a:p>
            <a:r>
              <a:rPr lang="en-US" altLang="zh-CN"/>
              <a:t>2. **Conciseness**: Removed redundant phrases (e.g., "counterintuitive finding" </a:t>
            </a:r>
            <a:r>
              <a:rPr lang="en-US" altLang="en-US"/>
              <a:t>→</a:t>
            </a:r>
            <a:r>
              <a:rPr lang="en-US" altLang="zh-CN"/>
              <a:t> "counterintuitive phenomenon").</a:t>
            </a:r>
            <a:endParaRPr lang="en-US" altLang="zh-CN"/>
          </a:p>
          <a:p>
            <a:r>
              <a:rPr lang="en-US" altLang="zh-CN"/>
              <a:t>3. **Flow**: Split overly long sentences and improved transitions (e.g., "To address this...").</a:t>
            </a:r>
            <a:endParaRPr lang="en-US" altLang="zh-CN"/>
          </a:p>
          <a:p>
            <a:r>
              <a:rPr lang="en-US" altLang="zh-CN"/>
              <a:t>4. **Academic Tone**: Used stronger verbs ("demonstrates," "validate") and standardized terminology ("example pool," "pseudo-labels").</a:t>
            </a:r>
            <a:endParaRPr lang="en-US" altLang="zh-CN"/>
          </a:p>
          <a:p>
            <a:r>
              <a:rPr lang="en-US" altLang="zh-CN"/>
              <a:t>5. **Mathematical Rigor**: "Exponentially higher complexity" replaced ambiguous phrasing ("exponential times as much as").</a:t>
            </a:r>
            <a:endParaRPr lang="en-US" altLang="zh-CN"/>
          </a:p>
          <a:p>
            <a:r>
              <a:rPr lang="en-US" altLang="zh-CN"/>
              <a:t>Let me know if you need further refinements!</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0">
        <p15:prstTrans prst="pageCurlDouble"/>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0" presetClass="entr" presetSubtype="0" fill="hold" grpId="0" nodeType="withEffect">
                                  <p:stCondLst>
                                    <p:cond delay="4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6" presetClass="entr" presetSubtype="21" fill="hold" grpId="0" nodeType="withEffect">
                                  <p:stCondLst>
                                    <p:cond delay="240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2561866" y="-185945"/>
            <a:ext cx="12192000" cy="6858000"/>
            <a:chOff x="-9441874" y="-1384720"/>
            <a:chExt cx="12192000" cy="6858000"/>
          </a:xfrm>
        </p:grpSpPr>
        <p:pic>
          <p:nvPicPr>
            <p:cNvPr id="1026" name="Picture 2" descr="http://pic.97uimg.com/back_pic/00/01/88/75/dab74c05ca1b40a8122bedf0e8ad055b.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4420"/>
            <a:stretch>
              <a:fillRect/>
            </a:stretch>
          </p:blipFill>
          <p:spPr bwMode="auto">
            <a:xfrm>
              <a:off x="-9441599" y="-1384719"/>
              <a:ext cx="1219145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9441874" y="-138472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252652" y="2173931"/>
            <a:ext cx="8939348"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782210" y="2938825"/>
            <a:ext cx="5626628" cy="829945"/>
          </a:xfrm>
          <a:prstGeom prst="rect">
            <a:avLst/>
          </a:prstGeom>
          <a:noFill/>
        </p:spPr>
        <p:txBody>
          <a:bodyPr wrap="square" rtlCol="0">
            <a:spAutoFit/>
          </a:bodyPr>
          <a:lstStyle/>
          <a:p>
            <a:pPr algn="just"/>
            <a:r>
              <a:rPr lang="zh-CN" altLang="en-US" sz="4800" b="1" spc="300" dirty="0">
                <a:solidFill>
                  <a:schemeClr val="bg1"/>
                </a:solidFill>
              </a:rPr>
              <a:t>谢谢</a:t>
            </a:r>
            <a:endParaRPr lang="zh-CN" altLang="en-US" sz="4800" b="1" spc="300" dirty="0">
              <a:solidFill>
                <a:schemeClr val="bg1"/>
              </a:solidFill>
            </a:endParaRPr>
          </a:p>
        </p:txBody>
      </p:sp>
      <p:sp>
        <p:nvSpPr>
          <p:cNvPr id="11" name="文本框 10"/>
          <p:cNvSpPr txBox="1"/>
          <p:nvPr/>
        </p:nvSpPr>
        <p:spPr>
          <a:xfrm>
            <a:off x="6050915" y="4338955"/>
            <a:ext cx="2035810" cy="368300"/>
          </a:xfrm>
          <a:prstGeom prst="rect">
            <a:avLst/>
          </a:prstGeom>
          <a:noFill/>
        </p:spPr>
        <p:txBody>
          <a:bodyPr wrap="square" rtlCol="0">
            <a:spAutoFit/>
          </a:bodyPr>
          <a:lstStyle/>
          <a:p>
            <a:r>
              <a:rPr lang="zh-CN" altLang="en-US" b="1" dirty="0">
                <a:solidFill>
                  <a:schemeClr val="bg1"/>
                </a:solidFill>
              </a:rPr>
              <a:t>答辩人</a:t>
            </a:r>
            <a:endParaRPr lang="zh-CN" altLang="en-US" b="1" dirty="0">
              <a:solidFill>
                <a:schemeClr val="bg1"/>
              </a:solidFill>
            </a:endParaRPr>
          </a:p>
        </p:txBody>
      </p:sp>
      <p:sp>
        <p:nvSpPr>
          <p:cNvPr id="12" name="文本框 11"/>
          <p:cNvSpPr txBox="1"/>
          <p:nvPr/>
        </p:nvSpPr>
        <p:spPr>
          <a:xfrm>
            <a:off x="7916763" y="4312179"/>
            <a:ext cx="2016792" cy="368300"/>
          </a:xfrm>
          <a:prstGeom prst="rect">
            <a:avLst/>
          </a:prstGeom>
          <a:noFill/>
        </p:spPr>
        <p:txBody>
          <a:bodyPr wrap="square" rtlCol="0">
            <a:spAutoFit/>
          </a:bodyPr>
          <a:lstStyle/>
          <a:p>
            <a:r>
              <a:rPr lang="zh-CN" altLang="en-US" b="1">
                <a:solidFill>
                  <a:schemeClr val="bg1"/>
                </a:solidFill>
              </a:rPr>
              <a:t>导师：</a:t>
            </a:r>
            <a:endParaRPr b="1" dirty="0">
              <a:solidFill>
                <a:schemeClr val="bg1"/>
              </a:solidFill>
            </a:endParaRPr>
          </a:p>
        </p:txBody>
      </p:sp>
      <p:pic>
        <p:nvPicPr>
          <p:cNvPr id="19" name="Jewel - Simple Gifts">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cstate="print"/>
          <a:stretch>
            <a:fillRect/>
          </a:stretch>
        </p:blipFill>
        <p:spPr>
          <a:xfrm>
            <a:off x="0" y="-1211826"/>
            <a:ext cx="609600" cy="609600"/>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9451" y="2662728"/>
            <a:ext cx="1399822" cy="1399822"/>
          </a:xfrm>
          <a:prstGeom prst="rect">
            <a:avLst/>
          </a:prstGeom>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9"/>
                                        </p:tgtEl>
                                      </p:cBhvr>
                                    </p:cmd>
                                  </p:childTnLst>
                                </p:cTn>
                              </p:par>
                              <p:par>
                                <p:cTn id="7" presetID="22" presetClass="entr" presetSubtype="8"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500"/>
                                        <p:tgtEl>
                                          <p:spTgt spid="4"/>
                                        </p:tgtEl>
                                      </p:cBhvr>
                                    </p:animEffect>
                                  </p:childTnLst>
                                </p:cTn>
                              </p:par>
                              <p:par>
                                <p:cTn id="10" presetID="12" presetClass="entr" presetSubtype="1" fill="hold" grpId="0" nodeType="withEffect">
                                  <p:stCondLst>
                                    <p:cond delay="110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ppt_y</p:attrName>
                                        </p:attrNameLst>
                                      </p:cBhvr>
                                      <p:tavLst>
                                        <p:tav tm="0">
                                          <p:val>
                                            <p:strVal val="#ppt_y-#ppt_h*1.125000"/>
                                          </p:val>
                                        </p:tav>
                                        <p:tav tm="100000">
                                          <p:val>
                                            <p:strVal val="#ppt_y"/>
                                          </p:val>
                                        </p:tav>
                                      </p:tavLst>
                                    </p:anim>
                                    <p:animEffect transition="in" filter="wipe(down)">
                                      <p:cBhvr>
                                        <p:cTn id="13" dur="500"/>
                                        <p:tgtEl>
                                          <p:spTgt spid="5"/>
                                        </p:tgtEl>
                                      </p:cBhvr>
                                    </p:animEffect>
                                  </p:childTnLst>
                                </p:cTn>
                              </p:par>
                              <p:par>
                                <p:cTn id="14" presetID="22" presetClass="entr" presetSubtype="1" fill="hold" grpId="0" nodeType="withEffect">
                                  <p:stCondLst>
                                    <p:cond delay="150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par>
                                <p:cTn id="17" presetID="22" presetClass="entr" presetSubtype="1" fill="hold" grpId="0" nodeType="withEffect">
                                  <p:stCondLst>
                                    <p:cond delay="180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20" repeatCount="indefinite" fill="hold" display="0">
                  <p:stCondLst>
                    <p:cond delay="indefinite"/>
                  </p:stCondLst>
                  <p:endCondLst>
                    <p:cond evt="onStopAudio" delay="0">
                      <p:tgtEl>
                        <p:sldTgt/>
                      </p:tgtEl>
                    </p:cond>
                  </p:endCondLst>
                </p:cTn>
                <p:tgtEl>
                  <p:spTgt spid="19"/>
                </p:tgtEl>
              </p:cMediaNode>
            </p:audio>
          </p:childTnLst>
        </p:cTn>
      </p:par>
    </p:tnLst>
    <p:bldLst>
      <p:bldP spid="4" grpId="0" animBg="1"/>
      <p:bldP spid="5" grpId="0"/>
      <p:bldP spid="11" grpId="0"/>
      <p:bldP spid="12" grpId="0"/>
    </p:bldLst>
  </p:timing>
</p:sld>
</file>

<file path=ppt/tags/tag1.xml><?xml version="1.0" encoding="utf-8"?>
<p:tagLst xmlns:p="http://schemas.openxmlformats.org/presentationml/2006/main">
  <p:tag name="KSO_WM_MEDIACOVER_FLAG" val="1"/>
  <p:tag name="KSO_WM_UNIT_MEDIACOVER_BTN_STATE" val="1"/>
  <p:tag name="KSO_WM_UNIT_MEDIACOVER_BTNRECT" val="0*0*0*0"/>
</p:tagLst>
</file>

<file path=ppt/tags/tag3.xml><?xml version="1.0" encoding="utf-8"?>
<p:tagLst xmlns:p="http://schemas.openxmlformats.org/presentationml/2006/main">
  <p:tag name="KSO_WPP_MARK_KEY" val="ce9867bc-ed83-478d-9a86-3e49e93103d7"/>
  <p:tag name="COMMONDATA" val="eyJoZGlkIjoiOGRiMDdjMmZjYzZkZmFiMzc3MTA1ZTBiNzBmZGVlZDA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AyOTYzNTc1NTkwIiwKCSJHcm91cElkIiA6ICIyNDMzNjc1ODQ0IiwKCSJJbWFnZSIgOiAiaVZCT1J3MEtHZ29BQUFBTlNVaEVVZ0FBQkI4QUFBUUxDQVlBQUFERGZ3RWxBQUFBQVhOU1IwSUFyczRjNlFBQUlBQkpSRUZVZUp6czNYbDhURmYvQi9EUG5abXNFbGthaVVlMFlvbFlpb3lkVm1OWEhrV3BmYXRRdTZKVXJmVThMVVdycWtvdDdjKytsVlpMTFpWVVZRbTFSb01vNGtHcE5aSWdpVWt5Yysvdmp6R25jek16V2NnSThubS9YbjExenIzbm5udG1NbWJtZnU4NTN3TVF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VlhWSmhkNENJaUlpSWlKNE5BV0ZoM2g2U2UwTXRwSktGM1JlaW9rM09OQm5sUTVjVFRwNHY3SjVZNkFxN0EwUkVSRVJFOUd3b3B2RjRSVkt3UkpKUXFyRDdRbFNrS1ZLbVRxdjV1a1NWS3UvZGlvOVBMZXp1QUlDbXNEdEFSRVJFUkVUUEJrbEdCUVllaUo0QWt1UUtqVlRkTTAzeEx1eXVXSERrQXhFUkVSRVJGYmdLNWN1aVJyVVhDN3NiUkVWSzR1MGtIRHgwQklhTWpNTHVpZzBHSDRpSWlJaUlxTUExYXRnQVV5YThXOWpkSUNwU0RoK05SZnlmWjJDNDllUUZIemp0Z29pSWlJaUlpSWljaXNFSElpSWlJaUlpSW5JcUJoK0lpSWlJaUlpSXlLa1lmQ0FpSWlJaUlpSWlwMkx3Z1lpSWlJaUlpSWljaXNFSElpSWlJaUlpSW5JcUJoK0lpSWlJaUlpSXlLa1lmQ0FpSWlJaUlpSWlwMkx3Z1lpSWlJaUlpSWljaXNFSElpSWlJaUlpSW5JcUJoK0lpSWlJaUlpSXlLa1lmQ0FpSWlJaUlpSWlwMkx3Z1lpSWlJaUlpSWljaXNFSElpSWlJaUlpSW5JcUJoK0lpSWlJaUlpSXlLa1lmQ0FpSWlJaUlpSWlwMkx3Z1lpSWlJaUlpSWljaXNFSElpSWlJaUlpSW5JcVhXRjNnSWlJaUlpSTZHSHMzcjBiNTgrZkJ3RG85WHJVcWxYTFlWMmowWWlsUzVmQ1lEQUFBSFE2SGQ1NjZ5MjR1TGc4VWg4TUJvTm9VNlBSb0hqeDRvL1UzdU55NHNRSlhMaHdBUUR3OHNzdnc5L2YzMjY5dlh2M3dtZzBJalEwRk1IQndaQWs2WEYyODVHbHBhVWhOVFVWUVVGQmo5eld0V3ZYa0phV0JnQW9XYklrdkx5OEhOYVZaUm0zYnQwQ0FFaVNoTURBd0VjKy85T093UWNpSWlJaUlub3FSVVZGSVNvcUNnQVFHUm1aWS9CaDFhcFZXTHg0c1NqNyt2cWlaOCtlOFBIeGVhUStyRjY5R2dzWExnUUFsQ2hSQWovOTlOTWp0UWNBR1JrWnVIWHJGbTdkdW9YcjE2L2ordlhyZVBIRkYxR25UcDFIYnR0aSsvYnQyTEJoQXdEZzY2Ky90aHQ4a0dVWjA2Wk5RMkppSWdCZytmTGxxRmF0MmtPZk15VWxSUVE4OGtPcjFhSjY5ZXA1cm4vanhnMTg4Y1VYaUkrUHg2VkxsMUM1Y21Xc1hyMDYzK2ZOYnZyMDZUaHc0QUFBNE1NUFAwU2JObTBjMXIxejU0N1k3K2JtaHYzNzkrUHExYXN3bVV4NC92bm5IN2t2VHlNR0g0aUlpSWlJNkpsMjd0dzVMRm15UkxVdEpTVUZNMmZPeEl3Wk14d2V0M3IxYWlRbEplWFlkbHhjbkhpY2xwYUdlZlBtNWRxZmpoMDdvblRwMGpBWURQajg4OCtSbkp5TXBLUWszTDU5RzRtSmlVaE5UYlU1cGwyN2RxaFpzNllJQk9SR3E5VWlJQ0FBQURCaHdnUVJwTEZud0lBQk50dCsrT0VIWEx0MlRaelB6ODhQcnE2dU9IUG1qRTNkd01CQTNMaHhBLzM3OTNkNERqYzNON3ozM251WU9IRmludnB2emQzZEhURXhNWG11NysvdmozMzc5dUhldlhzQWdOT25UK1A4K2ZNb1g3NTh2cy85c0dSWkZvOGxTY0s2ZGVzd1o4NGMxS3RYRC9QbnozOXMvWGlTTVBoQVJFUkVSRVRQckx0MzcyTHMyTEhJek15MDJSY1ZGWVVHRFJxZ1hidDJkby9kdEdrVExsMjZsT2R6cGFlblk4V0tGYm5XYTlpd0lVcVhMZzAzTnpkczJiSkZUTnZJeWVuVHA1R1ltSmpqM1haclBqNCsrT1dYWC9KVTE1RnQyN2FKeDhuSnllalJvNGZkZWlOSGprVHQyclZ6ZkI0bWsrbVIrcElmTGk0dWFOS2tDYlpzMlNLMmJkKytIU05Hak1qVDhULy8vRE0rKyt3em0rM1dnYWhQUC8wVUN4WXNzS216WXNVS0JBUUVRRkVVc1UyU0pGU3RXaFd5TE9QQWdRTTRlZklrWG56eHhmdzhwV2NDZ3c5RVJFUkVSUFRVU0V0THcvMzc5d0dZcHlkWUdBd0djWmYrdWVlZWd5Ukp5TWpJd0xoeDQzRGx5aFZScjMzNzlqaDgrREN1WHIwS3dEeVVQakF3RVBYcjEzK016OEpNa2lRRUJ3ZUx2QlhaQlFZR0lqZzRHUC82MTc4ZWFhaCsvLzc5MGFGREI5VzJiNzc1Qm52MjdBRUFqQmt6eG1aVWdNRmdLSkFwSkk0RUJ3ZmpsVmRlQVFCODk5MTNJampVcEVrVGxDeFpFbmZ2M2xVRlB5emk0dUp3N2RxMVhOdDNkM2RYbFhmczJJR0tGU3ZtZWx6bHlwV1JucDZPNjlldjUxZ3ZKU1hGN25aTGtNVTYyR0taTmxLaFFnVWtKQ1JnNWNxVitQampqM1B0eTdPR3dRY2lJaUlpb2lLb1FvVUt4Uk1TRXU0V2RqL3lhOG1TSlhibjc2OWR1eFpyMTY0RkFPemF0UXVlbnA0WU0yWU1EaDgrTE9wVXFsUUpFeVpNd0o5Ly9vbisvZnZEWkRMQmFEUmk3Tml4K09TVFQ5Q2dRUU9iTnEySHo5dXpZc1VLZlAzMTF3Q0FnSUFBZlAvOTk3aytCemMzTi9FNE1qSVM5KzdkZzQrUEQ5TFMwakJ0MmpUVmM3VU9PdHk0Y1NQWHR1MHBXYklrNXM2ZHE5cG1uWHRoNTg2ZDhQYjJGdVd3c0REOC9mZmZNQnFOQU16UHEyL2Z2bUwvbWpWcnhNVjUvLzc5VWFkT0haUXRXMWE4L2pObnpoVFRVYnAxNjRaMjdkcEJvOUhnZi8vN24yaWpRb1VLR0R0MkxBRHpxQVJMOEtGejU4Nm9WNjhlTGw2OGFEZjRzRzdkdWh5bmtEaHk0OGFOUEUzNUdEZHVITHk5dlcyQ0Z3Q1FtWmtwM2c4dUxpN1FhclUyZFRRYTg0S1NsdGNPTUNjM0JZQzJiZHRpN3R5NVNFeE1oTkZvRk51TGlxTDFiSW1JaUlpSUNBRGc1ZVUxVTYvWGh3RDR2OWpZMkMwQXNncTdUd1VsSlNVRlk4ZU9SV3hzck5qbTYrdUxXYk5td2NYRkJkV3FWY1BvMGFNeGUvWnNBTUQ5Ky9jeGN1UklqQjgvSGgwN2RnUmd2bmpNTGZEd3NMS3lzc1NGNjZ1dnZpcTJKeVFrNUt1ZDk5NTdUelY4LzVkZmZzR3laY3RzNmhtTlJwRW8wWjZUSjArcXl1Zk9uVlBsbGtoTVRFUzlldlZRdm54NXBLU2tpRUJHUUVBQWhnd1pJbGJBQ0FzTEF3QVVLMVpNSEJzUUVDQzJXd2Nmbm1SdDJyU3hPNzFsK1BEaDRuVjgvLzMzYzV3Q1l6M3l3UkprZU8yMTExQzllblhVcUZHamdIdjhkR0R3Z1lpSWlJaW9DSklreVYrU3BOWUFXdXYxK2h1U0pIMG55L0pHV1pZVGtwS1NibCs1Y3VWK1lmZnhZUTBhTkVoMThlenU3bzU1OCthaGRPblNZbHYzN3QxeDdkbzFyRm16Qm9ENVluSDY5T25ZdlhzM3BrNmRpbDI3ZHVWN2FIeGlZaUlhTldxVWE3MlNKVXRpMjdadFl1U0ZSVmFXT3Y2VGxaV2xtbHFTWFpreVpWQ2xTaFZSam8rUHovWGNyNzc2S3JwMTY0WlZxMVpoMTY1ZEFJQkpreVloTkRRVW8wYU5Ra3BLaXQya2xzdVhMOGVISDM0bytnMEF6Wm8xZStpbE4vZnUzWXVYWG5vSkFGUzVJa2FOR2lWR0R4UW1nOEZnRTN5eURpaGtabVlpUFQxZHRkL0Z4UVhEaGczRDNidDNWWC9MbEpRVWRPdldUWlRMbHkrUDZkT25PNm5uVHk0R0g0aUlpSWlJaWpoSmtvSUFETlZvTkpHU0pKMHFVYUxFNFJJbFNod3htVXdINCtMaVR1YmF3R1BVdlh0M05HL2VIQmtaR1JnMmJKaTRlSC90dGRmUXFWTW5USjgrSGVmT25WTWQ0Kzd1YmplUVlKMFUwT0xZc1dPUExUbmltalZyOFBubm56dmMzN2x6WjFYWk1xM2hVZmo2K3FKOCtmS3FKVVpMbFNxRjh1WExpenYwb2FHaDhQTHl3b1VMRjZEUmFKQ1VsSVR0MjdjaklpSUNTNWN1RmNlOS92cnJEOTBQV1pidEpxaTBseGpVMnZUcDAvSGhoeCtLOHJKbHk3Qm8wU0pSbmpScGtzTUVvZ0F3ZHV4WTdOMjdWNVQ3OXUyTG9VT0hpckpsUk1xSUVTTnc3Tmd4aCsxOCtPR0hxbjRBNXZkbVFrSUM3dHk1bzlwdU5CcFY3OG1pTnQzQ29tZytheUlpSWlJaXNzZGRrcVJhaXFMVUJOQlBxOVhlRFE4UFB5dEowdXFNakl6VjhmSHh0bXRBUG1ZbFM1WkV5WklsRVJVVnBSbzFVS0pFQ1ZTclZnM2p4NCszV2ZJeEpTWEZZWUpBd0h6Qktjc3lGRVZCWkdRa2dvS0NiT3BFUmthS3grbnA2ZmpoaHg5VUY4L2x5cFZENDhhTlJmbmF0V3NvVWFLRXVOQThmUGd3VHB3NGtmOG5YTURXcjErUDlldlhxN1lOR3paTVZmYjE5Y1g4K2ZOeDRjSUZIRDkrSERObnpnUUFqQjgvWGdSc0dqZHVqTkRRMElmdVIyQmdJR3JWcWdYQXZMcUVaYVJBblRwMUVCQVFnTlRVVkZXUXdFS2owYWhHUnJSbzBVSVZmTmkrZmJ1WU9wTmRTa3FLemZTVERoMDZGTmxnd09QR1Y1bUlpSWlJaWhKTnhZb1YvWFc4Mm9DaUtPNldJZlBaUndCSTVoMXVBRXBJa2xRQ3dFdHVibTZ6YTlhcytZTXN5eHMxR3MxWm85RjRMeTR1N2pvQVkvYTJINGZzeVFpLy9mWmIxS3RYRDdWcjEwYVRKazF3N2RvMXRHclZLc2VSQlJiKy92NzQ2S09Qc0hqeFl2VHExY3R1blVHREJrR3IxV0xIamgzNC9QUFBSZUNoUklrU0dEeDRzRWlxbUpHUmdXWExsdUhubjM5R2pSbzFNSHYyYkhoN2UrT3p6ejRydE9DRFJxTkJpUklsUlBuV3JWdXEvYjYrdm5CeGNSRmxQejgvNkhRNmhJYUdvbno1OHRpNWN5ZGlZMlBGKzhURnhRV2pSNDlXdFpHZW5vNXZ2LzBXQU1SS0lnQVFHeHNMclZhTGdJQUFWWUxHeXBVcmkrU2ErL2Z2RjZNRit2WHJKeEpPMmdzK1pCY1NFb0xRMEZBeHNpQTJOaGJ4OGZHcTZTZ1dHelpzVUFXczlIbzlYbmpoaFJ6YjErbDBhTkdpaGNQOTkrL2Z4NisvL2lyS2MrYk1nZEZvUkZ4Y25Hb3B6aGt6WnNEZjN4K0FPaWRHVVZMa1AzU0ppSWlJcU9nSUR3L3ZwdEZvQmdEd0tPeStGRFpGVVZTM3JTVkpFaGVYMXNFSVM0QkNrcVJpQUhwcU5KcWVpcUxjMFdxMWwvUjYvUmFUeVJTVm5wNStLQ0Vod1hGeWdnS1dsSlJrY3dmNzd0MjdHRFpzR01hUEg0L3g0OGZEeDhjSEJvTUJ0V3ZYenJVOUZ4Y1hoSWFHWXZIaXhRN3JiTnUyRGF0V3JWS3RFbEczYmwzMDZORURibTV1T0hqd0lHN2Z2bzNGaXhlTGkrOGpSNDRnTWpKU05WWEIybXV2dllaNjllb0JNTC9tWThhTVVTM3grTmxubjZsR1lSUXZYanpYNTJKUDhlTEY4ZE5QUCtIKy9mdVlObTJhelJLYWd3Y1B4czgvLzR3QkF3YWdUcDA2cW4ySERoMnlHVFdTbFpXRmFkT21ZZURBZ2REcjlaQWtDZmZ1M2JNYjZJbUppVUZNVEF3cVY2Nk0zcjE3UDFUL2M5T3RXemZWRklndnYvd1M4K2ZQVjlXNWUvZXV5TzloMGE5ZnYxemJkbmQzUjgyYU5iRnAweVlFQkFSZzd0eTVPSGJzR09iTW1RTUFlT2VkZDFUQmgvRHdjQURxQUF3QUJBVUZGZGxFa3hZTVBoQVJFUkZSa1ZDclZpMGZXWmE3QUdoUzJIMTVVdGtiQ2VFZ0VPRURvRHFBeWpxZGJrang0c1d2aFllSHI3cVhvYmpKZUxnRWhQbXhldlZxdTNrWmpFWWpwazJiaGw2OWVtSDA2TkZ3Y1hFUmQ4QXZYcnlJWDM3NUJVZVBIc1dJRVNOUXFWSWxBTUJmZi8yRnJLd3NLSXFpU3A3WXBrMGJFUmdBekNzZFhMdDJUWFcrUTRjTzRkQ2hRM2I3cU5WcTBiUnBVL1R0MnhmZTN0NTQ2NjIzMEtOSEQ3RVBNSTh3OFBQekF3QkVSMGVyQWc4QVVMWnMyUUpaYWhNQURoNDhpSTgvL2hnWEwxNEVBUGo0K0lqUkJnc1hMc1NkTzNkdzVNZ1I2UFY2OU8vZkg3ZHUzY0wzMzM4dmxzek03dkRod3poOCtERDgvUHpRdFd2WEhQTXMyRk9RQ1NmLy9lOS9ZK0hDaFNKUjVvRURCeEFWRllXV0xWdUtPblBtekVGcTZqK3pocXBXclNyT241dHExYXFKQkpIbno1OUhkSFEwVHA4K2pZb1ZLNkpreVpKMmowbEtTbEtWTDErK3pPQkRZWGVBaUlpSWlPaHhrR1haVlpJa3k0Z0hFNEJiaXFMWVpyd3JPa29BZU5UeDMxbUtvaVFEdUtJb1Nvb3NJeEJPWHFnZ0pTVUZHelpzc05tdTFXcEZRRUtuMCtHdnYvN0NyNy8raXQ2OWUwT1NKT3pmdjE4TWc2OWJ0NjRJUHF4YnR3NGJObXlBcjY4dm1qVnJob2tUSndJQXZMMjk0ZTN0TGRwdjA2WU4vdS8vL2crQStXNjRtNXViVFdKQndEd05vME9IRHFoZnZ6N216NStQVTZkT29WS2xTdkR5OG9LWGw1ZmQ1MlF5bWJCdzRVS2I3VC8vL0RQdTNidUg0Y09IUC9RS0VMZHUzY0o3NzcySFAvNzRRMnpyM2JzM01qSXl4T3VvMSt2eCsrKy93MkF3SURZMkZpdFhyc1NwVTZlUWxwYW1lbDRUSmt6QTc3Ly9qbzBiTjRxZ1ZISnlNbXJXckFrUER3KzBidDBhZ0Rrd1lRa0VWS3hZRWVYTGwwZHdjTENxWHcrYmNOSWVGeGNYREJ3NEVCOTk5SkhZTm12V0xJU0hoeU13TUJDLy92b3Jmdnp4UjlVeGI3LzlkcDdiRHcwTlJVaElDQzVldkloZHUzYmh0OTkrQTJBZXVlSkk5dUJEOWlTb1JSR0REMFJFUkVSVTVDaUtjaGZBREpQSlpQKzJkUkdnMVdvL0JORGNlcHU5MVIvc0xhV29LTW81QUhzQnhDaUtja3lyMVo2S2pZM05DZ2tMSCtuc2NROXIxcXpCL2Z1MnE0QjI3TmdSQnc0Y1FObXlaWEhtekJteEVrUEZpaFZSdjM1OTFWM25RNGNPb1cvZnZnQWc4akNrcEtUWWJkY2lNaklTUFh2MnhPWExseEVkSFkyb3FDaXh6OVhWRlJFUkVYanR0ZGRRdjM1OVhMNThHWkdSa2JoejV3NWlZMlB4ODg4LzQvMzMzMGVwVXFYc3R2Mzk5OS9qMHFWTE50c3RVd2N1WHJ6NDBFc3pCZ1FFV0k5WXdlREJnekZnd0FETW1qVkwxT25WcXhjbVRKaUF1WFBuWXRldVhaZ3laUXFPSHorT0tWT213TlhWRmQyNmRjT0FBUU5RckZneFJFUkVvSDM3OWxpeFlnVisrZVVYTkdqUVFDU090T1J3R0Q1OHVBZyt0R3paVWt4djJMOS9QOHFWSzJmVHg0c1hMNHBsTGYvMXIzL0J3ME05SzhyZDNUM1g1L242NjY5ajgrYk5PSFhxRkFEejMzUGt5SkVZTjI0Y0prK2VyS3Jidm4zN1BFM0hzZmpzczgvRWlCSHJxVG1mZnZxcHc2VlEvL3JyTDFYWjBxK2lqTUVISWlJaUlpcUtzbVJaL2pNdUx1NzN3dTVJWWRIcjliZXR5M2FTVGlMYi9qUkZVVGJJc3J4YWx1VlRTVWxKOTY1ZXZYb2ZnRzNFd29sT256NE53SHpCWDZOR0RSdytmQmlBZWFUQzNMbHpFUmdZaUlVTEY0cWNFQnMyYkVEOSt2VVJGaFlHRnhjWFpHVmw0Zmp4NHpBYWpUQ1pUS283MHZhRzRSc01CaHc1Y2dReE1USFl0MitmbU11djBXaFFyMTQ5dlBycXEyamF0S2tZMVdBd0dPRHI2NHMzMzN3VFgzNzVKYkt5c25ENDhHRjA2ZElGWThhTXNWbWU4dHk1Y3lKL2dDTjc5dXhCWkdRa0preVlrTy9YUzVJa1RKa3lCZDI3ZDBmVHBrMFJHQmlJTFZ1Mm9HelpzaGc1Y2lRQTg4WC81Y3VYVWJkdVhUei8vUE00Y3VRSUFQT0lpSmRlZWduUFBmY2NkdTNhcFdxM1FZTUdxRnk1TWxxMWFwWG52alJzMkJBTkd6YTAyZDYwYVZNeGltVEtsQ21xNlM1NXBkRm9NR1hLRlBUcDAwZU1uamg3OWl3R0RCaWdxaGNVRklSUm8wYmx1LzM4c3J4UExVNmVQQW1Ed1pDblFNcXppc0VISWlJaUlxSWl6azZnUVFGd1QxR1VLNUlrblpCbGVZc3N5NXZqNHVMUzdMZncrSVNHaHVMQWdRTm8zYnExelVpRnNtWExBZ0E2ZGVxRWRldldBVERuRnJoKy9UcEtsaXlKU3BVcTRjU0pFekFZRERoMzdod01Cb05ZL1VDajBkaTlNTzdjdWJOTjhrREF2T1JuWW1JaXZ2cnFLOHliTnc4R2d3RUdnOEh1NkJFQUl0bmozcjE3TVdYS0ZQajUrU0UxTlJWang0NFZkODlMbFNxbE9sZjkrdlh4KysvbStOalpzMmNmK3U1NVNFZ0kzbnJyTFN4WXNNQW0yV1J1WW1OamM5emZwMCtmUExlVm1wcUt1M2Z2Mm15M2pIb0FnTnUzYnp0OHZYT2JlaElhR29ySmt5ZmovZmZmdDd2ZjFkVVZuMzc2YWI0VGR3NGRPaFFEQmd6QWtpVkxzSGJ0V2dEQTFxMWI0ZVhsaGVUa1pKdmtsa2xKU1dMa1IwQkFBQklURTVHVmxZVURCdzZnU1pPaW0zS0d3UWNpSWlJaUlySzRyeWpLY1VtU1lnQWNNWmxNeCtQaTRzNFVkcWVzaFlhR1FwSWs5T3paRTE5Ly9iWGRPbVhMbG9WZXIwZHNiQ3hrV2NiMjdkc1JHUm1Kc0xBd01jMGlQajRleWNuSjRwanc4SEM3RjZWTm16YkY2dFdyYmJiYnUwRE9pMlBIanVINjlldnc4L1BEa2lWTGNPWEtGUURtQU5Dd1ljTXdhZElrVVhmY3VIRll1blFwdG03ZGlrR0RCcUZwMDZhWVBYdjJRNTNYMjl2YllYSkVDNlBSS0M2YUFmT0ZjMEd1U3J0eDQwYWJDL1hzcGt5WlluZjdybDI3NE92cm0rczVtalp0aXBVclZ5SWhJY0ZtWDl1MmJWRzVjdVc4ZGRiS21UTm5jUFBtVGRYZi9PalJvM0IzZDRlcnE2dE4vV1BIam9uSEVSRVJpSTZPeHQyN2Q3RjkrM1lHSDRpSWlJaUlxT2hTRk9VcWdCV0tvaXhMVEV5OGN1WEtsVXlZazNJK2NVSkNRdEN5WlV1VUwxOCt4M3F2dnZxcXVHdHZDVDZFaHY2enV1aXBVNmRVRjZpTkd6ZTIyODVycjcyR3c0Y1B3OWZYRjdJc1ExRVVWS3hZRVo2ZW52RHc4TUNOR3pkVUNUQm56WnFGNE9CZ3VMdTc0OVNwVTZoZnZ6NDhQRHl3WnMwYXJGKy9IbDkrK2FWSWR2bmlpeStLNDlxMWE0Y0tGU3FvenEzUmFEQjE2bFRVcUZFREhUdDJ0Rm50NHRDaFE3aDkrNS9aTXptTmpPamN1VE02ZCs2TWxKUVVEQjQ4V0d6LzczLy9pN0N3TUFCQVFrSUN1bmJ0S3ZiTm5EbFR0ZHFHTlU5UFQzaDZlam84bjdYYnQyL2p3SUVERDVWTU1qOTI3OTZOMmJObjI2d2FZckZwMHliY3ZIa1Q3Nzc3TGtxWExwM25kcGN2WDQ0OWUvYW90azJkT2hXQU9kaVIzYzZkTzhYakNoVXE0UHIxNjRpSmljR2VQWHZFS0p5aWlNRUhJaUlpSXFJaVNGR1U4d0QrejJReWZSc1hGL2N6QUdOaDl5a3ZRa0pDTUdqUW9GenJOVzNhRkRObnpvU2lLTGh3NFFMKy9QTlBWSzFhRmUzYXRZTmVyMGU1Y3VWRTBrbkFjZkNoUW9VS1dMdDJMWGJzMklGUFAvMFVIaDRlbURGakJ2ejkvUUdZbDdDMERqNVVxVklGcFVxVndxKy8vb3FwVTZlaWRPblM2Tm16Si9yMDZZTWVQWHFvVnJ4NDVaVlg0Tzd1RGk4dkw3ejk5dHVxVVFjV0dvMEdIVHQydE51MzVjdVg1L282WkdjMEdsVjVMdExUMHgzV3paNHZ3VnJmdm4zenRHTEVpaFVyeEdpSHlaTW5vMEdEQmpaMURoOCtMS2EvVks1YzJlNEloNXhHWU96YnR3K0xGeTlHZkh4OHJ2M1p0MitmbUxiVHIxOC9oSVNFNUhwTXNXTEY0T1BqQTRQQklLYklGQzllSEpJazJTVEhURXRMUTB4TWpDaFhyMTRkV1ZsWmlJbUpnY2xrd3BkZmZva1BQdmdnMTNNK2l4aDhJQ0lpSWlJcWdqSXpNMmZFeDhlbkZuWS84c3ZUMHhObHlwVEp0WjYvdno5cTFxeUoxTlJVdEdyVkNvR0JnZkQzOXhkM3JEZHYzaXpxaG9hRzJpd0ZhWkdRa0lDNWMrZUtCSmJKeWNrWU5Xb1VsaTVkNnZDQ09EMDlIUjkvL0RFQTRNcVZLNWcxYXhZV0xWcUVidDI2b1h2MzdtSUpUM2QzZHpSbzBBQ2RPbldDcjYrdjNlREQwK0xJa1NQWXRXc1gvdmpqRDFWdzQ5NjllK0p4eTVZdGJSSnVBdXFFa3lOR2pNaFR3c25VMUZSczI3WU5HelpzRUN0UlpGZWhRZ1cwYjk4ZWl4Y3ZSbXJxUDI5MWs4bUVyVnUzWXV2V3JkRHI5V2pYcnAwcWFXaDJIMzc0SVFCZzNyeDVXTEZpQlFCZ3k1WXQ4UGIyeHRXclY3RnQyelpSOTV0dnZoRUJDajgvUDRTRmhjSGYzeCtmZmZZWkZFWEJ0bTNiOE9xcnI5ck5ML0tzWS9DQmlJaUlpS2dJZWhvREQzbVJsSlFrTG41Nzl1d3BWaGV3dmlBR2dCMDdkb2pIWmN1V3hjR0RCd0VBUGo0K0lqSGwwcVZMOGR0dnY2bU9Dd3dNeElBQkEwVGdJWHU3QUpDVmxZVVdMVnBnMDZaTlltVEJuVHQzc0hqeFlxeGV2UnBkdTNaRno1NDk0ZXZyaS9Ianh5TWdJT0NobnF1cnE2c3FDYVBKWkVKV1Z0WkR0V1hQaGcwYkhBWjZzaWQvekQ0Q3hKNGJOMjdZWGUwaEx3a25BZk5ySHhNVGd4OS8vQkV4TVRFT3AzSG9kRHIwN05rVGd3Y1BocXVySzVvMmJZcXBVNmVLVlR5c3hjYkdJalkyRnRPbVRVUDE2dFhSclZzM05HL2UzRTZyOWhrTUJ2RTRPVGtaVzdac0VlV1hYMzRaa2lRaE1EQVF0V3ZYRml1elRKdzRFY3VYTDgvVHFJdG5DWU1QUkVSRVJFVDB6RGgyN0JqZWUrKzlmQjBURlJXRnFLZ29BRUNkT25Vd1o4NGNqQjA3VmpVU1FaSWtkTzdjR1FNSERrVGJ0bTNoNnVvS1daWlZkOVFCODJnR0h4OGZqQjQ5R2dNR0RNREdqUnV4WnMwYXBLU2tBREFQeTErNmRDbXFWcTJLeG8wYlAzVGdBUURtenAyckdpWHc3YmZmWXNhTUdUYjEyclZycDhvTllXM1lzR0ZpdFpQc0szWGtkU1dMNGNPSDIwM2tXS1pNR2J6MDBrdDQrZVdYTVhIaVJIVHUzRG5YdGh3bG5BVE1vd3B1M0xpQjNidDNPNnpUc0dGRGpCa3pSblZoWDdKa1NTeGV2QmhSVVZINC9QUFA3ZWFFTUpsTU9ILytmSjRUVXM2Wk13Y0dnd0ZuejU0VjI2S2lvbFNCRk92cE1nTUdEQkRCQjVQSjVIQ1V4Yk9Nd1FjaUlpSWlJaUlybnA2ZW1EaHhJdDU1NXgwQTVpVXZSNHdZSVJKRlZxeFlFWEZ4Y1RiSGhZU0VpRndRZ0htRmljaklTSFRyMWcxcjFxekI2dFdya1pxYWlsZGVlY1Zoam9sSG9kUHB4TWdDNjF3RTkrL2ZWOTJodDJhWkltQ1BvMk95eThyS1FxVktsYURSYUZDalJnMUVSRVNnU1pNbXFxU091UzJUbVZkZHVuVEJnUU1IYkVhazFLbFRCMis5OVJacTFhcmw4TmlXTFZzaUlpSUNtemR2eHFwVnEyeEdXRXlmUHQzaDlKdnNybCsvamtPSERxbTJkZXZXRFJzM2JrUldWaFlxVjY2TTZ0V3JpMzIxYTlmR1N5KzloSmlZR0VSR1JqNVMwT2xweGVBREVSRVJFUkU5TTN4OWZWR2pSbzJIUHQ2eUlrWkVSQVQ2OXUyTEJnMGFvRTZkT2paMTR1TGlvTlBwNE9ycWl1TEZpNk5hdFdvWU1XS0UzVFk5UFQzeDFsdHZvV3ZYcmxpNWNpWGVlT09OaCtwYlFFQUF0bS9mTHNwK2ZuNnEvUjA2ZEVDSERoMXNqdXZYcjErT2lTVWZsVjZ2UjZsU3BSQWRIZTF3T2N3NmRlcmc3dDI3ajNTZVlzV0tBUUFtVFpxRVk4ZU9JVE16RTgyYk4wZlhybDFWSzRma3hNM05EVjI2ZEVHblRwM3c2NisvWXZQbXpUaHc0QUI2OXV5WmF4NkdSbzBhaWVkMzdkbzFIRDE2RkZxdEZrRkJRZWpac3ljNmQrNk1WMTU1QmFOR2pjS1lNV05zanYvZ2d3OHdkdXhZZE8vZVBaL1AvTmtnRlhZSGlJaUlpSWdlQjcxZVgwS1NwTlVBV2lxS2NsT1c1ZDUvL1BGSFZHSDM2MWtTRWhZK1V0SmdMZ0QwNjkwRFV5YThXOWhkb21kVWZIdzhnb09ENGVQajg4aHRKU1ltd3R2YkcyNXVicXB0bVptWjBHZzArVjRhODhxVkt3Nlg4alNaVE5CcXRZL1UzNXdjUGhxTDRlK013NjFiaVFDVWZYSjZacGRMbDA1ZmM5b0o4NEVqSDRpSWlJaUlpT2lwVXFWS2xRSnJ5OTRVaUVlWkZ1RW84QURBcVlHSEoxM0JUTHdoSWlJaUlpSWlJbktBd1FjaUlpSWlJaUlpY2lvR0g0aUlpSWlJaUlqSXFSaDhJQ0lpSWlJaUlpS25ZdkNCaUlpSWlJaUlpSnlLd1FjaUlpSWlJaUlpY2lvR0g0aUlpSWlJaUlqSXFSaDhJQ0lpSWlJaUlpS25ZdkNCaUlpSWlJaUlpSnlLd1FjaUlpSWlJaUlpY2lvR0g0aUlpSWlJaUlqSXFSaDhJQ0lpSWlJaUlpS25ZdkNCaUlpSWlJaUlpSnlLd1FjaUlpSWlJaUlpY2lvR0g0aUlpSWlJaUlqSXFSaDhJQ0lpSWlJaUlpS25ZdkNCaUlnOUEvTFFBQUFnQUVsRVFWU0lpSWlJaUp5S3dRY2lJaUlpSWlJaWNpb0dINGlJaUlpSWlJaklxWFNGM1FFaUlpSWlJbnIyckZtL0VkLytzS1d3dTBGVXBKaE1KdHkvYnlqc2J0akY0QU1SRVJFUkVSVUlSWU1zS0lvc1NaSW1NeXNMbVZsWmhkMGxvaUpMVVpCMVg2T1ZDN3NmRnB4MlFVUkVSRVJFQlVJMnlTY0FKQlIyUDRpS09nVktPaUR2ZGMxS3VWdllmYkhneUFjaUlpSWlJaW9RbDgvR0hRZ0pxUklCRHplM3d1NExVVkdXbVdtVVRhbWFwQnMzcnR3djdMNVlNUGhBUkVSRVJFUUZ4WGp4WXZ6MXd1NEVFVDE1T08yQ2lJaUlpSWlJaUp5S3dRY2lJaUlpSWlJaWNpcE91eUFpb2lkS3lRb1ZTcmhwUGR0SmtxWjBZZmVGcUhESm1TWkZqcjU4NXVSUkFFcGg5NGFJaU9oUk1QaEFSRVJQRkZjWHo5YVNvdmxVa3VCVDJIMGhLa3lLb2pGcE5WSjRjS1ZLUS8vKzg4L2JoZDBmSWlLaVI4RnBGMFJFOUVUUktKcXlERHdRQVpJRXJhU2dyTmJrd244UFJFVDAxT1BJQnlJaWVtTFZxMU1MOWV2V0x1eHVFRDFXTjI3Y3d2YW9hTnk5ZTYrd3UwSkVSRlJnR0h3Z0lxSW5WdjI2dFRGeTJPREM3Z2JSWXhWMzRoUmlmai9JNEFNUkVUMVRPTzJDaUlpSWlJaUlpSnlLd1FjaUlpSWlJaUlpY2lvR0g0aUlpSWlJaUlqSXFSaDhJQ0lpSWlJaUlpS25ZdkNCaUlpSWlJaUlpSnlLd1FjaUlpSWlJaUlpY2lvR0g0aUlpSWlJaUlqSXFSaDhJQ0lpSWlJaUlpS25ZdkNCaUlpSWlJaUlpSnlLd1FjaUlpSWlJaUlpY2lvR0g0aUlpSWlJaUlqSXFSaDhJQ0lpSWlJaUlpS25ZdkNCaUlpSWlJaUlpSnhLVjlnZElDSWlJaUtpWjBTVktxN1BaMnFlMTJsY3ZBcTdLMFJGbVZGck1rbHB5dDkvL1hVaXViRDdZc0hnQXhFUkVSRVJGWWdRMmJXaG9sTytncVJVS095K0VCVmxXa1Z6SDU3eTNGS2xTazI3ZXZWcWVtSDNCK0MwQ3lJaUlpSWlLaUFLbEJjbG9GeGg5NE9vcUpNa2VBQlNBemMzZisvQzdvc0ZSejRRRVJFUkVWR0JrQlJKSzJuTU56aTlpaFdEajAveHd1NFNVWkdTbVptSjIwbkprR1Vaa2dTZExKdWVtQUVIREQ0UUVSRVJFVkdCNjl5eFBhWk1lTGV3dTBGVXBCdytHb3ZoNzR6RHJWdUpoZDBWRzA5TUZJU0lpSWlJaUlpSW5rME1QaEFSRVJFUkVSR1JVekg0UUVSRVJFUkVSRVJPeGVBREVSRVJFUkVSRVRrVmd3OUVSRVJFUkVSRTVGUU1QaEFSRVJFUkVSR1JVekg0UUVSRVJFUkVSRVJPeGVBREVSRVJFUkVSRVRrVmd3OUVSRVJFUkVSRTVGUU1QaEFSRVJFUkVSR1JVekg0UUVSRVJFUkVSRVJPeGVBREVSRVJFUkVSRVRrVmd3OUVSRVJFUkVSRTVGUU1QaEFSRVJFUkVSR1JVekg0UUVSRVJFUkVSRVJPeGVBREVSRVJFUkVSRVRrVmd3OUVSRVJFUkVSRTVGUU1QaEFSRVJFUkVSR1JVekg0UUVSRVJFUkVSRVJPcFN2c0RoQVJFVDBwRkVXQkpFbUYzWTJuenIxNzkzRHIxaTNjdkhrVHBVdVhSdW5TcFF1a1hhUFJDRW1Tb05WcUM2UTlJcUs4TUJnTXVITGxpaWo3Ky92RDM5L2ZhZWRMVFUxRlltS2lLQWNIQjhQRnhVV1VuK1R2SmtWUmtKeWNqSnMzYitMV3JWdlE2L1h3OHZJcTdHN2w2RWwrUFo5MURENFFFVkdSY3VYS0ZkeTVjd2RCUVVIdzkvZUhSdlBQSU1EMTY5ZmppeSsrZ0orZkgvejgvREJ0MmpTRWhJU0kvU2twS1pnMmJSb0dEaHlJaWhVclBuUWZqaDgvcnZxaG1SY2VIaDU0NmFXWEh2cWN6bkw0OEdFTUhqeFlsRnUxYW9XUFB2cm9rZHE4Y09FQ05tL2VqRzNidG1IQWdBSG8yclhybzNZVEFIRDA2RkZrWkdUa1dNZk56UTB2dnZnaTR1UGo4OVYydFdyVm9OUHhaeFhSMCtMdTNic0FnT0xGaTl2c08zMzZOQVlNR0NES0F3Y094S0JCZzV6V2w5OSsrdzFUcGt3UjVmWHIxeU0wTkJTblQ1L0d2SG56RUJ3Y2pNbVRKenZ0L0k5aTBhSkYrUHJycjBWNTBxUko2Tml4NDBPMWRlTEVDY3lhTlF2aDRlRUlEdy9IU3krOUpQNU85dmo2K3NMTnpTMWY1L2psbDErd1lNRUNmUDc1NXphQjh2VDBkTnkrZlR0UDdYaDRlQ0FnSUNCZjV5WUdINGlJcUlpWk8zY3VkdS9lRFFBSUNRbkJkOTk5Si9iRnhjVWhJeU1EMTY5ZlIySmlJa3FXTENuMjNieDVFME9HRE1IRml4ZXhmLzkrVEpreUJhMWJ0N1pwdjBXTEZraEpTWEY0L2k1ZHV1REtsU3ZZdDI5ZnZ2cGRzbVJKYk51MlRaUnorM0hYdG0xYjFLOWZIME9HRE1uWGVRQWdJaUlDSDN6d1FaN3ExcXhaRS83Ky9raEtTZ0lBN05tekIrbnA2ZkQwOU16M2VTMW16cHlKSTBlT0FBQ1dMRm1DTm0zYXdOdmJHNGNPSGNMZmYvK2Q1M1kwR2czYXQyOHZ5dSsvL3o2dVg3K2U0ekVsUzViRW9rV0xWQmNlZWJGcjF5NzQrdnJtNnhnaUtqekxseS9IeXBVckVSb2FpbHExYXVHTk45NVFCWnNmSit0UkRvRDV6dnp4NDhmUnYzOS9zYTFNbVRMbzNiczNBT0RreVpONC8vMzNjMnh6L1BqeFNFaEl3T0xGaS9QZG41RWpSK1k1Z05DaVJRdFY4R0g3OXUwUEhYdzRkdXdZVHA4K2pkT25UK1A0OGVPNGZmczJQdjc0WTRmMVAvendROHllUGR2aC9vaUlDRXlkT2hXQWVTVGRsQ2xURUJVVkJRQVlNMllNbGk5ZkRnOFBEMUYvNzk2OW1EaHhZcDc2R2hFUmdUbHo1dVNwTHYyRHdRY2lJaW95akVZakRoNDhLTW8xYTlaVTdZK0xpeE9QSzFhc0NIZDNkMUZPU0VnUUY3NFpHUm1ZUEhreUxsNjhhSE54YnpLWklNdXl3ejdrdEM4L0xsMjZsT1ArcEtRa21Fd21wS2FtNXJ2dCsvZnZBd0EyYmRxRVR6LzlOTmY2bVptWjRySEJZRUR6NXMxekhkSTZjT0JBOU8zYjErNitOOTk4VXdRZlVsSlNzR3paTXJ6OTl0dll1SEVqZnZubGw3dytEWnZnQXhFUllMNjQzN2x6SnhSRndkbXpaM0gyN05rQ0cySDFNRnhkWFZWbFdaWVJIaDZPN3QyN1k5MjZkUUNBZWZQbUlTd3NESFhyMW9YQllNajFPeUF0TFEwWkdSa1A5UjJRbFpVRkFKZ3laVXErUG5NQklEWTJOaytqOUJZdVhJanExYXVydGgwL2ZsdzhidFNvVVo3T2QrZk9IWWY3ckorN1RxZFRCWWdURWhMdzMvLytGek5uemhUYlRDWlRuczVKRDQvQkJ5SWlLakppWTJPUm5wNHV5blhyMWhXUHIxMjdwcm9yWHFOR0RkV3hEUnMyeEdlZmZZWXhZOGFJb2ZzclY2NUVpeFl0VUtGQ2hZZnVrNnVycStyT2k3V01qQXdZRElhSGJ2dFJaV1ZsUGRUNWM1dmFZR25iNHB0dnZzR1BQLzRveWdzWExrVEZpaFZ4OXV4WnNiOVBuejc1N2tkT2Z2MzFWL0hZWkRLaFdiTm1vbHlpUkFuVjNjS2JOMitLSWRGYXJSWUxGaXl3Q2E0ODZYT2NpZWdmUjQ4ZVZYM2U2L1Y2UFAvODh3WFd2cUlvSW9pYkY5bUQwdmZ2MzBkNmVqb0dEeDZNK1BoNHhNZkhvMHVYTGloWHJoeU1SbU9COVRNM0JvUGhvYjREOG5KTTlndDlvOUdJWThlT2lmSXJyN3lpdWlGUXJGZ3hCQVVGSVMwdERUZHUzTWgzbndEZ25YZmV3WWtUSjNENjlHa0FRSFIwTktwWHI0NGVQWG9BZ00xMFNEOC9QOVZuL2IxNzkxVGZYWlIvREQ0UUVkR2owSVdFaE9ndVhyeFllRmZJK2JCMzcxNVZPU1FrUlB5STJiTm5qMnJmQ3krOFlQTURwMXk1Y3BneVpRcis4NS8vd0dReVlmejQ4ZkQyOWhiMVNwUW9nZW5UcDhOb05PTDQ4ZU5Zdm53NUFQT0Y2YlJwMHdBQXBVcVZ3cng1ODBTYkhUcDB3SHZ2dldlM3Y5OTg4NDNESWFjLy9QQURBR0QyN05saUNrZVBIajNRcFVzWEFJQzN0emVLRnkrT3ZYdjM0c0tGQzZxTDl4MDdkb2lMNVg3OStpRWhJUUVBOFBiYmI2Tno1ODZQUGNIampSczN4STlCd1B5anRFK2ZQbUtPczhGZ3dNcVZLK0hoNFpIclJiN0JZTWpUai9NVEowNkl4OWwvK0x1N3U2TjI3ZHFpZk9EQUFmRTRPRGdZZGVyVXliVjlvcWRCaFFvVmlpY2tKRGllVlArTVdyOSt2YW9jRmhZbVJsc0JFSitKRmxldlhsWHR6NjVZc1dLb1hMbXlLTisrZlJ1dFdyVjY2UDdabS9hMVpzMGFyRm16QmhNbVRFRGJ0bTNGZDhDYmI3NHBwdnJObURGRDlDTWdJQUNOR2pWQzE2NWRzV25USm56MjJXY0FnQW9WS21EWnNtVUF6Q01EcktjUExsdTJEQlVxVkxBWmlmRTQvUEhISDJLa1FrQkFBQ3BWcXFRS1B0U3JWdytmZlBJSmZ2NzVaL0dkNmVIaGdmMzc5NnZhV2JWcUZSWXVYR2ozSEM0dUxwZzJiUnE2ZCs4dVJ1enQzcjBiWGJ0MmhWYXJ4ZEdqUjBWZG5VNkhxS2dvVlY2b2Q5OTlWNHdFVVJTbEFKNTEwY1BnQXhFUlBiUWFOV29FYVRTYUpYNStmbjhZamNaMUowNmNPQVdnWU9ZVk9JRjE5bklBNk5hdG04TzZzMmJOd3F4WnMzSnNMM3RlaEYyN2RxRkJnd1lBMUhmL1hWMWRjeDFDdW0vZlB2enZmLzhEQUpRdVhScE5temJOc2I3bEx0MmZmLzRwdHJWbzBjTG03cDJucDZkTlFpNFBEdytSazhINnJvNkxpNHZEWEEzVnFsWERsMTkrS2NvSER4N0U1czJiTVhYcVZKdjJUNTQ4aWFWTGwyTG8wS0dxVVNIanhvMVRYY2pucEdYTGxsaXdZQUZTVTFQUnFsVXJORy9lSEZXcVZNbjF1S2xUcDJMcjFxMjUxaHN4WWtTTys3Lzk5bHVjUDM4ZWdEa0Jwb1hCWUxCNVgzVG8wQUZoWVdHNW5wUG9TZVB0N1QwMVBEeTh0RWFqV1gzczJMRWRBQjdmYmZWQ2N2WHFWWnRnOC9yMTYyMENFdGEyYnQyYTQrZktpeSsraUJVclZoUllIM1BqN3U2TzU1OS9IcGN1WFJLQkJ3OFBEelJ0MnRRbThhMU9wMVBsbEpBa1NYek9aeDk5NE9ibTV2QTdvRStmUG5qcnJiZkVjWnMzYjhibHk1Y3hjdVJJbTdycjE2L0g1Y3VYMGI5L2Y5VXFJUzFhdEhBNEtzSTZEMUxac21YenZCcEY5dStmM0lMbklTRWhHRHg0TUJZdFdvUWhRNGFnVjY5ZTBHZzB1SERoZ3VyN3FVeVpNcXJBUTNabno1NUZRa0lDZkh4OElNc3lubnZ1T1NZZHpnTytRa1JFOU5Ba1NYSUJVRkdTcERZdUxpNFQ5SHI5QVVWUlZwdE1wcDljWFYxdkh6MTZOQlVBSjFIbXdiWnQyMFFpcklpSWlGeUREd0J3L3Z4NU1VeTBlUEhpcUZxMXF0UDZwOUZvNE9ucGlWT25UdUdMTDc3QTRjT0hBWmluU0ZnbjZFcE9Uc2JVcVZOeDgrWk5SRVpHb25YcjFoZzhlRENDZzRQek5hSkNxOVZpNGNLRkNBb0tjc3BkdU5EUVVGWDUzTGx6cXZMZXZYdnRKZ1c5ZWZNbU5tellvTnBXcTFZdEJoL29hUldzMFdpNkFPaWkxK3V2QVZobk1wbldaR1ptWHRKb05QZmk0K016YzJ2Z2FiTmt5WklDeTcyVFZ4NGVIamwrL3NteXJKb1M2Tzd1N3ZCQzF2cnowRHFIVWQyNmRaMTY4YXZUNmVEaDRZSG82R2g4K2VXWHVIejVNZ0R6NTEvTGxpMUZ2V1BIam1IUm9rVXdtVXlJam81R3IxNjkwTHQzYnhRclZzeGgyNHFpSURvNk9zZnpaMlZsSVRFeEVmZnUzUlBiWkZrV0NhUXRMRUg4blBUczJSTk5talRCQ3krOEFNQzg4c21FQ1JOVXdSaDdDYVd0QXgzWHIxOFhlVUowT2gzMjdObkQ0RU1lOEJVaUlxSUNJMGxTZ3dmL3BTaUtFbHV6WnMwanNpekhHSTNHMzArZVBQbHdrelFMa0p1Ym15cUpwSVhSYUZRTjFYZDFkYzN4am9jeldQL295ZXZGOXM2ZE84WGordlhyRi9oMGlYcjE2b2xNNFdmT25NSElrU050THNpLysrNDd0RzdkR25xOUhnQ3dkT2xTM0x4NUU0RDVCK1gyN2RzUkZSV0ZMbDI2NExYWFhoTzVGYXlIS0RzaVNaSnFoWStjdEd2WExsL1AzL291cDlGb1JMMTY5UnpXclY2OXVzM2R0Yi8vL2h0WHIxN044L21Jbm5TU0pQMEx3RHM2blc2b1ZxczlCZUN3WHE4L1lqS1pEc2JGeFowczdQNFZoUFBueitkcFpGUkJXN0prU1k0anQ2NWR1NGEyYmR1SzhzY2ZmNXlucEkzVzN3RU5Helo4dEU3YTBiVnJWelJxMUFnWkdSbjQzLy8raCs3ZHU5c0VhbWZNbUlHR0RSdkN5OHNMaXFKZ3pwdzU0dnZzL3YzNytPcXJyN0J4NDBZTUdqUUk0OGVQRjlNVnlwUXBJOXFJalkzRnRXdlhjdXpMM3IxN2JhYXlaR1JrcUpZb3pTdWRUaWNDRDRCNWVWRHI1MVdpUkFsMDZ0VEo1cmpLbFN0ang0NGROdHREUTBQdC9yWWdXd3crRUJGUmdaTWt5UmRBRTBWUklpUko2dS9xNm5velBEejhnTkZvL1Bya3laT0hVRWhEZTJmTW1HRjMrNmhSbzBRK0NKMU9oNjFidCtLNTU1NTduRjFUVGROd2xJRFNtaXpMK09tbm4wVDV5cFVycW1rZ25UcDFldVNSRUFFQkFVaExTOE9HRFJ2dzExOS8yZXdQQ3d2RDhPSERSZUFCTUNmMEtsdTJMT2JQbnkreWtCdU5ScXhkdXhiYnRtM0Q0TUdEMGFsVHB6d0ZDdUxpNGtTdWpOeTBhZE1tWDhHSCt2WHI1N251Qng5OEFBOFBEN0grZTBoSUNKWXZYNDRsUzVia3VRMmlwNGk3SkVtMUZFV3BDYUMzVnF1OXBkZnJUeXVLc2lFek0vUGIrUGo0L0MrZjhBU1FaUmtmZmZTUmFxNSszNzU5N2E1eUVSOGZqN0ZqeDRweWp4NDkwS3RYTDRkdFArcm9MRzl2YjFYWk9sbmw5dTNiY2Z2MmJYVHExRWsxSmVMdnYvOVdyUTRSRXhPRCtQaDRVWDdublhjZU9SRnVjSEF3WW1KaXNIbnpacnVyU2pScDBnVERoZzBUNTVFa0NVdVdMTUhpeFl1eGZ2MTZFZFJQU1VuQnJGbXpVTFpzV1l3Wk0wWk1UN1J3ZGtBb0ppWUcvL2QvLzJlenZVK2ZQbWpjdURFbVQ1Nk1RWU1HNGZMbHk5RHBkUGpnZ3c5UXZIaHhtL3BkdW5UQnBVdVg4T3V2dnlJbEpRV1NKRUduMDZGYXRXcE83Zit6aE1FSElpSXFFUGFTTDBtU3BBSGdEOEJmbzlGVWNuVjE3YWZYNjg4RDJHQXltYjdOek15ODlPZWZmOTRGVUdqcG84K2ZQNjlLUk5tOGVmTkhDandNSHo0Y3NiR3hxbUc5U1VsSjRpNldvMFJZMWtOdTdmM295VzdQbmoxaTZVOEFJaU82UmIxNjlSNDUrSERod2dXN2E2Zy8vL3p6R0RKa0NFNmVQSWxseTVaaDJiSmxDQThQeDdCaHd5QkpFanAyN0lobXpacGgvdno1K1A3Nzc4Vjc0ODZkTzVnMWF4WisrT0VIckZ5NXNsQ0hxT1kzWS9rMzMzeURwVXVYaXNlUGl3SkY1K1dPc0JkZmZORkxvOUhJa2lRcEdvMUdrU1JKeWNyS1VpUkpFdjhaalViWjh0aFNSNlBSS0JrWkdhS2NtWmtwMnRCb05JcFdxMVhTMHRMRVk4di9VMU5UWmExV3EyaTFXa1duMHltSmlZbUtScU5SZERxZDR1bnBLWHQ0ZUNoSGp4NVZBQ2g0aXFkV1NaTEVySEVQWlA4TWw4eVQ3b3M5K0M5RWtxVFdibTV1WCtqMStnMG1rMm1OTE11bmtwS1M3bDI5ZXZVK3pPK0RKOXFtVFp0VUYrdUJnWUVZT0hDZzNUdlcyVWMxZVhsNUlTZ282S0hQblo2ZXJwb3VZTTNEd3dQRmloV0RScU1SM3h1V3hJdEdveEVMRml6QTlldlhzWFRwVW93WU1RSWRPM1lFQUt4ZHUxYlZ6bSsvL2FZcUR4MDY5SkdERDFGUlVWaTVjcVhOOWpwMTZtRDQ4T0dZUDM4K1B2cm9Jd0RtQy9NV0xWckEwOU1UbzBlUFJ2djI3VEZ6NWt4VkVzY0xGeTVnK1BEaDZOS2xpMGdhbVpLU29ncWtPK0xwNllrU0pVcW90bmw3ZTZ0R2pHUm4rUTY4ZmZzMi92ampENXY5bG1tTFFVRkJXTHg0TVlZTUdZTFJvMGVyVnNLeTV1TGlnb2tUSjZxbUdsTCtNUGhBUkVST1kvMWoxcEk4U3BLazhnQW02SFM2MFRxZDdyUmVyOStuS01wQkFESEhqeCsvK0xqN2FGbVJ3aUk2T2hxN2R1M0s4L0Y5K3ZUQjBLRkRSZG5SOHBpV2JZN1dFYmUrcTJTOUZya2psbXpsT2JsMTZ4WmtXVVpTVXBMTmRrdXd3M3E2U1dwcXFsaTV3OGZIQjlXcVZVUEhqaDJ4YWRNbUFPYlZQdnIxNjRkV3JWcEJxOVZpeFlvVk9IUG1EQUR6RDNsclBqNCttRFJwRWpwMDZJQVpNMmFvVnJObzNMaHh2Z01QT3AwT3djSEJvcHlWbFpYdmFRK2pSNDlXQlhuc2NaUnNyYkI0NnFUU3Jsck5kd0FVU1pLZ1BQaEhKY3N5dEZxdDVSK1lBcGp6WkdnMEdnVXdWMU1VUlRHWlRKYlhXcEVrQ2E2dXJnb2cvajBxaXFJb3hZb1ZzOVMzdEtWNGVYbEJvOUVvRHlBb0tNaHliZ1dBWWpLWlVLTkdEZVhCeGJ1aUtJcmxRdDdTdml6THNzbFNYNUlrV1ZFVVdaSWsrVUY5R2Y4RUxoUUFsbjB5QVBuQmZ2bkJjWXFpS0ViTHNaSWttU3h0UzVKazBtZzBKa21TWktQUktQWkxrbVJTRk1Va1NaSnNNcGxrUlZGTVdxM1dKTXV5SzRDS0Q2WlZ1Y2l5WExWR2pScjNzL1hkRXN5eFBEK3h6VksyM3FmUmFHUkxuYXlzTEZYOUIzOFBzYys2RGVzZ1VVWkdCcXozYWJWYStVSGJTa1pHaHVVOHFqWU5Cb01vVzdaWkFraHBhV21xc3VXeFZxdFY3dHk1bzFpOWQxVC9FQis4eC9EZ3phSGEvdUQvWGdBaWRUcGRwS0lvRjRLQ2dnNEdCZ2IrTHN2eTcwYWpNZlpKemhFUkVCQ2dLci85OXR1UGJhajhvRUdESE82YlAzOCtHalJvQUI4Zkh5UW5Kd013NXlBQXpDTUNMRXVDM3IxN1YrUk5TRXBLRXF0ZE9HSTBHc1hudVhYZ3czcDdXbHFhNnBpa3BDVFY2azA5ZS9iRTFxMWJSUjZGQmcwYW9ILy8vdERyOVVoTlRSVzVmd0RiSEFubHlwWERraVZMc0dQSERzeWRPMWUxakdYejVzM0Y0KysrK3k1UHl6UFhyMThmbjN6eWljMzIzSkk1NThXNWMrZlF1M2R2S0lxQ2Q5OTlOMS9IenBneEEwMmFOSG5rUGhRVkRENFFFVDFtMWFwVks2ZlQ2U1lBcUoxcjVTZWZLd0RWOGdyV0dhcXRmN3hhSGx2dGR3ZWdCeEN1MFdqNktvcHlVNi9YeDZWbklTdkRLT2M1MC9Xak9IWHFsTTM4VFpQSjVEQkFZRTlCcmJsdXlaTUFBUC82MTc5eXJMdDkrM2FjT25WS3RlMmpqejdDOGVQSFZja1FPM1RvWURjUTBybHpaN3Z0TGw2OEdJc1hMeGJ0dFdyVkNpTkdqTUMxYTlmUXFWTW5ORzdjV1BWM3NmeFFCaHlQMXFoYXRTcFdybHlKVFpzMlljR0NCUWdLQ2tKa1pHU096OCtlRjE1NEFSczNiaFRsaXhjdjJwMlQ2OGpxMWF2ek5Ocmg5dTNiT0huU2RucTdaVmsyQUtyTThjNm0xYUtZSkVsaUhvN2w5ZGRvTlBidVZLditiNzg5cmQxUlNwWWNKL2IrelRyS2YySjlIbnZuMUdnMHFvdFo2LzQ5Q0ZZNFhLN09VZHVXWTdKUHNiRzN6WEtjbzBDWG9paStXcTEyQ2dEcmZ5Ukt0dlpFQjYxSFNWZ0NPdG1Qc3pxWGFwK2lLR0pmdHRFV2lxSW8xc1AyeGZrQktMSXNXNy9mVkgzSk5qMUw3Rk1VUmZIMDlMUitiY1VEV1phVmJFUDhTeU1ieSt0bTc3MWd2VitTcExJQXlrcVMxRUdTcEVTdFZ2dVhYcTlmbjVJdUZ3ZWMvL21kWDQwYU5VSmdZQ0J1M3J5SmV2WHEyVTBvV0JncytXUUNBZ0xFWjJwU1VoSU1CZ08rK3VvclVTOGtKQVF0V3JRQUFDeFlzRUQxMlI0UUVJQVBQdmdBWDMzMUZXSmpZd0dZTDZoSGpScGxjNzRMRnk2Z1RaczJkdnN5ZlBodzhYam56cDBJQ0FqQXhJa1RzWGJ0V2tSR1JxcHk5VmhXMmJEdzhmR3gyMmJyMXEzeHlpdXZZTkdpUmZqbW0yL1FzV05IMUtwVlMreTNYazR6SjBhalVSVkV1WHIxcWxpTzJaSEF3RUFzV0xBQVlXRmhHRGh3SUFCelhxTHMzOXV5TE9kN05KeEZmbjR2RUlNUFJFU1BuVTZuK3plQTNwSWt1ZVZhK1FsWGdPdGN1MGlTNUNYTGNuRkpVV3dubGpxQnZmbS9nUG1DS2Z2OFcydHBhV21xSHk3WkwzZ0dEeDZNNU9Sa25EaHhBcXRYcndaZ0hySnJTWXBWdG14Wm16WlRVMU5WUDZxczcvRGJzMzM3ZHB0dDRlSGhOajhHQzhMUm8wZHg5ZXBWZlBIRkYvamlpeTlVKzI3ZHVpVWUvL1RUVDZyTTY5WUdEQmlBTjk1NEE4MmJOOGU5ZS9jS1pickZ3b1VMSFM3eGxwMjlwZU9zUjZZODZsRG0vRkFVODRnRmUzSUtNanp1ZlRteGQxeGVBaVVGM1E5N1RRSHdMOGhBWjBHMVZSRHQ1S1dOQXZvTTF3THdsQ1NwdU1sazhsUVVQSWJRY2Y1cHRWcTgvdnJyV0xObURhWk9uWXBaczJaaHk1WXRkdXRtZjEyV0xsMXFkL29CWUU1QytQWFhYNnUyWlY5Tnc4M05UUlhVc2I3VGJ3aytCQVlHaXFTSHQyN2R3dkxseThXb0I4RDh1YVRSYUdBMEdsV0pKZ0h6NmhqMTZ0WER0OTkrNi9ENVA2eDkrL2JoL1Buem1EUnBrbXE3ZFVBV0FHYlBubzBGQ3hiWWJXUHUzTGtZTTJZTTJyZHZqMUtsU3FuMlZhbFNCZnYyN1lOV3E4M3hRdjYzMzM1RDQ4YU5SYmxYcjE2NXJteGhHZWtXRmhZbVZpUmF1WEpsZ2QwMEFBcjA4NmhJWVBDQmlPZ3hreVRKSDhCVEgzaHdKQzkzTXJQVlN6Q1pUQjhvaWhJVEZ4ZDNJYVJTK0ZSSlF0NXZhVCtrZGV2VzRjOC8vN1M3NzVOUFBsSGRtYkc0ZlBreWV2WHFKZWJqdXJ1NzQvWFhYMWZWc1hlY3E2dXJhcGhwZGdrSkNlS3hKRW1vVUtGQ2puMXYyN2F0YWoxeVJ3SURBM0gvL24xa1pXV3BBaFBXODJhVGs1UEZEekV2THkrUjdOSXlIUG5ldlh1NGRPbFNydWU2ZS9ldUdDcWNuU1d3NHV2cm02Y3BKVThpeTN2RjFkWFY0UjArWjhneXliZDFXczFGS0VvV3pOUHdOUUNnS0lvRTg4V3o5R0J1dnZSZ0d3Qm9IbXlETE11YUJ3K3Q2NHV5TE11aUxQM3pqMVNjdzdMdndXUExmc2xxdi9pSG5iMk9vaWpTZ3hFYW9tL1oyOGpXbHZWMjYyMnFRNjNhc3JRTm0wcHFOdHNlVkRNcGl2S25KRWxKMlY4L3E3WkUvNnhlUSt0OTFzZEoxc2RrYnpQYjN5SDczeERaMnJQYnB2VStSMzJ3T2diWjJyTTVEdVlSYUtxaFBBN3k5OWhzZTFBdkdjQmNrOG0wMHpMdElpUXMzRFo2OTRSNC9mWFhVYVpNR1FRRkJUbWNJbWRQOWhXUnJObHJ3enBoSkdDKzRMVjhycDg1Y3dZOWV2UVEreXlmdGRaQjV4TW5UdUNYWDM0UjVUcDE2dUNWVjE0QllCNWQwN3AxYXpFZHpoR2RUaWMrNjlQUzBzU0Z1SXVMaS9nY1ZoUkZOUjNDejg5UEJJY3RnZlhFeE1ROGZRZFlqOTdMemhLb3NQZmRabGtGcEZPblRqYkxHT2RFbzlGQXA5T0p2NHZsZFRTWlRHSVVRMTZuMFpVclZ3NC8vdmdqamgwN2hqbHo1cUIrL2ZxcVVTQVdScU1SdzRZTkUxUCtpaGN2YnZjN254eGo4SUdJcUJBcGlySUl3S0xDN3NjaktDVkowaUlBTDlqYjZlQUg2MFZGVWRiSXNyeGJxOVVtR28zR2V5ZE9uTWg5WWU0Q0ZCY1hoM256NW9teWk0c0xYRnhja0o2ZURsbVd4VEJUNjhTVGlZbUpHRDU4dUFnOEFPWTdVZG52NGp4c2Z5emMzTnl3WU1FQ0JBY0hPeHp1M3F4Wk0weWJOZzFaV1ZrNTNzSDUvdnZ2QVFCYnRtekJmLy83WHdEbW9iSFd5YjI2ZGVzbTdyWU5HalJJOWFQNFNXSXltVlEva3EybmZPVEZiNy85Wm5OUkZSRVJJUzRjdG03ZEtuNm9hN1ZhVlpLMGl4Y3ZpdGVvYk5teWozWGtScVpKYytOK3FySGJYK2RPWElENmdsMENJRldwVWtYS3pNeVVqRWFqbEptWnFRRUFrOGtrUGZmY2M1TEpaSkpNSnBNa3k3SmtOQm8xc2l4TEFPRGw1U1VaalVhTjVZTFZaREtKeCs3dTdwSjFXWlpsalNWNDRPN3VEbG1XSlRjM04wbFJGRW1XWmNteXo5WFZWVHgrc0U4RU1IUTZuZXJpV0pabGpZdUxpOWozb0s3cWZKYXBCdFo5VVJSRm95aUtwTlZxVlJmV1Z0c2tXWllsclZhYi9RSWVzaXhydEZxdEpNdXlqeVJKNzBpU0ZBNGdPU3NyYTVvc3kzc3M5ZHpkM2EyREg3QzhacGJuWXYyM3NkNW5lZXpoNGFIYWJuMmM1ZjJYVTV2V1pVVlJKT3NsWHZOelhQWjlsbWtkMllNMUFHWURhRzFWMTNxZnZjL3dkRVZSZmxBVVphTWtTUmV5c3JJeURRYkQveElTRW5LZnRQOEVLRkdpaE0xeWpjNlFQYmVNOVVWdzl1SDlsb0N2OWRLUDFzbUVkVG9keG8wYnB6cW1iZHUyMkxScFU0NmpCVUpEUThWbi9kU3BVOFdLRW8wYU5SSzVFKzdkdTZjYVRXQ1pvdkE0VmF4WUVhMWJ0MGExYXRWeURENjR1N3VyZ3RkNnZSNysvdjZZTzNjdUFIUGZ3OFBETVdmT0hLeFpzd1pBM3BaMEJzenY4NE1IRDRyVmxYYnUzSW1YWDM3WlpucksvUG56VmJtR1Jvd1k4ZFFHMUFzTGd3OUVSSVZJa3FUcng0NGRzMDNCL0pRSUR3Ky9BeUJUa2lSSGdRWUZRQnFBdXdEMkE1Z2ZHeHU3SDRXNHVrVlNVaExHalJ1bnVtZ2ZPblFvU3BZc2lRa1RKZ0F3QnhxR0RSdUcrZlBuSXlBZ0FCY3ZYc1NJRVNOVVB6cGVmZlZWZE9uU3BVRDZ0SHYzYnZIWVlEQmczYnAxcUZHamhzTWZ5U1dQcEI4QUFDQUFTVVJCVkM0dUxuanJyYmR3OHVSSjFkMHhSNnhIVnVTV1R5SzdObTNhMkIyMThkTlBQMkg2OU9taXZHclZLb1NFaEloeTA2Wk5IM29PclQyWExsMTZwSXNHclZhTE45OThFeGN1WEVCQVFBQysrKzQ3MWY3bzZHZ3gzZWJmLy80M2F0ZXVEVzl2YnlpS29scFM4OHlaTTVnd1lRSnExS2lCbGkxYkFzQWpaY0hQQjVFUTBacjFDaWZXTEVualNFMnYxNWVRSk1teVpxS3MwK21TL3ZqamoydUYycWxDcE5mcnhYQWxPNlBURkVWUk1tSCsvRDRMWUUxNmV2cnFNMmZPMkYrMjRTbno3My8vVzl4MXorN0tsU3RZdFdxVktMLzg4c3NPRXh2NisvdmJiTXUrTEtWMThDSDc5RGhMRXNueTVjdmJiYjkvLy80b1U2YU1hbHUxYXRVd2ZQaHdyRjI3MWlhaHNEMlA4aDB3YWRJa3NUS0Z0Umt6Wm9ncGdMNit2dmp4eHgvRnZsT25UbUh3NE1GNWFqOG9LQWlqUm8zQ29VT0hjcXpYc0dGRG00U1RKMDZjRUkram9xSlF2WHAxN05rallvbDVXbEw1OHVYTFdMcDBLZDUrKzIwc1dyUklCTG1uVFpzR1B6OC9zU3pvN3QyN3NXTEZDbkZjMWFwVjBhRkRoOXlmSUtrdytFQkVSTTZRQ0NCT2txU2pzaXp2TnhxTkIwNmVQRm5vVjBPcHFha1lPWEtrS2xkQjllclYwYXRYTDJnMEdzVEd4b283TCtmT25VTmtaQ1I2OWVxRitmUG5xN0tDMTZsVEIxT25UczNYdVJWRndmNzkrMUdzV0RGMDdOZ1I5ZXJWQTJBZW51c280VmF6WnMxUXNXSkZBUC9NQzdibzI3ZXZDSmJreHZvQ05iOC9QSFU2bmQwNy9kWnpqajA4UEJBV0ZtYVQvOEtlWmN1VzRjU0pFMmpXckJraUlpSWVhLzZFcEtRa3BLYW0yajNuNTU5L0xoNDNhZElFdlh2M2h0Rm94RWNmZldSemdSOFZGWVdZbUJnTUhUb1VYYnAwY1RoQ2hlZ3BaVkFVNVJTQUk0cWlIREdaVEFkUFdGL2xQU05xMWFybGNNaDhiR3lzS3ZoUXBVb1Z2UEhHRzNsdTIzcWFnaVJKcXMrY3YvNzZTenpXYXJVaTZHa3ZFRks1Y21WRVJrYml4eDkvUkV4TURQcjE2NGNxVmFwQW85R2dYNzkrTnN0dDJtTXdHRlM1RWZMN0hlRHE2bXFkRUJXQStidlVlb25xS2xXcXFBSXNPYTBpOHU2Nzc2SjQ4ZUpvMXF3WjZ0YXRDNTFPWjdNU2lUMzc5KzlIKy9idFJkbkR3d1ByMXEwVFNVUy8vLzU3ZUh0NzQ4cVZLNklQRVJFUk9iWjU0OFlOREI0OEdGcXRGbjUrZnBnMmJScUdEQmtpOG5LTUhEa1NreWRQaHJ1N095WlBuaXh5ZVhoNWVlRS8vL2tQUC9zZkFvTVBSRVJVWUJSRk9hd295a2FOUnJNek16UHp4c21USjVOUWlLTWNyS1ducDJQNDhPR3FDMGxmWDEvTW1ERkQvSUFZTzNZc2twT1RFUjBkRGNBODlIWFdyRm1xZHVyV3JZczVjK2JZL0JqTFNXcHFLbDUvL1hWY3Zud1o3N3p6RG5yMjdBbkEvS013cDJrT0FRRUJDQWdJd055NWMxRzVjbVZVckZneDMwUCtyMSsvTHJLZkErYTVyWThxT2pvYVI0NGNFZVVtVFpya0tmQUFtRi9UUFh2MllNK2VQUmd4WWdUZWZQUE5SKzVQWGxrQ1NFYWpNZGNNNWIvLy9qdm16Sm1EOCtmUGkyMnRXclhDb1VPSGtKeWNqTFMwTkh6eXlTZUlqbzdHZi83ekh6ei8vUE01dEViMDVGTVU1UWFBVFlxaWJKRGwvMmZ2M3VOc0t2di9qNy9Yeko2VEdReGptQ2FNWXdqRGtJUWNRbzdobGdncGhHOHhEcmNraVc0cHdwMmlBeVh1Y2l1U1NuU2pvaHlpRURtZkd1NFFTUXlHR1dNT2UvYjYvVEcvV2Zkc3M4ZHNtdFdvZVQwZkQ0L0hYbXRkYTYxcmIyVm12ZmQxZlM3WGtmUG56NTg3ZWZMa2xUeFBSQTdIanYxdjFlakl5RWd0WDc1YzU4NmRVM3A2dXR1cVBlSGg0ZGJQbjBPSERybE5vd2dJQ05DVUtWUGtjRGgwNXN3WnJWMjdWbXZYcmxYNzl1MnQ2UUhlK1BycnI5MktRK1kyd3VKNnZQSEdHMjVGa2x1MWF1WDF1WWNQSDlhSkV5ZTBiTmt5elo4L1g3VnIxL2JxdkpTVUZDdFlrRExEQmNNd2RQLzk5K3V0dDk1U1dscWFXK0hQN3QyN1c2TktjdlB1dSs5YVU0MHVYYnFrQmcwYWFOeTRjZGJubTVHUm9Za1RKN3F0ek9Od09QVFNTeS9seTgvU3dvandBUUJ3dzV4T1o0YWZuOThwMHpSWHVWeXUrYnQzNzk0dHlaWG5pUVhnelRmZmRCdWk2ZVBqbzhtVEp5c2lJc0xhNSt2cnE5allXRzNidHMzanloR1JrWkdhUEhteXJscmlMb2YwOUhTM2g5YTB0RFNkT0hGQ2txd2hzcW1wcVJvMWFwVGJOMlFkT25Ud3VKTEYxcTFiOWQ1Nzd5a3NMRXdUSjA2MGhvRm05OG9ycjdoVlJzK3lmUGx5dDIxUDUxNlA3ZHUzNjdubm5uUGJkejNUVDdKUEI3aWVlaG5seXBXejV2WjZraFVHWFYyQlBVdHljckwxZHhvZkg2L2h3NGU3VmFSZnVuU3B3c1BEOWMwMzMyalFvRUU1cXFpM2E5ZE9reVpOMG9VTEZ6Ung0a1J0MnJSSmtyUnIxeTcxN05sVFU2ZE96WmYxNW9FL2ttbWE1eVY5THVtZG5UdDNMdGRORWhiLzJlM1lzY042SFJVVnBmajRlTGZwVzFscTFhb2xTZnIrKys4MWN1Ukl0MUEwTFMzTmV1QTlldlNvdGYvcVlwWlM1cytWQ1JNbWVKeUd0V3paTXV0MVlHQ2c2dGF0ZXdQdjZIOFdMRmpnRnFDVUtGSENtb0xtamV5RktmT2pabEt2WHIzMDRZY2Z1dFVCS2xXcWxGZExPbWV2Y2ZMTEw3K29XTEZpNnRxMXE2NWN1YUtYWDM3Wlk3c3hZOGJvemp2di9OMzlMcXdJSHdBQU4yemZ2bjIvVnFoUW9lMnhZOGU4S3hsZWdLNHVvalYyN0ZoclBxakw1ZEozMzMybmp6LytXSnMyYmNwMXhZNVRwMDZwWThlT2F0S2tpWm8xYTZZR0RScTREV0U5Zi82ODNuampEWDM5OWRkdWhTbXpTMGhJME5telp6VjI3RmkzRVFuTm1qVlQ4K2JOUFlZUFdRL3M1ODZkeTdVNisxZGZmWlZqM3krLy9PSzJQRnh3Y0xEWDN6SmRMVDA5WGUrOTk1N216Sm5qVmkralE0Y08xM1hOckJCR2tsdU5DRThDQWdLcytkVGg0ZUY1dGs5SlNYR2J3cEo5bEVqMk1FaktITm1RWFdCZ29Jb1VLYUpHalJwcDl1elpic2Y2OXUycm9VT0h5akFNbFN4WlVxKysrcW9XTEZpZzExOS9YUzZYUytIaDRhcFRwODQxK3diY2pKS1NrcDQrY3VTSTUyVnEvb0orL2ZWWHR5bDB1Y2xlMzBmSy9MYzllOTBFVDBKQ1FoUVJFYUhUcDArN3RhMVNwWXJIYjhuOS9QejA2S09QYXVQR2pYcnFxYWR5QktlbWFlcVZWMTdSOU9uVGxabnJaL0pVRURJNU9ka3FLSm5kNnRXcjNZS1ErdlhyWDllb3Zld3VYTGlnNmRPbnV4VXNscVNoUTRkNnZhckUyYk5ucldWR1EwSkMzSW82NTZWcDA2WTVnbThwYzJSaGFHaW9XL2hRclZvMWorOHpKU1VseDg5UUh4OGZQZnZzczZwUm80YWNUcWZXcmwycnI3LytPdGQrekprelJ5ZFBubFRuenAzei9KbUVuQWdmQUFDL2gvUFlzV1A1dDJDMmpiSi80eDhiRzZ2T25UdHI2OWF0V3J0MnJkYXZYKysya2tKMklTRWhia0ZDV2xxYTFxMWJaeFdKREE4UFY0MGFOVlMxYWxYMTZkTkhLMWV1OUxnQ1JhMWF0ZlRnZ3cvS05FMzE3Tm5UYldSRnVYTGxOSEhpUkxlQ1c3Lzk5cHRTVWxKMCtQQmh0K0psVmF0VzllcjlwcWVuYStMRWlXNi9hTFZ2My82NnAyMGtKaVpxMWFwVldyaHdvVnNGZGlsekNrZHVkU2Q4ZlgydGdwUDc5dTFUeDQ0ZGRmRGdRV3ZZckwrL2Y1N0RWbHUxYXVWeE9HOThmTHplZSs4OUJRUUVLQ0FnUUg1K2ZrcE1UTlM2ZGV2Y1JuOWtMd1NYUFd3SUNBaXdmZ0hPOHZiYmI2dHg0OGFxVkttU1JvOGVyU2VlZUVKVnExYlZ5SkVqRlJNVG80eU1ERG1kVHBtbUtkTTAxYU5IRDFXb1VFRXZ2dmlpWG5qaEJlYis0aytwTUFVUGtqUjU4bVN2bGltKzJzY2ZmNnlQUC83NG1tMWF0bXlwbDE1NktjZG9zOGFORzZ0WXNXTHk5ZldWYVpvcVVxU0lLbGV1ck5qWVdHM1lzRUZ6NXN4eGErL2o0Mk9OeXRxNGNhUGF0R25qOWpNZ09qcmFxejcvOXR0dk9RbzAzbmZmZlY2ZG05MHZ2L3lpVHo3NVJKOTg4a21PVUwxang0NGVpeTVlL2UvaHpwMDdGUkVSNFZhVTB0dVZLTEprWHlJMHk0WU5HelJ4NHNRY0JUNi8vZlpiOWVyVlM2TkdqZExkZDk5dDdiODZkSFk0SEhyMjJXZFZyRmd4VFowNlZldldyY3YxZDRFczhmSHgrdmUvLzYxLy8vdmZLbGV1bktLam94VWRIYTEyN2RyOW9UV00vcXdJSHdBQWhVSllXSmdxVnF5b1RwMDZxVmV2WHZyYjMvNm1YMy9OdmNoOTFhcFZGUnNicTBhTkd1bkREei9VM0xsejNlYTRaamw3OXF6T25qMnI0c1dMcTFpeFlvcUppZEcyYmRza1pmNWkwN1p0Vy9YczJWTlZxbFRSa0NGRDNFWTdTSm5EUTE5OTlWVVZLMWJNYlg3cTZkT25kYzg5OTdoOUd4WVdGcWF5WmN0NjdPLzgrZk90YjVGU1UxTTFhZElrN2RxMXl6cnVjRGpVdjM5L0x6NnAvemwwNkpENjl1M3JNVXlwVnEyYTNuampqVnkvOFlxSWlMRG1QYTlhdFNySGlJNzY5ZXZmOEpLVm9hR2grdlRUVC9QOEJyTmV2WHFTTW1zOFpCOTYvTXd6eitqbm4zL1cvUG56cldIT3k1WXRjMnNqWmE1czRVM0Y5bjc5K21udzRNRWFPSERnOWI0VkFIOGh5Y25KYmtVZ1EwSkNGQk1USTRmRGtXTTFoOUdqUitkWXJhaFJvMGFLalkzVmdBRURySUEwKzROMWtTSkZGQk1UaytPK0VSRVJtanQzcnJYOXl5Ky9hUFRvMFc0cllWU3NXTkhqeWtYWHNtVEpraHgxajdKMDdOaFIvL2pIUHp3ZXl6NmRVWkttVHAycXFWT251dTNMS3JwOEl3NGVQS2laTTJlNjFSNXlPQnlxWDcrK3RtN2RLaW16c09lSUVTTjAzMzMzV1V0TlY2bFNSVUZCUWJweTVZcjgvUHcwYmRvMHpaZ3h3MjFFM3RYdXUrOCtoWWVIYStIQ2hUbEdwNXc0Y1VJblRweFFYRndjSzE5NGlaZ2VBRkJvVEo4K1hYMzc5cFcvdjc5Njl1enBzYzBkZDl5aG1UTm42b01QUGxEVHBrM2xjRGowMEVNUDZmUFBQOWZvMGFQZDFtTFBFaHdjckdIRGhrbVNtalJwb3FKRmk2cGZ2MzVhc1dLRm5uLytlZDErKyszeTkvZlBNUzgyS2lwSzc3NzdycldNMm0yMzNlYTJxc1hWditoY3ZkUms3ZHExMWJKbFM3VnMyVkxseTVkWFpHU2tJaU1qVmJwMDZSeHphWHYyN0puakY4SzhWSzllWGZmY2MwK08vVDE2OU5BNzc3empjWW01TE5mNlJjd3dES3ZvNW8xd09CeDV6bHNPQ3d2VC8vM2YvMG5LREIreVQ0KzU0NDQ3TkdUSUVDMWV2RmozM252dkRZY2cyZVZWVlIzQVgxK1JJa1UwZE9oUStmbjVTWkk2ZCs2YzY3OHZqejc2cU1MRHc2M3RMbDI2V01XRm4zLytlWS9uZGUvZTNlMW5STE5temRTeVpVczFhOWJNK3ZjL01qSlNaY3FVeWZIdjgvRGh3Njk3aEZhblRwMXkvQ3dKQ2dyU004ODhrMnNmcGN4L2Y2OVZBNmQ0OGVMcTNMbnpkZlVsdS9UMGRCMDZkTWpham9pSTBMeDU4elI3OW15TkhEblNlcCtCZ1lGNjVKRkhySFpseTViVnlKRWo1ZXZycTVkZWVrbk5temZYVTA4OTVmRWVqUm8xMHZ6NTh6Vng0a1FOSFRwVVM1Y3VWWThlUFR5dTVQSFVVMC9seTgrUndvQlBDUUJRYUdTZm45bXpaMDh0VzdaTVI0OGVWVVJFaE5xMmJhdS8vZTF2SHNNRktmTVhycDQ5ZTZwbno1NDZjT0NBMXF4Wm84MmJOK3Z3NGNNYU5HaVFOZXFnUzVjdWV1Q0JCendXcGV6Um80ZCsvdmxuZmZEQkIyclRwbzNHamgycllzV0tXY2ZEd3NJMFpjb1V6Wm8xUzhlUEg3ZEdIQlFwVWtRdFdyVFFZNDg5NW5hOTNyMTdlMXd0SXpnNFdDKzg4SUlhTjI2c3FWT25xbnIxNmxZNGNyMUdqeDZ0elpzMzYvTGx5MnJhdEtrR0R4NXNMZjk1TFE4Ly9MREtsQ21qYjcvOVZ1Zk9uWk9VT1JUMzFsdHYxZjMzMysvMTlKSGMxSzFiVjk5Kys2MThmSHprNit1cmdJQUFCUVVGcVZTcFVtclFvSUY2OWVxbDBxVkxTOHI4QmZUMTExL1gwS0ZESmYzdlc3bEtsU3BwNnRTcFNraEkwT2JObXhVWEY2ZjQrSGdsSmlZcU5UVlY2ZW5wY3JsY2NybGMxblNMckQvWmhZYUcvdTczQThCK3NiR3gxMXhoNlBmSStoblF2WHQzUlVkSGE4S0VDZGRjemFkR2pScWFOMitlaGcwYnBrY2VlVVJkdTNhMWpyVnUzVnEzM0hLTDNuNzdiZTNldlZzT2gwT2RPblhTNE1HRDNhN3g3TFBQZXJ4MitmTGxOWC8rZk0yZVBWc0xGaXpRZ0FFRDFLeFpzK3QrVDFsQnc5Q2hReFVZR0tndVhicG93SUFCWHRWcW1EWnRtcFlzV2FMOSsvZGIwelg4L1B4VXRXcFY5ZXpaODVyaGRWNmlvNlAxMm11djZZa25ubERQbmozVnAwOGY2MmR1bno1OVZMOStmVTJlUEZuOSt2WExzYnBIdDI3ZFZLbFNKV3NFU2VQR2pSVVRFNk9kTzNlcVZLbFNhdE9tamJwMDZhSXFWYXE0blhmTExiZG96Smd4R2pKa2lOYXNXYU12di94U3UzYnRVb01HRGF4UmRzaWJVZEFkQUlEQ3BsNjllaE1rWlZWTmVtN0hqaDBUQzdJL041c0sxZXRPTUl6TXoyZEU3R01hRVp2M3NQY2JGUmNYcDlUVTFCc3V3aWhsRnVFcVdyU28xOTk2T0oxT2JkdTI3WGV2T3VHdFU2ZE9LVGc0V01XTEY3L2hhK3phdFVzUkVSSFhQWExpWm5QeDRrVWRPM2JzcGk4T3VXZnZmZzBiTlVZblR2NGltZWEyakF4WHo1OFA3LzBwN3pPUmw1aVltSERETU42WDFNWTB6VE11bCt2aDNidDNyeTdvZnYyVlZLaFdkNFRobzVtUzFQL2gzbnAyN09pQzdsS0JjTGxjWG8wMDhMYmRqVHAwNkpDcVZhc213N2p4eDc2Tkd6ZXFYcjE2ZVM1ZG1kK3lhdTFJbVhXRXJ2NDU2M1E2ODJYRXdkR2pSNVdTa3FMcTFhdGYxK2QwNWNvVnBhU2txRVNKRXIrN0QvbHAydzg3TmZTSnAzVDJiTHdrYzVNck9hM0g4ZU1IYzU5bitnZGk1QU1Bb05EeTVodjh2Rnp2THgwT2grTVBDeDZrL0ZuSzdQY3V6WGF6S0Y2OCtFMGZQQUQ0YS9BMlVMQzdXRzMxNnRWLzl6VUthaGxoWDE5ZitmcjY1bm84djZZNlZLeFk4WWJPQ3dvS3luUHBiYmlqNWdNQUFBQUFBTEFWNFFNQUFBQUFBTEFWNFFNQUFBQUFBTEFWNFFNQUFBQUFBTEFWNFFNQUFBQUFBTEFWNFFNQUFBQUFBTEFWNFFNQUFBQUFBTEFWNFFNQUFBQUFBTEFWNFFNQUFBQUFBTEFWNFFNQUFBQUFBTEFWNFFNQUFBQUFBTEFWNFFNQUFBQUFBTEFWNFFNQUFBQUFBTEFWNFFNQUFBQUFBTEFWNFFNQUFBQUFBTEFWNFFNQUFBQUFBTEFWNFFNQUFBQUFBTEFWNFFNQUFBQUFBTEFWNFFNQUFBQUFBTENWbzZBN0FBQUFBT0N2NTkzM0Z1bmQ5eFlWZERjQTNDUVkrUUFBQUFBZ2Z4aG1paVJuUVhjRGdHU2F1cExxRjNqVC9QOUkrQUFBQUFBZ1g1aE9jNXNwYzE5Qjl3TW83RXpUVERUbCt1TDBrZFNMQmQyWExFeTdBQUFBQUpBdmpoL1pzME5TVEVIM0E4RE5oNUVQQUFBQUFBREFWb1FQQUFBQUFBREFWb1FQQUFBQUFBREFWb1FQQUFBQUFBREFWb1FQQUFBQUFBREFWb1FQQUFBQUFBREFWb1FQQUFBQUFBREFWb1FQQUFBQUFBREFWb1FQQUFBQUFBREFWb1FQQUFBQUFBREFWb1FQQUFBQUFBREFWb1FQQUFBQUFBREFWb1FQQUFBQUFBREFWbzZDN2dBQUFMblo4djEyU1c4VmREZUFQOVJ2djUzVnhVdVhDcm9iQUFEa0s4SUhBTUJOYSt1Mkg3UjEydzhGM1EwQUFBRDhUa3k3QUFEY1ZFelRQQ0daU1FYZEQ2Q2dtYWJwTWcyZGRCcXBESU1BQVB6cE1mSUJBSEJUU2MyNC9COS9JOGpYUjc2UkJkMFhvR0NaYVJrdTE1cFRjWEhuQ3JvbkFBRDhYb1FQQUlDYnl1a2pSODVLbWx2US9RQUFBRUQrWWRvRkFBQUFBQUN3RmVFREFBQUFBQUN3RmVFREFBQUFBQUN3RlRVZkFBQUFBT1NMVXRXcUZRMHlBaHY3eW9nbzZMNEFoWnNyTGNQcCt2N0VrWDMvTGVpZVpDRjhBQUFBQUpBdmduMkNtaG1tM2pZTXNXSVJVSkJNSTgzaDZ6TXYvUGJieDV3OWNPQ21XTUtjYVJjQUFBQUE4b1hoVWhXQ0IrQW1ZQmorOGpHaWkxdzJpeFowVjdJdzhnRUFBQUJBdnF0U3VhTHExSzVWME4wQUNwWDRjK2UxOWZ2dFNrbE5MZWl1NUVENEFBQUFBQ0RmTlczY1NNK09IVjNRM1FBS2xXMC83TlNCUXo4cTVlek5GejR3N1FJQUFBQUFBTmlLOEFFQUFBQUFBTmlLOEFFQUFBQUFBTmlLOEFFQUFBQUFBTmlLOEFFQUFBQUFBTmlLOEFFQUFBQUFBTmlLOEFFQUFBQUFBTmlLOEFFQUFBQUFBTmlLOEFFQUFBQUFBTmlLOEFFQUFBQUFBTmlLOEFFQUFBQUFBTmlLOEFFQUFBQUFBTmlLOEFFQUFBQUFBTmlLOEFFQUFBQUFBTmlLOEFFQUFBQUFBTmlLOEFFQUFBQUFBTmlLOEFFQUFBQUFBTmlLOEFFQUFBQUFBTmpLVWRBZEFBQUFBSUMva3RPblQydjE2dFhXOWlPUFBKS2pUVVpHaGo3NzdETnJ1MVdyVmlwV3JGaSs5aUVwS1VtU0ZCQVFvSExseXQzUWRTNWZ2cXpnNE9BODI4WEZ4ZW4wNmRNS0RnNVdjSEN3cWxTcElvZkR2c2ZOUzVjdTZjY2ZmOVNQUC82b3JsMjdldFZIRkN6Q0J3QUFBQURJUjhlUEg5ZXJyNzVxYlhzS0g1eE9weVpObW1SdDE2NWRPMS9EaHlsVHBtalRwazJTcEVxVkt1bWpqejY2N210czJyUkpreVpOVXA4K2ZkU25UNTlydG4zenpUZjF6VGZmU0pMS2xDbWpGU3RXZUhXUFBYdjJXQ0dKSjVVclYxYVpNbVhjOXExZXZWcGp4NDYxdGt1WExxMDJiZHA0ZFQ4VUhNSUhBQUFBQVBnTHk4aklVSHg4dkZkdGl4Y3ZMajgvUHkxWXNNQUtVRjU3N1RYZGZ2dnRxbGV2WHE3bjdkbXp4M3JkclZzMytmaDROOFAvbi8vOHB3NGVQSmpyOGZIang2dHIxNjV1K3hvM2Jpdy9QeitscDZkTGtyNzU1aHZDaHo4QndnY0FBQUFBK0oxTTA5U1ZLMWNrU1dscGFXN0hrcE9USlVuKy92NHlERU9tYWNybGNybTFjYmxjY2pxZGJ2dDhmSHk4Zm9pL2x1UEhqNnR0MjdaZXRaMDllN1lhTm15bzFxMWJhOTY4ZWJwOCtiSXlNakwwOU5OUGE4bVNKUW9ORGRXNGNlUGNwcFZrOVQvTG0yKytxYmZlZXN2ajlSY3ZYcXpLbFN0ZlYvL0hqUnVYWTNTRXY3Ky9GVDZzVzdkT0kwYU15SEhlcEVtVFZMUm8wZXU2Rit4RCtBQUFBQUFBdjlPWk0yZlVvVU1IajhlYU5tMHFTUm8xYXBUZWZmZGRuVDkvUGtlYlhyMTY1ZGpYdDI5ZkRSOCtQSDg3NnFYSXlFaU5IVHRXNDhlUGx5U2RPM2RPRXlkTzFJd1pNK1J5dVhLRUo5bVpwaW5UTkhNOWxwdnk1Y3NyT0RoWWlZbUpPbm55cExWLzgrYk51bmp4WXE3bnBhU2tXRk5Nc2t0TlRTVjh1SWtRUGdBQUFBREFUY2pPZ28zZWFOKyt2YjcrK211dFc3ZE9rdlRycjc4cUlTSEJyVTFJU0lqQ3dzS3VlWjNqeDQ5N2RiOXg0OGJwamp2dTBMcDE2L1RrazAvZVdLZHgweUo4QUFBQUFBcWhtSmlZUjEwdTE4bkxseTl2T0hMa1NHcEI5K2ZQenNmSFJ5RWhJWkl5aTBtbXBLUll4N0wyKy9uNXlkL2ZYMzUrZnBKa1RSdklPcFoxYnRib2dLeDl2MWVGQ2hYMDNudnZlZFUySUNEQWJYdnMyTEhhczJlUEhuamdBVDM2NktNNUFwRU9IVHBvekpneHVWN1A2WFNxWWNPRzE5OXBEeHdPaHhZc1dIRE5OdVBHamRQUm8wZno1WDdJWDRRUEFBQUFRT0hVeHRmWDk4R2lSWXZHeDhURUxNN0l5RmptY3JuaVVsSlN6aEJHWEwvdzhIQnQyTEJCa3JSMTYxWU5HVExFT3BhMVg1SzZkKzh1U2ZycHA1K3MxNUswZnYxNkJRWUc2b2tubnJEYSsvcjY1a3ZmZkh4OFZLUklrUnM2Tnl3c1RNdVhMMWRRVUZDKzlPVmF0bTNicG5Qbnp1bkFnUU51K3lNaUloUVVGQ1IvZjM5VnExYnRtdGNvVzdhc1ZYc2p2ejQvNUEvQ0J3QUFBS0FRTXd5amxLU2hEb2ZqTWRNMDl6c2NqbTlqWW1LK1QwOVAvM2Jmdm4xSEplVSt1UjlldTNEaGdnekQwRGZmZktQUFB2dE1kOTU1cDNVc0pDUkVnWUdCa2lURE1LejllUldiYk5teXBWSlRQZWRFMll0ZUhqMTZWRTJhTkxubXRTWk1tSkRyaWhIWENoNldMbDJxeno3NzdKclg5dGE4ZWZNODdsKzBhSkZTVWxMa2NybXM0cDI1ZWZIRkZ5VkpnWUdCK1ZLc0UvbUg4QUVBQUFDQUpQa1pobEhYTUl5NmtoNzE4L083RkJNVHMwZlNmeElURXhjZk9YTGtiRUYzOEdhWG5wNnVYMzc1SmNmU2thMWJ0OWFGQ3hjMGFOQWdMVnk0VU1uSnlkcTVjNmQxUENvcXlucDlQZUZEY25LeTI5U04zSmltNlRZTnhKUHNLMjNFeDhkcjl1elpPZG9NSGp4WTRlSGhPYzY3ZXBVT08zVHIxazJuVDUvMnV2MmlSWXZ5SENXQlB4YmhBd0FBQUZESVhiMENnV0VZUVlaaEJFbTZWOUs5eFlvVm14d1RFN05XMGp0T3AzTmZSa2JHbVFNSERpUjV1bFpodFhmdlh2WHYzOS9qYWc0WExseVFKQjA0Y01EamczcGVCUnMvL2ZSVHRXN2QrZzlidVNFcEtVbkxseS9Qc2I5Mzc5NDV3b2ZTcFV1N2hTZDV1WHI2UjFSVWxQV1pYTGh3UWZIeDhaS2tVcVZLcVVTSkVnb05EYjNlN3VNbVJmZ0FBQUNBd2lqWXg4ZW5UNzE2OVJvVmRFY0tpc3ZscXBuOVcvYnNzaDZnc3gwdmFoaEdGMG4zT1J5T28vOS9hc1lobDh1MTlmTGx5OTlSSXlLejVrTnV5MGdHQkFTb1VxVks2dDI3dDBhT0hLbXhZOGZxOE9IRDF2RnZ2dmxHZi8vNzMvWHNzODk2UEgvYXRHbWFQbjI2bm43NmFYWHExTWxqbTZaTm0rcTU1NTd6dXIvZmYvKzl4bzRkNjNYNzNMUm8wZUthQlNmek1ubnlaT3YxZ2dVTDlPcXJyMHJLWEdhMGQrL2UxckdRa0JDcmNLYzNtSEp4OHlGOEFBQUFRS0ZqR0Vhd3BJY0x1aDhGNmVyZ0lXczcrd08waHhEQzF6Q01LcEtxbUticDh2SHh1VlMwYU5GVE1URXhIenFkenZjVDAxUm9sUzVkV2c2SFEwV0xGbFY0ZUxqaTR1S3NZNXMyYmJJZWhsTlRVOTNxTVdUWnVIR2p1bmZ2N2pheXdPbDBLaTB0VGVucDZVcFBUOWY1OCtkenZiK2ZuOTkxalJLNDFvTjhTRWlJMnJkdkwwbGFzMmJOTmFkVmJObXlSZVBIai9mNnZtRmhZUm81Y3FRazZmejU4L3JnZ3c4a1NiMTY5YnJtZVI5KytLSFg5OEROaWZBQkFBQUFoWUtQajArQ3krWDZ5VEFNcC9nOU9GZGVoaEF5RE1OSFVxaWtRRWtESEE1SFMvOE0xNTUwMC9Ob2lyODZIeDhmclZxMVNtRmhZVGxXdThqK0xmenMyYk4xL1BoeGF6czRPRmlYTDErV2xMbFNROW15WlhYa3lCRkptZE1menB3NVk3VXRWYXFVM1cvRHVzK2tTWk1rWllZaVNVbTV6N0Q1K2VlZjlmUFBQM3Q5N2JKbHk3cUZEKys4ODQ0a3FXM2J0bTd0VWxKU2xKaVlxSUNBQUd2YXl2VUtEZzYrcnRFU3NCZi82QUlBQUtCUStPR0hIOUpyMTY3OXFwK2YzMUZKOXE4YmVKTXpUZk1Cd3pCcWVkaWZvNjJuNlJtbWFSNDFET05ibDh1MTNlVnliWFE2blhGcEdmNERqRUk4MmoycmRzT2xTNWM4SGwrMGFKSGVmLzk5YXpzaUlrSUxGeTdVdkhuejlORkhIK25aWjUvVmloVXJyT05MbHk3VmQ5OTlaMjJYTDE4KzEzdnYyTEZEZ3dZTjhycXZ1Zlh4WmpGcjFpek5talZMTDc3NG9wNTU1cGtidWthdlhyMzA1Sk5QNW5QUGNLTUlId0FBQUZCbzdOMjc5NUNrUXdYZGo1dEJURXhNRFVsVytPQmw2SkJpbXVacWw4dTFNQ01qNDRmMDlQUXpQLzc0WTVJa1U1SXFWS3RyWTQ5dmJ1bnA2WXFOalpVay9mampqOWIrckNVMFAvdnNNNzM4OHN2V2ZzTXc5UHp6enlzME5GUlBQdm1rdW5mdnJxaW9LTjErKysxV204VEVSQ1VtSmxyWHVkYnFEUWtKQ2RxeFkwZSt2aWR2M0gvLy9kWklodHhzM0xqeGhnTUUvSFVRUGdBQUFBRHdPTHBCVXFKcG12R1M5cGltdVNJcEtXazVTMjU2NXVmbko4TXd0SDM3ZHJmOVZhdFdsWlJaRURJeU1sS25UcDJTSkQzNTVKT3FYNysrMVM1cnhZam16WnVyYk5teU9ubnlwTnQxT25mdUxIOS9menZmd2cxeE9CdzVWckM0Mm8zME96UTBWQ0VoSVNwU3BJZ2lJaUp5SEU5SVNMQ1dEdzBNRFBSWTc2SllzV0xYZlYvWWgvQUJBQUFBS09TdURoNU0wOXd0YVp1a2I1eE81N2E5ZS9jZWtaUjcxVUZJa3FLam85M0NoOUtsUzJ2MDZOR1NwQklsU3VpMTExNVQvLzc5TldMRUNIWHQydFhqTlFJREEvWGVlKzlwM3J4NTJyRmpoeTVldktobXpacHArUERoT2RyT25EbFRMcGZyZC9jN0pTVkYwZEhSTjNUdXRtM2I5UHp6ejErejBXQnNSQUFBSUFCSlJFRlV6YSsvL25yZDF4MHdZSUMxMnNYZGQ5K3RPWFBtNks2NzdsTGR1cG1qYTBhUEhxMjFhOWRLa3U2NTV4NU5talJKMzMzM25SWXRXcVJ4NDhicGxsdHV1ZTU3d2w2RUR3QUFBQUJrbXVZWjB6UlhHb2F4S0RVMU5TNGhJU0grMUtsVHlRWGRyeitUN3QyN3EySERodnIrKysvVm9FRUQzWEhISFc3QlRzV0tGZlhwcDUrcVJJa1NidWNsSnlkci8vNzlhdENnZ2FUTWIrd0hEQmlnc0xBd25UeDUwZ293c291UGo5ZXNXYlBVdFd0WGRlalF3WnJlY2Y3OGVXM1pza1UxYTlhMFJsT2twS1JvNjlhdFdyOSt2WHIwNktFYU5XcEl5cHdlc25qeFlxMVpzMGFMRmkyNm9mZDg5T2hSSFQxNjlJYk85ZGE4ZWZNMGQrNWN6WjA3VjAyYk50WE1tVE56dEprMmJacVdMRmtpU1hycHBaZjB5aXV2Mk5vblhEL0NCd0FBQUtBUU1rM3prcVE0U1Z1ZFR1Y0hlL2Z1L2J5ZysvUm5WN3AwYVFVRUJHakVpQkY2NTUxM2RQZmRkeXMyTmxaUlVWRmF1WEtsdG16Wm91Ky8vMTcvK3RlL1ZLbFNKYVdrcEdqOCtQSDY5dHR2NVhRNnRYTGxTcFV1WFZvclY2N1U1TW1UbFpxYUtpbHp5a1h0MnJYZDd2WCsrKy9yd0lFRE9uRGdnR2JObXFYbHk1ZHIyclJwV3JWcWxTU3BkKy9lR2pWcWxDU3BSNDhlK3VXWFh5UmxCaEZUcGt5UjArblU4T0hERlI4ZkwwbWFPM2V1WG5qaEJiZDduRDU5MnVxREpGMjVjc1dlRCs0YXZ2MzJXODJaTThmYXptM0V5UDMzMzYrUFB2cElwbWxxdzRZTjJycDFxeG8yYlBoSGRSTmVJSHdBQUFBQUNpSFROTitVOU9LdVhidU9GWFJmL2tvKy9QQkRxeGJCcGsyYk5IejRjRGtjRHIzNTVwczZkKzZjSk9uenp6OVhiR3lzQWdNRGRmcjBhYVdscFVuS0xFbzVjT0JBMWFwVnk5b25aYTc4OE5aYmIxbmJseTVkMGllZmZHSnROMnpZVUNFaElhcGN1YksxYi9YcTFSbzVjcVI4Zkh6VXFsVXJMVml3UUpMMDlkZGY2L1RwMDRxSWlOREREeitzR1RObVNKSysrT0lMRFJvMHlGcFI0OWl4WXhvOGVMRFMwOU90YTA2ZVBGbHo1c3pSVTA4OXBXSERodDNRNStOd2VINEUzYnQzcitMaTRxenRCUXNXYU42OGVicDQ4YUsxcjJ2WHJtcmV2TG5IODZ0V3JhcE9uVHJwczg4K2s1UTVKV1hSb2tXNTFUSkJBU2pFQytFQUFBQUFoZGZ1M2J0M0VqemtyNFNFQkMxY3VORGFidFdxbFNwVnFtUUZBRm0rK09JTDYzWG56cDJ0MTh1WEw1ZHBtb3FLaWxMcjFxMnQvZHUyYmRPQkF3ZXM3Zm56NXlzNStYOHpZZ1lNR0NCSmJ1ZkV4OGRiOVNlNmRPbGk3Yy9JeUxDQ2kyN2R1cWw0OGVLU0pKZkxwZmZlZTArUzlOdHZ2K24vL3UvL2RPYk1HYmYzZC9qd1lYWHYzbDFmZi8yMUFnTURGUmtaZWQxL1NwY3ViZDF2eElnUjFyVW5UWnFrenovLzMrQ2JzMmZQNnVMRmkxWlljZHR0dDFrak9kTFQwM1g2OU9rY24vK2dRWVBrNitzclNZcUxpOU9YWDM2Wm93MEtEdUVEQUFBQUFPU0RlZlBtS1NrcHlkb2VPSENnOVRwN01IRHExQ250MmJOSGt0UzJiVnZyQWZ2VXFWUDY0WWNmSkVuOSt2Vnp1M1pXTUhEbXpCa3RYcnpZMnQrbVRSdHJ4RVBac21XdDFUVWthYzJhTlpLa0NoVXF1RTNiV0xac21aeE9wNEtDZ3RTOWUzZHIvNG9WSzNUaHdnVUZCd2U3dlkvS2xTc3JKQ1JFa25UdTNEbE5tVEpGOTk1N3I1bzNiNjR1WGJyb2dRY2VVTStlUGRXblR4LzE3ZHRYanp6eWlQcjA2YU5ldlhxcFI0OGU2dHExcXpwMTZxUjI3ZHFwWmN1V3V2dnV1N1ZpeFlvOFA4K3M0cHMxYTliVVN5KzlwTldyVjZ0Ky9mcHEzTGl4V3hpVEZUaEVSa2FxWThlT2tqTERpcElsUytaNUQveHhtSFlCQUFBQUFML1QyYk5uOWRGSEgxbmI3ZHUzZHdzQzZ0YXRxMkxGaXVuU3BVdVNNbXNaUkVkSHEzang0bXJRb0lFMmI5NnNxS2dvcTY1QzllclZWYmR1WGUzYXRVdVN0SGJ0V2lVa0pHaisvUGxXSFFaZlgxOE5HVExFclI4dFdyVFE0Y09ISmNsdDVZMHVYYnBvNzk2OUNnb0tVcDA2ZFhUdTNEbVZLVk5HRHo3NG9CWXNXS0MwdERTbHBhVnA1Y3FWNnRPbmo1bzNiNjdWcTFmcmxsdHUwWnR2dnFuejU4OXJ6Smd4T243OHVIWE5wS1FrdDVEQ1cwRkJRV3JkdXJWV3JGaGhqV0FvVmFxVUtsYXNxSW9WSzZwQ2hRb3FYNzY4b3FLaUZCa1phVTBaeVpvQ2N2VUtIMW1GTmFYTVVTQk5temJWUGZmY3c1U0xtd3poQXdBQUFBRDhUdUhoNFpvOWU3WmVmLzExSFR4NFVJTUhEM1k3N3V2cnEwY2ZmVlMrdnI1cTBxU0oyd1B6WTQ4OXBzY2ZmMXkxYXRWeU82ZG56NTQ2ZGVxVU9uZnVySzVkdXlvME5GUkRoZ3hSU0VpSUZpNWNxSTRkTzZwY3VYSnU1N1JyMTA1RmloVFJIWGZjb2VyVnExdjcyN1p0cXpKbHl1aU9PKzZRdjcrL3RiOWt5WkxxMHFXTHpwNDlxd2NlZUVCMzNYV1hKS2xEaHc3YXNtV0wzbmpqRFlXRmhTa3NMRXdmZmZTUjFxeFpvdzBiTmlndUxrNEpDUWx5T3AxdWY3eVIxY2ZISDM5Y1BqNCtxbHk1c29vV0xacm5lUlVxVkZEUm9rVjErZkpsK2Z2N0t6UTBWSGZlZWFjZWZQQkJxMDNac21WVnRteFpyL3FCUHhaUkVBRDh3ZXJWcXpkQjBuUC9mL081SFR0MlRDekkvZ0FBa0Y4cVZLczd3dkRSVEVucS8zQnZQVHMyNXhLUmhjRi8vL3RmdCtLUE44cmxjc2swVFd0YVFYYm56NStYajQrUFFrTkRmL2Q5UEhFNm5UcDA2RkNPUU1TYjgxd3VsOXVmakl3TXQrMmlSWXRhUzRNaWYyMzdZYWVHUHZHVXpwNk5sMlJ1Y2lXbjlUaCsvT0N2QmQwdmlaRVBBQUFBQUpDdjhpTjRrQ1Fmbjl4TDlObGR6OERoY0Z4MzhKQjFIdUFKQlNjQkFBQUFBSUN0Q0I4QUFBQUFBSUN0Q0I4QUFBQUFBSUN0Q0I4QUFBQUFBSUN0Q0I4QUFBQUFBSUN0Q0I4QUFBQUFBSUN0Q0I4QUFBQUFBSUN0Q0I4QUFBQUFBSUN0Q0I4QUFBQUFBSUN0Q0I4QUFBQUFBSUN0Q0I4QUFBQUFBSUN0Q0I4QUFBQUFBSUN0Q0I4QUFBQUFBSUN0Q0I4QUFBQUFBSUN0Q0I4QUFBQUFBSUN0Q0I4QUFBQUFBSUN0Q0I4QUFBQUFBSUN0Q0I4QUFBQUFBSUN0Q0I4QUFBQUFBSUN0SEFYZEFRQUFBQUIvUFFzWGY2U1BsMzFXME4wQUNwV01qQXhkdVpKUzBOM3dpUEFCQUFBQVFMNHdmWlF1MDNRWmh1R1RscDZ1dFBUMGd1NFNVR2lacHRLditQaTZDcm9mV1poMkFRQUFBQ0JmdURKY2V5VWRLZWgrQUlXZEtUTlpjbTMwVDArNFZOQjl5Y0xJQndBQUFBRDU0a1RjbnMwVkt0emVYRUVCQVFYZEY2QXdTMHR6dWpLU2ZNNy85dHZKS3dYZGx5eUVEd0FBQUFEeWkvUFlzUU9uQzdvVEFHNCtUTHN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bndBQUFBQUFBQzJjaFIwQndBQUFBRDhOWlNxVnExb2tCSFkyRmRHUkVIM0JTamNYR2taVHRmM0o0N3MrMjlCOXlRTDRRTUFBQUNBZkJIc0U5VE1NUFcyWVNpeW9Qc0NGR3Fta2Vidzlaa1hmdnZ0WTg0ZU9KQlUwTjJSbUhZQkFBQUFJSjhZTGxVaGVBQnVBb2JoTHg4anVzaGxzMmhCZHlVTEl4OEFBQUFBNUxzcWxTdXFUdTFhQmQwTm9GQ0pQM2RlVzcvZnJwVFUxSUx1U2c2RUR3QUFBQUR5WGRQR2pmVHMyTkVGM1EyZ1VObjJ3MDRkT1BTalVzN2VmT0VEMHk0QUFBQUFBSUN0Q0I4QUFBQUFBSUN0Q0I4QUFBQUFBSUN0Q0I4QUFBQUFBSUN0Q0I4QUFBQUFBSUN0Q0I4QUFBQUFBSUN0Q0I4QUFBQUFBSUN0Q0I4QUFBQUFBSUN0Q0I4QUFBQUFBSUN0Q0I4QUFBQUFBSUN0Q0I4QUFBQUFBSUN0Q0I4QUFBQUFBSUN0Q0I4QUFBQUFBSUN0Q0I4QUFBQUFBSUN0Q0I4QUFBQUFBSUN0Q0I4QUFBQUFBSUN0Q0I4QUFBQUFBSUN0Q0I4QUFBQUFBSUN0SEFYZEFRQUFBQUM0R1NRbEplbTMzMzdUbVRObmRQYnNXZDE2NjYycVg3Kys3ZmMxVFZOcGFXbld0cSt2cnh3Tzd4N1ZUTk9VWVJoMmRVMlM5TzIzMzZweTVjcUtpSWpJcysyQ0JRdDA3Tmd4U1pudlk5eTRjZGQxcjcxNzk2cDgrZklxWHJ5NDIvNTkrL2JwMHFWTGtxVEl5RWhWcUZEQk9wYVNrcUxBd01EcnVzK1ZLMWQwNWNvVmxTeFpNc2V4RXlkT0tEVTFWWkxrY0RqYzdvVWJSL2dBQUFBQUFKSm16WnFsSlV1V1dOczFhdFRRKysrL2IvdDkzMy8vZmMyY09kUGFuakpsaXRxMGFYUE5jeElTRWpSdDJqU1ZLbFZLbzBhTnluSDg5T25UU2s5UDkrcitFUkVSOHZQenk3SC8yTEZqbWo1OXVqWnYzcXlZbUJpOS9mYmI4dkc1OXVENWpSczNhc2VPSFpJa0h4K2Y2d29mVWxKU05HVElFS1drcEtoV3JWcTYvLzc3MWFsVEowblN6Smt6dFhQblRrbFM3OTY5cmZkODRzUUo5ZS9mWDIzYnRsVnNiS3lLRkNuaTFiMldMVnVtbDE5K1dmWHExVlByMXEzVnRtMWJLL0I0NG9rbjlOTlBQMG1TU3BZc3FUVnIxbmo5SHBBN3dnY0FBQUFBa05TdFd6ZTM4T0hnd1lNNmZmcTBWOS80UzlLOTk5NnI1T1RrWEkrM2FkTkdFeVpNY050Mzl1eFp2ZjMyMjI3N3RtL2ZmczN3WWV2V3JSbzNicHd1WExnZ1NhcGV2Ym82ZHV6bzFtYklrQ0U2ZnZ5NFYvMWV0R2lScWxXcmxtUC8zTGx6dFhuelprblN6cDA3OWM0Nzcyamd3SUZlWGZOR3JGdTN6dnI4OXV6Wm8zdnZ2ZGM2bHBHUlliM09Da0FTRWhJMGJOZ3dYYmh3UVlzWEw5YjY5ZXYxNG9zdnFrNmRPbm5lNjVOUFBwRnBtdnJoaHgrMGE5Y3VOVzNhTk1kb0MrUXZ3Z2NBQUFBQWYzbk5temUvb2ZPNmRldVc1eFNJVHovOVZDVkxsbFJ5Y3JKU1VsSnliWGYxdC9LbWFlcjU1NS9QRVZoODhza25pb21KVWZ2MjdUMWVKekl5MG0xVXc2UkprMVM1Y21WVnIxN2QycGY5WWYxR2pSdzVVcHMyYlZKU1VwSWs2ZTIzMzliZGQ5L3RkcC84dEhMbFN1dTF3K0ZRaHc0ZHJHM1ROSzNYV2VHRFlSZ3FXN2FzVHB3NElTbHp0TWVnUVlNMGJOZ3dQZnp3dzduZVo4ZU9IVHA2OUtpMTNhcFZLOTF5eXkzNTlqN2dHUVVuQVFBQUFQemxKU1VsZWZYbmFpa3BLWG1lNDNLNXZPcERpUklsM0xiLzlhOS82YnZ2dnJPMlEwTkRyZGZQUC8rOHRtL2Y3dkU2NWNxVjB6Lys4UTlyT3kwdFRhTkhqMVppWXFLMUx6NCszbm9kR0Jpb2tpVkxXbis4L1lhL1ZLbFNpbzJOdGJZek1qSTBZY0lFcjZkelhJOWp4NDVab3l3a3FWbXpabTZmUi9Zd3hkZlhWNUpVdkhoeHZmYmFhMjZqTVRJeU10enFaM2p5emp2dnVHMC84c2dqMTkzWFo1NTVSZ2tKQ2RkMVhtRkgrQUFBQUFBVVFwR1JrZDVOam9mWFZxMWFwZm56NTJ2Ky9QbGF2SGl4Tm03Y3FHN2R1bG5IczRjUHExZXYxbHR2dldWdDE2dFhUeDkrK0tGS2x5NHRLVE5RR0RseXBQYnMyZVB4WHExYXRkSjk5OTFuYmNmSHgydlhybDJTcEFNSERyaU53SGowMFVlMVpzMGE2OC9WMHp5eWp5cTRXcmR1M1ZTNWNtVnJ1M3o1OHJweTVjbzFQNGNic1hEaFFyZnRYcjE2dVcxN0d2bVE5WHJ3NE1HYU1XT0dnb09EMWFGREJ3MFlNQ0RYKyt6ZHV6ZEh5RkdqUmcydiszbjY5R2tOR1RKRVgzNzVwUjU2NkNIdDNidlg2M01MTzZaZEFBQUFBSVZRNmRLbHg1VXBVNmFNeStYNmFQZnUzVjlMY2haMG4vNG9qejMybVByMDZTT1h5NldrcENRVksxWXNSeHVYeTJVOThCcUc0ZmJBdTNyMWFyM3d3Z3M1empsKy9MajY5Kzh2U1dyU3BJbGVlKzAxdDlFSVdkL2tyMSsvWHVQSGo3ZXVIeG9hcWttVEpxbFVxVkthUG4yNkJnMGFwTlRVVkNVbkordXh4eDdUQ3krOG9OYXRXK2U0MytqUm83Vmx5eGJkY3NzdGV1NjU1NnhWR2E1K2tNOXJ0WVp2dnZsR29hR2g4dlgxbForZm45dUlBMTlmWHozeHhCTjY0WVVYOVBUVFQ2dHAwNmJYdk5hTk9IZnVuRmFzV0dGdDE2eFpVL1hxMVhOcjQ2bm1RM2JObWpYVHdvVUxWYVpNbVd2ZTY4MDMzM1RiSGp4NHNOZjlURWhJVUd4c3JINzc3VGRKbVVIRXdJRUR0V1RKRWtWRlJYbDluY0tLOEFFQUFBQW9oQXpEcUd3WXhvTyt2cjREWW1KaWZqRU00OTh1bDJ0K2ZIejh5Wk1uVDZaSit2MUZBMjVTZm41K0tsS2tpSllzV2FMWFhudE5YYnAwVWUvZXZYWHJyYmRhYlRwMzdxeGZmdmxGa3RTMWExZU5Iei9lT3VidjcrL3h1dWZPbmJOZVp6MEVaeFdGbERKSFBpeFpza1RUcDArM0hxYjkvZjAxWThZTXEzM05talUxWmNvVVBmbmtrM0s1WEVwTFM5T1lNV1Awd0FNUGFQanc0UW9PRHJhdUZ4SVNvcmZmZmx0bHk1YTFwaUlzWDc1Y1gzenhoVnViSmsyYXVQVXpJQ0RBYlh2T25EbWFNMmVPSkduQWdBRWFNbVNJMi9HNzdycExTNWN1elhGZWZwazllN2JiVkltK2ZmdXFlZlBtY2pyL2w0ZGxMWDBwU2UrKys2N2VlKys5UEs4N2V2Um8vZTF2ZjdPMjE2NWRxNjFidDFyYnRXdlgxbTIzM2VaVkg4K2NPYU1oUTRaWXk0aG1HVHg0TU1HRGx3Z2ZBQUFBZ0VMT01JeGJKVDFqR01iZnc4UER2dzhQRDE5bm11WjJsOHQxY00rZVBVZnp2TUNmMExsejV6UnIxaXhkdVhKRml4Y3YxcElsUzlTdVhUc05IRGhRVVZGUmJnL0RRVUZCWGwwemU1MkY4UEJ3U1hLckM3Qng0MFl0V0xEQTdaeHExYXBwOCtiTmJsTUJKS2xLbFNxS2k0dXp0ai8rK0dOVnFGQWh4M1NFN0ErK2UvZnUxZlBQUCs5MmZNQ0FBUW9NREhUYmQ4c3R0Nmg0OGVLNmVQRmlqdmRRdTNadGorOHRlL0NRbEpTa2tTTkhlbXlYdmM4dWwwdURCZzN5Mkc3QWdBRzY2NjY3ZFBqd1lYMzIyV2R1eDJyVXFLSGs1T1JjYTJrNG5VNjNZQ0kzMmR0Y3VYSkYwNmRQZHp2dWFYbFJUNDRmUDY0aFE0Ym85T25UT2Q1RHYzNzl2TG9HQ0I4QUFBQUEvSCtHWVJTUjFNSTB6ZWFHWVZ6dzlmWDlxVzdkdWp0TjAvejg3Tm16WDU0NmRTcjNkU1J2Y24zNzlyVmVSMGRIeThmSFI1MDZkZExTcFV1Vm1wb3FsOHVsVmF0VzZmUFBQOWVpUll2Y3ZtbS9PbnlvWExteTIvV3lWckhJSGo1NEd2blFzV05ITFZteXhLMGV3OTY5ZTcycUcxQ3VYRGs5OE1BRGV1cXBwOXp1STJVV1hwd3hZNFpxMTY2dFljT0c2ZlhYWDVjazNYbm5uZXJUcDArT2F6a2NEazJiTmswelo4N1VzV1BIbEo2ZUxsOWZYL242K3FwYXRXcmF1bldybm5qaWlSem5kZXZXVFU4ODhZU2NUcWQyN05pUlo1OGw1ZHF1YTlldWNqcWRtalJwa3RjRk8zK1BXYk5tV2RNbHJrZHljckllZmZUUkhNVWxIMy84OFZ5REZYaEcrQUFBQUFCQXBtbktNQXhKa3BINW9xU2trb1poM0NGcFVPblNwUk1qSWlMZWNUcWRiKzdacytmSGd1enJqUmcrZkxqMSt1REJnNW82ZGFvR0RoeW9mdjM2NlYvLytwZVdMbDBxcDlPcEZpMWE2TGJiYm5OYithSm8wYUp1MTZwV3JacXFWYXVXNHg3WnAxMWtGWTdNZW1nMURFT1ZLbFZTang0OTlNRUhINmh2Mzc2YU4yOWVudjN1M2J1MzFxNWRxeUZEaHNqUHowLzc5Ky9QOFExOHlaSWxyZGY5K3ZWVGVucTZkdXpZb1JrelpuaXNqeUJKRFJvMHlGRWJJc3VSSTBjOExobWEzNnRjekprelIvdjI3Zk40Yk1hTUdXNUZKcDkrK21tclQrM2J0MWRnWUtBKy9mUlRTWmxUU3laTm1wVGpHbFdyVnBXVU9lTGtndzgrdUtFK3BxU2s1UGdzUm8wYXBkNjllOS9ROVFvendnY0FBQUFVR3JWcjF5N2g2K3RieCtWeUJlYmQraTh2SXV0RlZ2RGdhZFdEckVEQ3g4ZW5xS1FSRG9kalJFeE16RUZKYTB6VDNPUjBPdmZ0MjdmdnNQNGtCU3VkVHFjbVRweW93NGNQNjZ1dnZsTExsaTBWR3h1cmh4NTZTSFBtek5Hd1ljTnlMSi9wcVNDbEo5bEhKSlF1WFZxSmlZblcwUC9peFl2THg4ZkhxbWRRb1VJRnI1YThiTnEwcVI1NzdERzNXZy9YTW1iTUdHM1lzRUdtYWFwRml4WmVuU05sanViSUxZeTRtcisvdjdwMDZlTHgyS1pObTl4Q21OemFsU3RYVHUrKysyNnU5N2o3N3J1dDEwbEpTVzRCUU0yYU5kMytXL1gzOTgrMUVHWjhmTHllZSs2NVhPOXpQZno5L1hNdC9vbThFVDRBQUFDZ3NERDgvUHlHbUtZNXhOZlgxM1BGd0VMRU5NMmlXY0ZDbHF6dDdBOTIyVjluR3hsUlExSU53ekQ2Ky9uNUhhMVhyOTZoakl5TS95UmNjUVViOHZ4Tis4MWkvLzc5T25ueXBMVzlkdTFhclYrL1hwMDZkZEtvVWFNVUdocWFvNmhnOXBFRjE1TDlvVHRyMVlzc0NRa0phdDY4dWFaT25hcEdqUnBKa3ZYdCtjbVRKN1ZqeHc0ZFBueFlvMGFOc3M2NWVQRmlqb0Rpb1ljZVVtSmlvbmJ2M3UxV1BERkxlbnI2RFkxUXlGN2o0dmJiYjdlbWJyeisrdXR1ZFJ5a3pHa20vL2pIUHp4ZVo5Q2dRZGJuNE9QamsyczdLYk8ydzA4Ly9aUm4zN0wvZlVtWlFjN1YweUJ5Yy9ueVphL2JTdEtlUFh0eVRHdVJwTEN3TUUyZlBsM1IwZEZlWHd2dUNCOEFBQUJRS054MjIyMWhwbW5lYlJoR1pFSDM1V2FYUFpUd05Cb2ltNktHWVVSTGl2THg4VG5xcTR5VWE3YStDZFNwVTBmLytjOS85TTQ3NzJqSmtpVnlPcDF5dVZ6YXRXdVhWZHZoNm1rTldjVWo4NUw5b2ZYeTVjczVqaWNsSmNuaGNDZ3BLVW1yVjY5VzVjcVZWYWRPSGMyZVBWdGZmdm1sSktsWHIxNktqSXlVMCtsVXUzYnRGQmtacVR2dnZGT1BQZmFZUWtORHJjQml3WUlGSHNPSEc1WDk3encwTkZTTkd6ZTI3bU9YbWpWcmF1WEtsYXBhdGFvT0h6NmNhN3VydzRkYmI3M1Y2MEFoS2lwS1lXRmhPbmZ1bktwV3Jhcms1R1JyRlpQc2twS1M5TVliYitqamp6L084ZDk4N2RxMTlkSkxMM245M3dFOEkzd0FBQUJBb1JBY0hHd1lodUVqU2FacHBobUdFU2ZKKzY5RS8zcXFTWEo3bXJyV3RJdXIybDAwRE9PRXkrWDZ6alROLzF5OGVQR3JZOGVPcFZTb1ZuZEV6dFkzbnhJbFNtalVxRkhxMGFPSFhuNzVaVzNhdEVrVEowNjBWblM0ZXVSRDJiSmx2YnJ1K2ZQbjgyeHo1c3daalJneFFxbXBxYnIzM250VnAwNGRSVWRIVytIRG5qMTdGQmtacWJpNE9LV2xwZW5Zc1dQNjlkZGZjMTFkNG1yang0OVhiR3lzWnMrZXJjMmJOK3UxMTE1VFpHVE92TzJycjc3U3E2KythbTIzYk5uU3Erdm5wOXR2djEzVnFsWFR5SkVqOWZqamorZmE3b2NmZm5EYmpvcUswdjc5KzcyK1Q2MWF0YlJyMXk2OThzb3JHakZpaE51eGpJd01MVnUyVEcrOTlaYkh2NzlpeFlwcDd0eTVYcStNZ2R3UlBnQUFBS0F3dXBTUmtURXBQVDE5UTBGM3BLRDQrL3UvWlJpR05TSC82dURCUStpUVlwcm1Sa2xyTXpJeTlqdWR6cDhPSERnUUp5bC9xeERhWU1tU0pWcTZkR211eDRzV0xhckpreWRiMjltblQwalN3SUVEcjNuOXUrNjZTMy8vKzkrMWJ0MDZqOGVIRFJ1bVhidDJTY29zZ2xpaVJBbWRQbjFhR3pac1VGSlNrdXJVcVdPMTNiMTd0OXExYStkV2lERW1Ka2IrL3Q3TkZBb0lDTkNvVWFOMDRzUUpTZEwwNmRNMWYvNTh0K1UyNCtQak5YLytmR3M3TWpJeXh6U1JQOEp0dDkybTZkT241L2k4c3pOTlUrdlhyN2UySXlNakZSb2FlbDMzcVZXcmxucjI3SmtqaEVsUFQ5ZEREejEwelZFWERvY2pSL0J3NGNJRmJkdTJUWTBiTjFaSVNNaDE5YVV3STN3QUFBQkFZZVNTZE9IQWdRT244Mno1RnhVVEUyTlY4UE0wdWlHYm4wM1RmUFBpeFl0di92VFRUeGZ0NzFuK08zdjI3RFVmTUNYcDBxVkx1UjdMNjl4eTVjcEp5cXlGNEhLNWRQNzhlWjA2ZFVxblRwMVN6Wm8xM1dvd0JBVUZxWFhyMW5yLy9mZVZscGFtcjc3NlN2ZmRkNThDQWdLVW1wcHFMYnVaUFh4bzJMQmhudTlSa2w1OTlWVzFiTmxTblRwMTB1elpzNjIranhrelJ0T21UVk5nWUtDdVhMbWlwNTkrV2hjdi91K3Y4cW1ubnJKR2ZYanI4T0hES2xteXBNTEN3cTdydk93Q0FnSVVHUmw1emZCaC8vNzlPblBtakxWZHIxNjlhMTV6Nzk2OU9ubnlwRnEzYm0yRkJuMzY5UEVZM3ZqNSthbEZpeFo1L3YxZTdlVEpreG83ZHF3Y0RvZHExNjZ0Qng5OFVQZmVlKzkxWGFNd3VybXJ3UUFBQUFENHc1aW1tVzZhNWpGSmExMHUxeitkVG1lekhUdDJSTzNjdVhQcW56VjQrS044L2ZYWDZ0aXhveG8xYXFTMmJkdXFmLy8rR2pkdW5BNGVQS2dyVjY1WTdZS0NndFNtVFJ0cmU4MmFOWEk0SEtwVXFaSWtLUzR1VGlrcEtkcTllN2ZWNXE2NzdzcnovblBuenRXQ0JRdjA4ODgvcTMvLy9tclFvSUYxYk5PbVRYcjg4Y2QxOHVSSnhjYkdhdWZPbmRheHJsMjc1cnBTaENkT3AxTno1ODVWbno1OWRQejRjYS9QdTFHTEZpMXkyODVyQlk5OSsvWnAvUGp4YXRldW5iVjZ4N1ZHamZUdDI5Y0tOQ0lpSWpSOStuVHI3eUkzV2ZVbW5FNm5kdTdjcVlNSEQrYjVQc0RJQndBQUFLRFFNMDN6Z21FWTZ5V3RsclE3T1RrNTd0Q2hRN2wvSGYwbjA2bFRKOFhFeE9UWjd1TEZpNW82ZGFxU2twS3NmYU5IajFiNTh1V3ZlVjVZV0pqT25EbVRvMUNsbFBtQW1uMlp5Q0pGaXFobXpab0tEdy9YMmJObnRXM2JObDI4ZUZGVnExYlZ3WU1IbFpHUm9WV3JWbGxGRmt1WExxM2JicnZ0bXZlL2NPR0MzbnJyTFVuU3dZTUgxYkZqUjAyYk5rMlBQZmFZOWEzKzNyMTcxYlZyVjdjbFJCczJiS2lubjM0NmowL2xmNDRjT2FMZXZYdnJ2Ly85cjZUTUVTVjIyck5uajFVTFE1SkNRa0xVcEVtVGE1NlROVW9pSVNGQk8zZnUxRU1QUFhUTjlvWmhhTUtFQ1ZxMmJKa0dEQmlnb0tBZ2E5UklicTUrMzk3V0JDbnNDQjhBQUFDQVFzcmxjdTB6REdQMmxTdFhsamlkenFRalI0NmtTYnJaRjZ5NGJ1WExsODh6UU5pOGViTm16WnJsRmp4SW1UVVQ2dGV2cjdadDI2cFZxMVk1bHI3TTR1dnI2N1pkckZneFJVVkZxVXpFbk4xN0FBQWdBRWxFUVZTWk10WTFEY093VnRSbzBxU0psaTFicG95TURHM1lzRUVOR3phVXcrRlEvZnIxOWZQUFAxdlhhZGFzV1o3dkwzdTlqcXlWSElvWEw2N1pzMmRyNE1DQjFnaUY3TUZEaFFvVjlNOS8vbE1PaC9lUGhEdDI3SERiOXJScVJINUpUMC9YUC8vNVQ3ZDkzYnQzejdQMnhhKy8vbXE5enBvT2s1ZXlaY3RxNk5DaHVmYmphbGNYSk0zcnZ5MWtJbndBQUFBQUNxSEV4TVJoUjQ0Y3NmZXI2NXRjWW1LaTFxOWZyMDgrK2NTcXRYQTEwelMxZmZ0MmJkKytYZE9tVFZPalJvM1VwazBidFdqUlFrV0tGTEhhbFMxYlZzOCsrNnlpb3FKVXNXSkZxeWhpUmthR0ZUNkVoSVJZOVRYdXZ2dHViZGl3UWUzYnQxZDBkTFFxVktpZ2R1M2FTY29zVUptbGVmUG1IdnZsYWFuSm1qVnJhc0tFQ1pJeTZ4SXNXYklrMTNvS3g0OGYxNWd4WTlTbFN4ZTFhTkVpMTRkNlQwdUdTcG5MVDlxMVFvYkw1YkttckdRcFVxU0l0Y3lvNUY2bkpERXhVUWtKQ1NwU3BJamJPUlVxVkxpaCsyY1BraElURTdWMzcxN1ZybDFiVW1adGtBMGIzT3ZVVnF4WThZYnVVOWdRUGdBQUFBQ0ZVR0VMSGt6VDFLKy8vcXE0dURqdDM3OWZPM2JzMEw1OSsrUjBPbk8wdmV1dXU5U2pSdzk5L3ZubldyOSt2Zlh0dDlQcDFNYU5HN1Z4NDBZRkJBU29XYk5tYXR1MnJabzBhYUxBd0VEOTdXOS8wNEVEQjNUNDhHRUZCd2NyS0NoSUd6WnNzRVljbENwVlNpZE9uTkJ2di8ybW9LQWdUWjQ4V2I2K3ZvcVBqMWQ4Zkx6Vno2d1JCajQrUGpJTVE5dTNiNWRoR0twZnY3N1Z4ODJiTjd2MXVYNzkraG94WW9SV3JseXBUWnMyYWR1MmJSNlhUczMrZVd6WnNrVmJ0bXhSWUdDZ2F0V3FwZWpvYURWcDBrUjE2OWFWbEJsdy9QVFRUMjduQlFRRWFPalFvZXJaczZkOGZPd3BJVGhseWhSdDJiTEZiZCtRSVVOVXNtUkphenQ3b2N2MDlIUzFiZHRXa3R6K1B2T2FycEtiVXFWS3VSV2hIRFJva0NwWHJpekRNSFRzMkRHM0doNmxTcFg2WFVVM0N4UENCd0FBQUFCL2VkT25UOWZpeFl1djJTWXdNRkFEQmd4UXYzNzk1T1BqbytiTm0rdml4WXRhdFdxVmxpOWY3dlpBbXBxYXFqVnIxbWpObWpXYU5HbVMycmR2TDBuNjRvc3ZyRUtIVjZ0WXNhSSsvUEJEZmZEQkIxNzEyZVZ5V2RNQmZIeDh0RzNiTnV0WWRIUzA0dUxpSkdXR0pTMWJ0dFFqanp5UzY3WEtsQ21qaHg5K1dDdFdyTkNoUTRmY2pxV2twRmlqTzdJL3NDY25KN3ROeTZoV3Jab21UNTVzK3pmOUZTdFdkQXNmR2pSb29BY2ZmTkN0VFhSMHRQejgvTnlDb2V6S2xpMnI2dFdyMzlEOUd6VnE1QmJ1cEtlbjUvak1zblRzMlBHRzdsRVlzZG9GQUFBQWdMKzgyTmhZUlVSRWVEd1dIQnlzM3IxNzYvK3hkK2R4VWRUL0g4QmZNM3R3Q0FpSUNvZ3BLaWJlZU9iWEd4VXZ0RHhMekx3cUpVM3pUczJqVEx5dk5ESXpLODN5dmhMenlEdERUU1ZCOFJZMUZVd0U1SkJyZCtiM3h6S2YzOHdlc0NBcmxPL240OUVqZG5kbTlzUGlmdVl6NzNsLzNwOWZmdmtGdzRZTlU5elJMMXUyTEFZTUdJQk5telpoL2ZyMTZObXpwMkpaU2pjM04zVHMySkU5enUvQ3ZHZlBuc1h3bXhoODlORkg4UEh4UVpNbVRiQmt5UkwwNnRXTFRRMlFjM1YxeGFoUm83Qmp4dzRNR0RBQVAvNzRJOExDd3N4bUJUUnAwa1N4WktTM3R6YysrK3d6QU1EcnI3K083Ny8vL29WTU1RZ0pDVUZ3Y0RBQVF4Qmgvdno1SmxrV25wNmUrT1NUVDFDbVRCbVQvYXRWcTRZRkN4WVV0SVNzUlgzNzlqWDdXUm9MQ0FqQThPSERpL1FlTHlQS2ZDQ0VFRUlJSVlUODV6azZPbUxTcEVtWU1HRUNBRVBRb0hIanhnZ0tDa0tyVnEwVUFRVkw2dFNwZ3pwMTZtRGN1SEhZdTNjdnRtM2JoZzRkT2tDajBiQnRwSlVQT0k2RFdxMkd2YjA5S2xTb2dKQ1FFTFJ1M1JvSkNRbUtaVEN0WlZ6UTBzSEJBWXNXTFVLbFNwVmdiMjhQd0JCZ0dUbHlKSGllUitQR2pSRWNISXlPSFR1eTE2VjJkZTdjR1owN2QwWk1UQXoyN2R1SDQ4ZVA0OUdqUjJhTExyWnQyeFpyMXF4UlRQbDRFYVpPbllyMDlIUk1tVEtGMWM4d0Zod2NqSzVkdXlJK1BoNVpXVm5nT0E1bHk1YUZoNGZIYzcyM25aMGQxcXhaZ3oxNzl1RDA2ZE5JU2txQ1hxOEh4M0Z3ZG5aR2hRb1YwS1pORzdSczJiSlFCVHRmZGtVTEJSRkNDQ215Um8wYXpRSXdPKy9oN0FzWExueGFrdTBoaEpDWFJVQkFRSG1PNDM0RUVDU0s0aitDSUF5NmVQSGl3Wkp1MTM5SjFWY2JqdVY0TEFlQW9ZTkNNR1BxcEpKdWtvbmp4NCtqV3JWcVZxK0VVSkRzN0d5ckFoY3Z5c21USjlHd1lVTTRPenNYYXI4SER4NmdVcVZLTm1vVmVWSCtQQitGMGVNbjQvSGpSQURpNzhLem5QNTM3MTZKTDNESEY0RENOSVFRUWdnaGhKQ1hocVhWSTRxcU5BVWVBS0IxNjlaRjJvOENEOFRXcU9ZRElZUVFRZ2doaEJCQ2JJcUNENFFRUWdnaGhCQkNDTEVwQ2o0UVFnZ2hoQkJDQ0NIRXBpajRRQWdoaEJCQ0NDR0VFSnVpNEFNaGhCQkNDQ0dFRUVKc2lvSVBoQkJDQ0NHRUVFSUlzU2tLUGhCQ0NDR0VFRUlJSWNTbUtQaEFDQ0dFRUVJSUlZUVFtNkxnQXlHRUVFSUlJWVFRUW15S2dnK0VFRUlJSVlRUVFnaXhLUW8rRUVJSUlZUVFRZ2doeEtZbytFQUlJWVFRUWdnaGhCQ2JvdUFESVlRUVFnZ2hoQkJDYklxQ0Q0UVFRZ2doaEJCQ0NMRXBDajRRUWdnaGhCQkNDQ0hFcGlqNFFBZ2hoQkJDQ0NHRUVKdWk0QU1oaEJCQ0NDR0VFRUpzaW9JUGhCQkNDQ0dFRUVJSXNTbDFTVGVBRUVJSWtmT3NVYU84bmNxeEo4ZnhQaVhkRmtKS2xwQ2pGNFZEZjErN2RCNkFXTkt0SVlRUVFwNEhCUjhJSVlTVUtscU5ZMWRPNUpkd0hNcVdkRnNJS1VtaXlPdFZQTmV3VXExYUh6eTRldlZKU2JlSGtNTGF1R2tydHUzYVU5TE5JT1Nsb3RmcmtabVpWZExOTUl1Q0Q0UVFRa29WWHVSOUtmQkFDTUJ4VUVHRXIwcXZLUXVBZ2cva1gwSGtrUXRSRkRpTzQzTnljNUdUbTF2U1RTTGtwU1dLeU0za1ZVSkp0ME5Dd1FkQ0NDR2xWdk9tamZGYXN5WWwzUXhDWHFoSGp4NWozOEZEU0UxTksrbW1FRkpvZ2w2SVVmSGNUUUExUzdvdGhMek1SSWpQQU9Ha05qY2x0YVRiSXFIZ0F5R0VrRkxydFdaTk1IYlV5Skp1QmlFdlZIVE1aWnc2ZllhQ0QrUmY2ZS9yMFpGVnE5WnVDd2M3dTVKdUN5RXZzNXdjbmFCUDU1TWVQYnFmV2RKdGtWRHdnUkJDQ0NHRUVGSmNkSGZ1eENhVWRDTUlJYVVQTGJWSkNDR0VFRUlJSVlRUW02TGdBeUdFRUVJSUlZUVFRbXlLZ2crRUVFSUlJWVFRUWdpeHFWSlg4OEhIcDQ2N3FnemZsZU5VTlVxNkxZU1E1eVZtNndRY3VYLzk0amtBcFdhWkgwSUlJWVFRUXNpTFZlcUNEeW9uZFR1T3d4SU9xRmpTYlNHRVBCOVI1UFJxRHI5NDE2ejUzc1ByMXhOTHVqMkVFRUlJSVlTUWtsSHFwbDF3SWxlWkEwZUJCMEwrQXpnT0t2RHdzMU9WS1ZQU2JTR0VFRUlJSVlTVW5GS1grU0RYc0g0OXRHMzl2NUp1QmlHa2tKNDhTY2J1aUgxSVMwc3Y2YVlRUWdnaGhCQkNTb0ZTSFh3SWFGQVBZMGVOTE9sbUVFSUs2ZnFOV3poNjRpUUZId2doaEJCQ0NDRUFTdUcwQzBJSUlZUVFRZ2doaFB5M1VQQ0JFRUlJSVlRUVFnZ2hOa1hCQjBJSUlZUVFRZ2doaE5nVUJSOElJWVFRUWdnaGhCQmlVNlc2NENRaGhCQkNDQ0hrWDZSMmJXM2xITDZ5bXRjNGxYUlRDSG1aNlZSNlBaY2hQcmgzTHlhNXBOc2lvZUFESVlRUVFnZ2hwRmhVRmJUL0U5WGlOK0RFR2lYZEZrSmVaaXFSejRTanNOemIyL3Z6aHc4ZlBpdnA5Z0EwN1lJUVFnZ2hoQkJTVEVTSWRUbWdXa20zZzVDWEhjZkJBZUJhMk5tNU81ZDBXeVNVK1VBSUlZUVFRZ2dwRnB6SXFUamVjSVBUcVV3WmxDM3JVdEpOSXVTbGtwT1RneWRKeVJBRUFSd0h0U0RvUzAzQ0FRVWZDQ0dFRUVJSUljV3VYKy9YTVdQcXBKSnVCaUV2bFQvUFIySDArTWw0L0RpeHBKdGlvdFJFUVFnaGhCQkNDQ0dFRVBMZlJNRUhRZ2doaEJCQ0NDR0UyQlFGSHdnaGhCQkNDQ0dFRUdKVEZId2doQkJDQ0NHRUVFS0lUVkh3Z1JCQ0NDR0VFRUlJSVRaRndRZENDQ0dFRUVJSUlZVFlGQVVmQ0NHRUVFSUlJWVFRWWxNVWZDQ0VFRUlJSVlRUVFvaE5VZkNCRUVJSUlZUVFRZ2doTmtYQkIwSUlJWVFRUWdnaGhOZ1VCUjhJSVlRUVFnZ2hoQkJpVXhSOElJUVFRZ2doaEJCQ2lFMVI4SUVRUWdnaGhCQkNDQ0UyUmNFSFFnZ2hoQkJDQ0NHRTJCUUZId2doaEJCQ0NDR0VFR0pURkh3Z2hCQkNDQ0dFRUVLSVRWSHdnUkJDQ0NHRUVFSUlJVFpGd1FkQ0NDR0VFRUlJSVlUWUZBVWZDQ0dFRUVJSUlZUVFZbFBxa200QStYODNiOTVFbVRKbFVMNThlYWpWQmY5cGREb2RVbEpTQUFCcXRScXVycTRBZ0NkUG5xQnMyYkpXSGFNZ3QyL2ZoaUFJQUFCUFQwODRPVGs5OXpFTHNtM2JOdlo3K2ZyNm9rT0hEalovejMrRHRMUTBPRHM3bDNRekNDRkZKSW9pT0k1N29lK1puWjJOZi83NWgvMEhBRjI3ZG4waDc1MlRrd05SRkFFQUhNZEJxOVZhdGQrTCtKeHUzNzZObEpRVU5HclVxTUJ0ang4L2p1UEhqN1BIUTRjT1JlWEtsVzNaUEVKSU1ibHk1UW84UFQzaDV1YjJ3dDR6UFQwZE4yN2NZSS9yMWF0WHBERjVZbUlpbkp5Y1lHOXZyM2hlcjljakxpNk9QWFoyZGtiRmloV0wxTmFrcENRa0pTVUJBSnljbk9EcDZXbDJPNTFPaDRzWEw4TER3d01lSGg0b1U2Wk1rZDd2UmNuTXpJU0RnNFBGMTNVNlhhSCtKcW1wcWJoeTVRcDczTGh4NDJLNXpub1owYWRXaW9TR2hpSXBLUWtjeDJITGxpMm9WcTFhdnR2SHhNVGczWGZmQlFENCtQaGc1ODZkMkxwMUs4TER3eEVZR0loWnMyWTlkNXRDUWtLUW01c0xBSmczYng2Q2dvS3MyaThuSndlSmlZbDQvUGd4SGo1OGlJY1BIK0xCZ3dkNCtQQWhaczZjQ1c5dmI0djcvdlRUVDdoNzl5NEFJREF3c0VTQ0Q3bTV1Ymg5KzdaTmpsMjJiRm1MbmZzWFgzeUJpeGN2b2xXclZtalZxaFg4L1B3QUFJOGVQVUwzN3QxUnRXcFZCQVFFWU5pd1lmRHk4ckpKK3dqNXI5UHI5ZGk4ZVROYXRHZ0JYMTlmazljVEV4TXhmUGh3OW5qaHdvVjQ5ZFZYQVFCWldWbDQ4ODAzMld1elo4OUdRRUJBZ2UrNWVmTm1IRHAwQ0o5Ly9ybkY3Nzh0L1A3Nzc1ZzhlVEo3ckZhcjBiSmxTN2k0dU5qMGZTOWZ2b3pCZ3dlejRFT2ZQbjB3YmRxMGZQZlI2WFQ0L3Z2dmNmcjBhWVNIaDVzRUs1S1RrNUdlbm03Vis3dTV1WmtObHFlbXB1THJyNy9HMXExYjRlenNqTTJiTjhQRHd5UGZZMTI5ZWhXN2QrOW1qM3YwNkVIQkIwTCtCZExUMHpGbzBDQ0lvb2d5WmNyZ2xWZGV3ZXJWcTIxK0krMzY5ZXQ0NzczMzJPT2pSNDhXcWMrZFAzOCtJaU1qMGFwVkszVHMyQkh0MjdlSFdxMUdXbHFhNGp3VUZCU0VlZlBtV1gzYzMzLy9IWTBhTllLam95TzJidDJLTld2V0FEQ011UmN0V2dSUkZQSExMNytnUzVjdXJCK09pWW5CKysrL3o0N3gxVmRmb1ZtelpoYmZJeVVsQlYyNmRBRmdDSTRjT25RSWdDRzRuSm1aYWYySFlNVEJ3YUhBNFBTMWE5Y3diTmd3ZE96WUVXKzk5UmI4L2YzWmE3ZHYzOGJxMWF2eCtQRmpmUHZ0dCtCNTZ5WUJYTDkrSFI5ODhBRjdmUGp3WVhiVE56K3BxYWxJVEV4RVFrSUNFaElTOFBEaFE4VEZ4U0V1TGc1cjFxd3A4UHp6WDBUQmgxSkNIbmwwY0hCQTFhcFZDMzJNWjgrZTRmdnZ2MGQ2ZWpyMjdObUQ2dFdyNCsyMzN3WmdDQWEwYk5uU3F1TnMyclFKMWF0WEwvVDdIenQyREY5KytTVVNFeE9SbXBxYTczWWhJU0VBZ0pNblQ2Sng0OFp3ZEhTMCtuMW16SmlCeTVjdlczemQxOWNYUzVZc1FhZE9uWkNUazJQOUx3QkRZR0RQbmoxSVNFaGdiU3h1d2NIQitQVFRUODIrZHZEZ1FjVEh4K092di83Qzc3Ly9qbSsvL1JZQWNPVElFWWlpaUxpNE9OeTdkdytqUm8yeVNkc0krYSs3ZlBreTVzNmRpMnZYcnFGYXRXcllzR0dEMmJ0SzkrL2ZaNC9sL1lnZ0NJclhyQmxFSFRod0FJc1hMNFlnQ0hqenpUY3hZOFlNZE96WUVmZnUzY090VzdjSzFmNXExYXFoU3BVcVZtL2Z0bTFidUx1N3MvT0xUcWZEeVpNbjBiMTdkNnYybnp4NU1rNmRPbVh4ZFE4UEQ4V0ZPV0Q0ak9iTm04Y0NENEJoNEpxZG5RMDdPenV6eDRtUGo4ZUVDUk53N2RvMUFJWmd0M0VBUFR3OEhEdDI3TENxM1JNbVRERGJoLy8yMjIvWXRHa1RBTVBnZU1hTUdRZ1BEMy9oR1NtRUVOdUxpWWxoL1ZCR1JnYktsaTFicE1CRGRIUTA5SHA5dnR1NHU3dXp2bG5LR0paWWU0RXI5L2p4WTV3NGNRSjZ2UjYvL2ZZYnJsKy9qbzRkT3hiNk9ISkpTVW1ZTzNjdWpoMDdsbS9BWXVmT25aZzdkeTdXclZ1SFdiTm1JU0FnQUdmT25HR3YyOXZibzJIRGhnVytuM1R6VW40T2pZK1BSNDhlUFlyOE8remJ0eS9mTEE5UkZERnYzanhrWldWaDc5NjkyTHQzTDd0NXVtWExGaXhjdUpEOW0vajU1NTh4Y09EQUlyZEZFaDhmai9Ed2NLU25weU10TFEzcDZlbElUazVHU2tvS2REcWR4ZjJPSERtQy92MzdQL2Y3Lzl0UThLRVFSbzRjaVQvLy9GUHgzS2hSb3pCczJMQjg5L3ZpaXkvd3d3OC9zTWY5Ky9mSGxDbFRBQUJQbno1RmJtNHUvdnJyTC9hNm41OGZHeWdDZ0oyZEhiUmFyVW5IbDUyZHpYNFdSUkU4ejJQeTVNbVlPSEVpS2xXcUJDOHZMK1RrNUVDcjFVSVVSWlBPMEJMNWdMRXd5cFVyWjFXMndOR2pSeEVTRW9MdDI3Y2pMQ3dNVmF0V3haSWxTNndPdUNRa0pMRE1DSE9rS0cxYVdocnIrS3lsVXFrS3RYMXhpbzJOUlh4OFBIc3N2emo0N2JmZjJNK05Hald5S3RwS0NERjE1ODRkZG9GNysvWnR6SjgvSDdObno3YlorMFZFUkdEMjdObXMvMDFQVDhmeDQ4ZlJzV05ISEQ1OEdLdFdyU3JVOFVKRFExbkcyOWl4WXhYbkRrdU1BeVJ6NXN6QndvVUw4OTFuMXF4WkNBd01SSFoyTnJLeXNpeHVaeTZ0OVljZmZsQ2twd0tHdTBhTEZ5L0c5T25UelI3SDNkMWRNVURmczJjUGF0ZXVqWDc5K3JIbkNocjhXNk5YcjE3WXMyY1BZbUppQUFCbno1N0Y1czJiOGRaYmJ6MzNzUWtoTDk2alI0L1lsREpqQnc4ZVZEeXVXN2N1Kys1YjR1cnFhcExaRkJvYW1tOC9DQmltczMzKytlY0FUTWZSUlFrKzdOeTVVOUhudmYzMjI4OGRKTlZxdGF4dlBuandJRnExYW1XeXplM2J0N0ZreVJJQXdJTUhEMWh3L3ZUcDAyeWJaczJhV1QyTjdrWGJzbVdMNG0vczYrdUx3TUJBQUVDclZxMndmUGx5ZHYwVUhoNk9saTFiRnVtR3IxeHljakwyN2R0WDZQMG8rRUR5OWVqUkk1dzdkODdrK1lpSWlBS0REL21aT0hFaUxseTRvSGp1NHNXTDZOeTVNM3NjR0JpSXRMUTBrOENIM0lNSEQ5QzZkV3ZGNDhtVEorUDExMS9IekprelRiWjNkWFZWZElieVlJY2xCWFdlK1dWTCtQdjdvM2J0MnZEeDhVR1ZLbFVRRXhPRHNMQXdBSWFMZ1hmZWVRY0xGeTdFYTYrOVZtQTdTb0pHbzNtdXdFUkJKeTBBaW81THE5V3lLUzV4Y1hHS0M0ektsU3ViL2Jkb2poU0VJb1FZZE8vZUhZY09IY0xKa3ljQkFMLzg4Z3VhTjIrT3JsMjdJajA5SFRxZHppUnpLejA5bmRXaE1iNlFsNzltSEJUODdydnZUSUlMclZ1M0xwWXBjWUFoMjgzYWFRaHl1Ym01QlFabXJRM2NHdi9PNTgrZlIzaDR1T0oxNmZQWnNXTUh2TDI5TVhUb1VKUGoyTm5aWWY3OCtRZ0pDVUZHUmdZQVlQSGl4YWhkdXpicTFLa0R3REFkUnFKU3FWQzJiRm5GTWF3NWozRWNoK25UcHlNa0pJUUZoRmF1WElsV3JWckJ4OGZIbWwrWkVGS0s3TnExaTAwYktNamF0V3V4ZHUzYWZMY3A3QlFHYzU0MytQRHMyVE5zM3J5WlBYWnpjME53Y0hDaGpuSHc0RUZjdTNZTkgzendBUnUvT2prNVlkcTBhUmc3ZGl3QVF5YWdjVDk2NXN3Wmxxbnc3cnZ2d3QvZkg0OGZQMVpjMEx1NXViRnpxSnkzdDNlaE02ZXR1ZmpldFd1WFZabk0wZEhSV0xwMHFlSzVLVk9tc05vTTN0N2VHRDU4T0R0SFpXVmxZZXpZc2Rpd1lZUE5weUxLZVhoNG9FcVZLcWhSbzBhSjFJSXFhUlI4c0ZKRVJJVFpqSUE3ZCs0Z05qWVd0V3ZYTG9GV0ZaM3hQTmZYWG51TkRUYi8rT01QeFZ3eWlaU3RZV3pZc0dFWU5Xb1VIQjBkc1h6NWNqZzdPOFBEd3dQRGh3OW5nOFZCZ3dZcEFpcUFJUzEyNmRLbEVFVVJHUmtaR0RObURENzU1Sk1DMno1MzdseGtaMmRqLy83OVdMMTZOUUNnZnYzNitPeXp6d0FZQWdXQUljTkNGRVVFQndmajZkT25BSUN3c0RBV3BQbmlpeSt3ZGV0V0FJWUxnckN3TUlzZHdKUXBVOUNyVjY4QzIyWkpZR0FnYTRNNTJkbloyTHQzTDN2Y3JsMDdsaHE0YmRzMnhiWTdkdXl3T3ZWWWZwZVVFQnRSVjYxYVZYM256cDJDSTJ5bHhQVHAwOUduVHg5MmtUdHYzandFQkFSZzRzU0pKbmZzQVdEMDZORVdqelYxNmxRQWhqUlVhWHBDZG5ZMjVzMmJoMTkrK1VXeGJidDI3VEIvL253MkVMSzN0emNaK0JYRWVJcUlyUzFjdUJDM2J0MWlkK0NxVjYrTzQ4ZVBzNzVhWHNRdExpNE9reWRQWmhmMXJxNnUrUG5ubi9IWlo1OGhNaklTQUxCcTFTbzRPanFhUGNmNCtQaGc0c1NKYkZxYVRxZkRzV1BIVUtkT0hlVG01aW9HdjQwYk44WlhYMzJsMkYvZXorYVh3ZWZuNTRmZXZYdXp2clZ5NWNyUE5RZVprSCt6R2pWcXVOeThlZFB5WEZsaTFkUmdyVmFMano3NkNQZnUzVE81NFRSZ3dBQ3o0OHVnb0NDTUhEblM1UGxObXpheG9DMWdLSEpyYWNxYU9aR1JrWmd4WXdaME9oMmlvNk14Yjk0OGVIaDRJQzR1RHFJb29tclZxbWpidGkwQ0FnTHc2Nisvc3YyZVBIa0NIeDhmREI4K0hMLysraXRxMWFvRlVSUngrUEJoeGZGMzc5NXRNdDBPTUFRUyt2YnRpK2pvYUVXZm1wdWJpNTA3ZHdLQVNZMGtTOWNXY2djT0hDZ3crSkNZbUloSmt5WXBwam04K2VhYmFOcTBxV0s3d1lNSDQ4U0pFN2gwNlJJQTRQNzkrNWc4ZVRKV3JWcGxVa0F5TVRFUlAvMzBFd0JEMXJYY045OThBenM3Ty9qNys2TlNwVXFLMTZUbjNOM2RVYTVjT1ZTb1VBRVZLbFNBcDZjbnZMeThDdlczL0MraTRJT1Y1QmVHM3Q3ZWVQandvZUsxb2dZZkdqWnNDQ2NuSjV3NGNRS0E0VzZPY1JwVTNicDFrWm1aYWRMNXBhYW1JaW9xQ29CaFFOcThlWE9UNDllcVZhdEk3U29NK1pkVm5uMVJVQ1F2SkNRRUZTdFd4TFJwMDZEVDZhRFg2eFYzdGl5cFVLRUNBQ2dxL2JadTNkb2tUYzVjT3JCV3EyV2ZvN3pkUE0vbmUzTFpzbVVMaS9MMjZ0Vkw4WHNXaDk5Kyt3MXBhV25zc1RUbElqVTExZVFDaHBEU3BFR0RCaFY1bmwvajV1WjJVYWZUL1J3VEUzTVpnSFZ6dkVwSStmTGxFUm9haXNXTEY4UGUzaDZqUm8wcWNxVndjejc4OEVPY1AzOWU4VnozN3QweGMrWk1SYjh6WU1BQURCZ3dvRmplczFtelppeFY5dW5UcDJhREdvSWdLRmFma04rTmUvejRNWHIzN20yeWo1MmRIWVlORzRiYzNGd1dZSG4yN0JsN1hjcDgrUHZ2dnpGeTVFZzJZT1k0RHA5OTloa3FWS2lBc0xBd3ZQUE9PL2o3Nzc4QkdBSWFDUWtKR0RObWpNbDVvbWZQbmpoMDZCQ3VYNytPR1RObXNQUGhMNy84b3NoSUtTaE45dXpaczJqWHJoMjBXaTA0ampNcDZqVnk1RWdjTzNZTUF3Y09SRWhJQ0ZVdEp5OHRaMmZuV1EwYk52VGhlZjdIQ3hjdS9BckE4aVQxbDVSVUxMRWcvZnIxTXpzdCtONjllMmEzTjNkVEtqMDlIVC8rK0NON1hMNThlZlR0MjlmS2xocnFYRXljT0pGZGhGKzRjQUh2dnZzdXRtM2JobDI3ZHJGajM3bHpSekVsSERCa1huLzAwVWZzOGZqeDQzSG16Qm5zMzcvZjZ2Yy9jK1lNT3hkSnNyT3oyWlNVRFJzMktGNlRuMCtLS2lrcENhR2hvWXByaUdyVnFyRU1Eem0xV28yNWMrZGl3SUFCN0wzLy9QTlBUSjQ4R1FzV0xHQTNNQUZETU1iNE01Skl0WU9DZzROTmd1a3pac3hnUmFxSktUcmJXaUVtSmtiUm1YVHAwZ1hyMTY5blgrd0RCdzVnL1BqeFJScThqQm8xQ2xldVhHSEJCMzkvZnpaTlFxMVc1MXNZSnlvcWl0M1Y5dkR3TUVrMWVsR2VaOURXb1VNSHpKOC9IeDkvL0RGR2pCaUJZY09HS1FJOWxnaUNvSmlHWW0weFRXdDVlWGxoMTY1ZEFBd0JnSGZlZVFmWHIxOEhZUGdiRmJaZzBZUUpFK0RrNUlScTFhcVpMRThraXFKSlp5eFZ3OSt3WVFPN093c1lnaWZ5Nks5V3E4MDNuVS9laVJKaUN4ekhhUURVNURpdW0wYWptUm9RRUJBcGl1S1BlcjErdjFhcmZYTCsvUGwwQU04L1diK1k5ZS9mSC9mdTNjUEFnUU5adXIycnF5dmMzZDBoQ0lMaXJwT0xpd3ZyNTBSUlJISnlNbnZOMmRrWkdvMUdFZXdjTUdDQUl2Z3daTWdRakI0OUdqLy8vRE82ZHUxcWt5WGZWQ29WSEIwZGNmMzZkUXdhTkFpdFc3ZkdvRUdEMEtCQkE3Yk5wNTkraWoxNzlnQXczTzJYK2pqQWNrWkZhbW9xeTRxVEFyL3kzOS9OelExUlVWR1lPSEdpNGpNYk4yNGM2NWRkWEZ5d2F0VXFEQjA2bEUyTldMOStQUzVkdW9SWnMyYVpUSGVZTldzVzdPenMyTkxDMTY5Zng3Smx5eFRiZE92V3phU3Q4am5Jdi8vK08zNy8vWGNBaGlDL1ZMeFgzdTQ5ZS9hODlIZWdDQUZRaWVmNS9nRDZCd1FFeEFQNFdhL1hiOHpKeWJuTDgzeGFiR3hzNFNwM2w3QzllL2NXT3FOTW5pSDdJcGtiUDRlSGh5dmEwcjE3ZDZ2N3FmUG56MlBjdUhHS3pBdXRWb3NaTTJZVWVheCs2OVl0UmRiWnE2Kyt5c2F4OGZIeHJGWlorZkxsaTdRSzBQUGV6RXRNVE1TSUVTTnc1ODRkOXB5cnF5dVdMVnRtOFhQejhmSEIzTGx6TVg3OGVCYVFQMzc4T01hTkc4ZHVTaERib2VDREZZd3ZodHUwYVlPWW1CaDI4WnVTa29MSXlNZ2lmNEgrK09NUDlyTzN0emRiV3RMZjM1OUZLRStlUEttb05Bc1k3bFJKVWxKU3NIanhZc1hyenM3T0dERmloTm4zREFzTFUzd3A1V2xLL3Y3K1dMNThPWEp5Y2hSTHRJV0dockpJWGxoWUdDdndJM1ZvNjlldng0b1ZLOHkrMzdScDA5Z3lhMUxCVFdtZVUvdjI3YkZseTVaQ1ZYQS9kKzRjRzhTV0sxY09OV3ZXdEhwZmE2alZhdGFKU3FsWkVtbXFSMkcxYXRYSzdPZHo0c1FKeFhyUWtxU2tKTVdjdjNyMTZtSHk1TWtZTkdnUWV5NHNMQXp0MjdjdlVuc0lzUVdPNDFyay9aY2lpbUpVbzBhTnpnbUNjRXFuMDUyK2RPblNvNUp1bjBTbFVwbWtlMHIxR1JJU0VoUUZYMWV1WEltNmRlc0NNTnlsa2ZmMVlXRmgrTi8vL3FjNFR2djI3VEZreUJCczNMZ1IwNmRQUjQ4ZVBWai91SGJ0V2t5WU1NSHExU1lLUXhSRmhJV0ZRYWZUNGVqUm96aDY5Q2dDQWdMdy92dnZvMW16Wm9vNkR2bXRmeTczNU1rVDlyTzU0RU5hV2hwR2poeXBPSWVVSzFjTzZlbnArUHJycnhYSHFsKy9QbzRkTzhZZVg3aHdBY3VYTHpjNWQ4bXpGSjQ5ZTRZUFB2aEFjWGVzWmN1V3FGZXZua2xicGJuSnhzeHRDOEJrWURwNzltdzhlUERBWkR0NXBpTmd5Tnd3RjRCdTNibzEzbm5uSGJQdlJjaS9BY2R4WGdER3E5WHFEMVFxMVdVQWZ3WUVCSnpUNi9Wbm9xT2pMeFcwZjJuZzRPQlFxQlhVQ3ZMb2tmV25yWkVqUjBJVVJWeThlSkdsNjJzMEduYlhIekFFRjZRYm1zWUJnV3ZYcnJIcHdCSnJDenNlTzNZTVU2ZE9WZHlnMG1nMFdMUm9FUm8zYmd6QWtKa2huYjlPblRxRkRSczJLS2FvQlFRRVlQanc0WW9iVjlKMENjbWFOV3RZLzdkNDhXTDgvUFBQQUlDK2Zmc2lKQ1FFSjA2Y1FOdTJiWkdibTh1dWIrUlozY1Y1VSt6R2pSdVlNR0dDb3QvV2FEUll2SGh4Z1RWODJyUnBndzgvL0JCZmZQRUZleTR5TWhMdnZ2c3VGaTFheEtaSFNOY216NTQ5VTV4ZmZIeDhvRktwWHNxbE1wOFhCUjhLa0pPVGd3TUhEckRISGg0ZXFGdTNMZ0lEQXhWMzNpTWlJb29jZkpEbXdnSkEwNlpOVGFyekF2emxKSklBQUNBQVNVUkJWSVlzQitrTGJrNTZlcnJKNitYTGw3Y1lmRGgrL0xqRlk3bTV1YUZHalJxS2FRQ0FZWldGUm8wYUFWQU9YSXNTVGMzS3lzS0VDUlBRb0VFRHZQZmVlNFVLUEFESzRvd3FsUXB6NXN4aGo1czBhV0wycmxoUlNhbkN0aUNLSXI3NTVodXpyeTFidGt5UjlSQWFHbXF6ZGhCUzNEaU9jd1hRWGhURnRoekhEZGRxdGY4MGJOZ3dVcWZUcmIxMDZkSlpsRUJxYjBKQ2dtS1pUSW0vdjc5SlJwSmNVWXBCaFlhR29sT25UcWhWcXhiKy9QTlByRnk1RW9BaHpUWXNMQXhWcWxUSmQwbmkvSGg1ZWNIWDF4ZGR1M1psRjlaVnExYUZYcTlIVUZBUTR1UGpXZnBwVkZRVVFrTkRNWG55Wk1YZE1PUEJlWmt5WlRCNDhHRDJ1RnExYWdDVVJSN05CUi9xMTYrUHFLZ29SYTJNSjArZVdGVUFUcTFXNDhNUFA4UzZkZXRZbG9KY1dGZ1lQRDA5TVcvZVBIejAwVWZJeXNxQ2g0ZUgyU0xLZ0dGWlVHbU9jMlptSm5pZWgwcWxRdTNhdFpHVGsyTTJVQ3N0dHdvWWlxOVpzMktUbEFWbnJDaDMvUWdwcGV3NWptc3NpbUlqQUlOVUt0WGpnSUNBSzZJb2Jzbkp5ZGtXR3h0YitFcTNMOGlwVTZjS0hYeXdWR0EzT3p1N1VPTkpxYzZXUEFCZ1oyZW5XQ0pUUHFWQ1BuN1c2WFNZTTJlTzFTdlR5ZjMxMTEvNDdiZmZGUHZhMjl0ajhlTEZhTkdpQlh2T3g4Y0hUazVPK1BMTEw4M1dEdU41SHA5Ly9qbGVlKzAxaElhR2d1TTRsaTBuU1V4TVpNRUgrY1c0bExIYnBrMGJ0R25UQmlrcEtleG1xb09EQTh2T05nN21Hazg5M0w1OU8vdjhnb0tDVUs1Y09jWHIwcmw2Mzc1OW1EdDNya21XeDlLbFMwM3FTbGd5ZVBCZ3BLU2tZUDM2OWV5NUsxZXVJQ1FrQkhQbXpFR3JWcTNZNTdSbXpScEZRUDJISDM1ZzB3NWpZMk1WeHoxMzdweko3MmxKblRwMTJMbjFaVUhCaHdLY09IRkNjUkVlR0JqSTd0WXZXTENBUFgvOCtIR2twNmNYT2gwL1BUMGQwZEhSQUt4Zk54ZjQvOHE1OG83RzNITUY3Uzh4dDQ5OEtVK3BmZVlVTnZpUWxaWEY1cEdkUG4wYVY2OWV4Wnc1Yy9JZC9Nc2xKaVlxNXAvOTg4OC9pc0kzS3BYS1pzRUh0VnB0VWxqR1d1Ym1sTy9kdTlkc2didmJ0MjhyQWl5TkdqVkM4K2JOVFRxNG5Kd2NpL1BsaWpQeVQ0ZzF6Qlg1NHppT0IrQU93SjNuK1ZwYXJYWm9RRURBTFFCYjlIcjl0cHljbkx0WHIxNU5CVkM0ZFhHTDRPREJnMmF6anpaczJLQ28yMk84cEdOUmxrbFRxOVdvVmFzV0VoSVM4UEhISHl2NjJFbVRKaUU1T1ZreHQ3WXdwT3d4ZVkyR2pJd01USnc0RVgzNjlNSHUzYnV4ZmZ0MmZQdnR0M2o2OUNrcVZxeUlIajE2NE1pUkkyeDdhVXFEeE1uSkNXUEdqREY1TDNud1FlckRqS2RkakJ3NUVtUEhqc1hBZ1FOTmFqT1kwNzU5ZTZTa3BLQjY5ZXFvVXFVSzd0NjlpNHNYTDVwc0p3MHFtelp0aXFWTGwyTGV2SGxZdVhLbHhUdE5YbDVlTE1oanpOS1NvZGFzUkVUSXk4SzREK2NNa2RjeWVmOVY1VGl1cTUyZDNjcUFnSUF0ZXIxK295QUlsNU9Ta3RJZVBueVlDYUJvNjdRWE0wdkJ5UmRKZmc0eHpseVFud3ZrV1FDclZxMHlPeDYwaHZGU28wNU9UbGkyYkJtN1lRZ1lzdFMrK2VZYmJOKytuZlY3VGs1T3FGdTNMbHRHVTVvdXVHdlhMdXpmdng5K2ZuNG0xd0p4Y1hHczVvNThxa05SVjFhYk9IR2k0dkcrZmZ0WThDRWtKTVJzNWxwNmVqcFdyRmhoMG4rLzhjWWJ5TXJLd3RHalI2MSsvL3IxNitQVlYxOWxTM0FEaHVtR3h1Y3hhK3QrQUNqVU5QaXdzRENUZ3Z6L2RSUjhLSUR4bEF0cHJkank1Y3VqWHIxNmJCNVVUazRPRGgwNlZPZ1ZFYzZlUGNzNnFhWk5tMXFWampSNDhHQ01HVE5HVWZQQng4Y0h1M2Z2eHNPSEQ5R2pSNDhDai9IcnI3OWFYTzFDSXIvckRpZ3ZadVdkcHhSODZONjlPNW8wYVFMQVVEMVdxZ0lQR0dwYlNNdG9pcUtJUllzV3NkZU9IeitPZDk1NUIwdVhMclVxQTJManhvMEZMZ09Ya3BMQ09reDVXNTgrZmNwUzZPUVg3VGs1T2V4NVIwZEh4Y0JjSG55b1g3Kyt4VXlGd3NySXlMQTRVUGIxOVVXZE9uVncrZkpscUZRcWpCOC8zdXgyMGxRV2M0NGRPMlp5Z1ZFUzdEaWhncU9kNm1URGhnMXpBUWdjeDRrY3h3bDZ2VjdrT0U2RVljQWljQnduQ29ZL2xzanp2Q0FJZ3NoeG5BQkFFRVZSMmxZUVJWSGdlVjRRUlZGNlhyRHd2SjdqT0VFVVJiMW9JUEE4TDM5T3lIdHZmZDYyK3J6MzE0dWlLSEFjcDg4N3JqN3ZaNzBnQ0FMSGNYcWU1L1dpS09vNGp0UG41T1FJUE0vclZDcVZvTmZyZFR6UDYvUjZ2UWhBbDdldFRxZlQ2UVJCa0xiTEZRU2hLc2R4NERnT29paSswckJodzVZQXBOOFJlcjFlQUlDOHo0cjlwOVBwUk9QbmNuTnoyYzhBb0ZLcEJBQ1FQODl4bk1qenZKaVRrNk40ekhHY21KMmRMZkk4cjlpWDUza3hLeXVMYmNmenZLaFNxVVNlNThXTWpBejJzMHFsRXZWNnZiTkdvN0Y0ZFM0ZnpFb1pCQnpIVlFjd1ZhMVdqMU9yMVZjQ0FnSitGMFh4RElCVGYvMzExeDN6UjdJdHZWN1AybXE4OGdISGNXeGFnWEdnVmhBRTlockhjWW9sZVZOU1VqQnUzRGhGTFlUT25UdmpqVGZlTUx0TTJmTll1WElsVHA0OGlaTW5UOExmM3gralJvM0NuajE3OFAzMzM2TkJnd1p3ZEhSVUJOS3Q3UnNLbW5iaDV1YUc2dFdyWStuU3BXamJ0aTJxVktsaU1sZzFWck5tVFFRRUJGaTl3c1Rtelp1eGJOa3lpS0tJZnYzNldiV1BaUC8rL1NiTGdWclNvVU1Ic3dQZHExZXZLZ2FtclZ1M2hydTd1OGwyMXQ1dEt5d05MM2k2MlBFUjdnMGI1dVQxWDZ6dmxQbzdudWNGR0o2UStqVVJoc0t2VXI4cHd0REhDSG5IWU52bDlYZUM4ZkdrdmpXdlh4UjRuaGNGUWRCTHg4bnJVMFZSRlBWNnZaNXR6M0djbU5kdkNxSW82cVZ0QkVFUWVaNVg5S041YlJPa2R1bjFldVE5TCthMWtaMHo4dllUQkVFUXBaOWxuNE5lclZhTGdpRG9wWE9IN0ppaWJGOUJwOU01cTFRcXQ3eitTQ09LWXUwR0RSbzhrNTJQV044cjlibnk1NlRIOHRla3oxL3FrK1hiUy8ycnVmN2FxQzhHWjZZdjUzbGV6TTdPbHQ1SGNVempmanB2UDlaWHl4OUxQNnRVS3ZIcDA2ZWlTcVdTT21mRnRVRGVlUWw1LzU0VXorZjkzd25BTUxWYVBVd1V4YmlLRlN1ZXFWQ2h3bWxCRUU3cmRMcW9mMXVOQ0Z1UTkyM0dOKzdNalo5UG56NXRVdnVycUR3OVBiRnk1VXFXdlNiaE9BNDdkKzVrRit3ZUhoNVl0V29Wamh3NXdvSVAvdjcrQUF4My83T3lzaFMxSGlTeHNiRm8zNzQ5Y25OekZjRUhhNWJZek1yS01zbXF6cS9nWkZaV2x0blhuWnljc0h6NWNnd2JOa3lSWmJKbHl4WnMyYktsd0hhWUkxOFd1aytmUG9xYm1GRlJVU1paY1V1V0xNSElrU09MZkVQeVpVYkJoM3drSlNVcDZqRzR1cm9xb29nZE9uUlFmREVqSWlJS0hYeVExeE80Zi8rK1l1NnJkQUZmbzBhTm9qVC91UmxIL2VTRFZma0pTZW84eTVVcng5S2pqSU0ycnE2dWlJaUl3SHZ2dlFkWFYxZDg4ODAzV0xod0lVdG51blBuRGlaT25KanYxQkxBOEprWWJ6Tmt5QkQ0K1BnbzV0VE5talhMYkJxdmZIcUdYR1JrSk90b2V2ZnVqZW5UcDdQWDVNR0htemR2NHUyMzM4NjNqUVdSVXU3UzB0SVVBM3M1anVNd2RlcFVEQm8wQ0VPSERtVW5oSDhqclpwekJsQmVucm91aXFMWnU4azh6N01CamtxbFVsVG1sOGdHUUlybjVjY3ozdDQ0YmQ3NE9YUHZhWTY1OTVEUEc1ZGVsMStBbW50czFNWTNPWTdya3ZlektOdGVsRzByQXV5N0pzcTNsV1VlaVlCaEZDNDlMKzBudlM2N0F5TnRCanM3TzhVMjB2dkpwbGFKOHAyTW4xZXIxUnBSRkgzTWZaNTUrNWo4TEh2ZEhrQUFnSVk4enc4V1JmR2ZnSUNBNkdlNXlNM1dDY1crOXJXN3V6djgvUHdnQ0FKdTNicWxlRzNreUpHNGNPR0MyZjBHRGh4bzhaanlhdHBseTVabDJRWEp5Y2tJRFEwMXFlY3lhZElrQUlhL2NYNUZyZVIzZEhpZVY5dzlNdzVTcDZlbnMyVStBY1BBY2ZUbzBXalNwQWttVHB3SVB6OC9BTW9VV2VOVVZrdmtmZFNLRlN2dzVaZGZLZ0xUUTRZTVFVaElDSnNXMXFkUEh3Q0d3TXY1OCtjUkhSMk5OOTk4RTk3ZTNnQU01eFZwUFhVcFU3QmR1M2J3OXZiRzQ4ZVBUZVlYQTRiQVVFRUI1NEpvTkJvVzdOMi9mejhpSWlKTXRqRzM1QjBBZlAzMTE0cmd3K0RCZzIwV2FEREhYc09YNDNtZXpla3cvcTd4UEcrMnI1U1RiMlB1R1BML0cvZUI4bjdQWEwvTWNWeUJHWkJTTzQyUEo3L1FsWTV2cm8zeS9WUXFsVW1mS2gyRDUzbHBPM1pRQzIzajh2Wno1WGwrQnNkeDhsdW9VbDlxc1MrV0hkZWsvelR1ay8rL2lTSjd6Ymh2RmtWUi9oMW43dzlBRkFSQi9wMVh0TVdvZG91aXIzWjBkSlIvdHV3SFFSQkVvK0NqeWVSNGMvOFdMQVFpZkFINGNoejNCc2R4aVNxVjZsNUFRTUNtbEdjNkY4RDB2UGNpK1BuNUZUb2o5L3IxNnlZWmI0RGgvQzR0TTVtZW5vNDMzbmlEZlE1OSsvWTFtUTRyOWVueUMyYmoranJ5OTVIK3J0YW02RXZrV1d4eWRldld4WklsUzh4bWh6azVPYUZyMTY3WXZuMDdXclpzaVJrelptRGZ2bjJLNnhBdkx5L01uejhmbXpadFFuaDRPSm8yYllyVHAwOURwOU94MzF0YVplL2l4WXNzOE83dDdaMXZrRGNyS3d0RGhnekJsU3RYMkRMTmt2eW1yRnZxa3c4ZlBneC9mMzlNbWpRSkowNmNRRkpTRWk1ZnZtenhPTmJvMUtrVDZ0U3BnODJiTjJQQ2hBbUsxelp1M0dpeS9iNTkrM0R3NEVIMDZkUEg1SGZJRzM4Qk1IeHY1RFdSNUs4QlJjdXMvTGVqNEVNK2Z2MzFWMFVuMGE1ZE84VUpMekF3RU11WEwyZVBvNktpOFBEaFF6Yklzb2I4K0hGeGNZcmxJOVBTMG5EdzRFRWtKeWNyVW9JM2J0eUl6WnMzSzA0RTkrL2ZML1lWSDR5WHZaUlhENVova1l3SEFZOGVQVkpVVVFjTUtVaVptWms0ZGVvVXZ2enlTMVNxVkFuVHAwK0hwNmNud3NQRFVibHlaWHp4eFJjRm5qQisrKzAzazBGbzllclZpNzNncEp3OCtHQXVGYXN3NUJjUW5wNmVjSE56UTNKeU1yeTh2RmpGWUltL3Z6L0dqaDJMdDk1NnE4anZWeXFJVXVabTRSVmx2K2U5WUMzdUMxNHIzazlLYVMzcS9pVzZYMzdCbWtMU2NCem5KQWlDQ3llS05pazdIaHdjak9EZ1lLU2xwYUZkdTNhMmVBc0FoZ3YyRVNOR0tQcHppUlNzK3QvLy9xY0lHQmdMREF4a0ZjOWJ0MjZkYnhxbms1TVRkdXpZZ1czYnRtSHQyclhzN2sxMGREVHJVM055Y2xpUlhzQ1F2V2NOK1huQTNCUUZhWkN0MCtrUUdSbUp0TFEwZE92V0RVZU9ITUhjdVhNQkdQcm9uajE3QWpBRVgrN2N1WU1tVFpyZzdiZmZocisvUDlxM2I0LzI3ZHNqTmpiV2JQQ2hPUEE4endxREdrOWZLKzFFRlB4OXRlYjdiTzEzdmpqZXF6Q0s0M2htam1IdFFUa0E3c1g1T3hYWHNXejB1WmdvcGo1Y0JjQ1I0emdYdlY3dnlIRThWMnhuaGtKYXZYcTExZGxPRW5sL2EwdzYxcDkvL3FuNHJJS0RnOEZ4SEk0ZE93WVhGeGRGVFJsNXRwdnhsR0xqQzFFQWlodWI3ZHUzdHpodDRPKy8vOGJjdVhNVk5lY2t2WHIxd3BRcFUvTE5vTzdac3lmOC9mM1JxMWN2eE1URUtJb3R6cHMzRC9YcjE0ZEtwY0xBZ1FNUkdCZ0lGeGNYL1BUVFQzajY5Q21PSFR1RytQaDRSRWRISXpVMVZYSCtrZ295QTRhTDhxTkhqeXFDQVRxZHptd1d4ZlBxM2JzM2V2ZnVqZEdqUnovM3NSd2NITkNqUnc5MDY5Wk5jVjF6NDhZTmkzOFBuVTZIelpzM202eXVzbm56WnNYVUZDa29EeGorZmI3STRIVnBSTUdIZlB6eXl5K0t4N1ZyMXpZcFB2aktLNjhvMXUvZHQyOGZtd3BoS3pxZFR0RjVTUW96ZC9XTEw3NVEzTEUxRi9HVlh3eTd1YmtwQWdQeTdZMERCcXRXclRKSnUzVnhjVUZtWmliKy92dHZ2UHZ1dTFpOWVqV3FWS21DNGNPSHc5dmJHODJiTnplYnhtcXNTNWN1Q0E4UE45dGVPVmRYVnphNGx0L3RjM1YxWlIxemVubzZTNDNUYXJXczg1RHV5a25ieUU4aXo4dTR1bnF0V3JVUUd4dUxDUk1tbU14N0E2QlkyY0tjV2JObW1WVGFseFMyL29pdDVJcElWWXRpTmd6TExmS2lLSEl3VENYbFlCajRjV2FlZzVubklXMlB2Q2RGVWVUeUJnTmMzbU1ZYlF0RGhqSUgrWEdObXFoNFhqNVlFd1NCUFRBWFFURjZ2d0x2UGxyd0Q4ZHgxNlhmRlVhZmd5aUt2UHgzaHVYUGpETTZCdkQvbnpjc2JXdGhmNmxXQS9zTWpkc21lMDZWRjBCaFoydExnOWw4QWhjMzlYcjlaNklvbm9xT2pvNnJXcXZoTEk1REg1TUQySkJHbzJGOWcvd3VqL1NhbkR3QUtyK0xvZFZxa1ptWmlmZmVlOC9zV3UrMnBORm9NR0RBQVBUbzBRTnIxcXpCNXMyYkVSb2FDbDlmWHdBd2FZKzFxYUxHUVdoejdPenMwSzlmUDl5N2R3OGVIaDdvM0xtell2cENURXdNZXZic0NVRVFjT1hLRldSa1pHRC8vdjJLQVZsK2V2YnNpYlp0MjJMbnpwMVl2MzQ5eG8wYmg3WnQyNXBzOStEQkE0d2VQWnFkSHdNQ0FncDlFVklhNmZSQ21wcm5jL09tSVJqM0ExTDJnTHp2bERhVDk2WHk3eDhuN1NQclB5SC8yY0orVXIvTEhnSm0rejJUL2VSdGs3OW1aanY1ZStYYmx4amZpYmZtSWxxK1hkNzdpcUlvM3VBNDdoSCt2MThEQUY3NmZXR21IelI2amJQUXo4TDRtTEp6a2JtK0ZVYkhNM3RNbzM3YWJCdGsrOERvZUNiN3daQ0JwdWprekgyVzV2NU9lZHNsQTFpdTErc1BTTk11cXI3YWNPd0xqdU16ZXIzZTdCajVlY2tMdGZ2NCtFQVVSUVFGQlVHbjA2RktsU3BvMTY0ZCs0emtLMlFZWDVpYXkzeW9XclVxbkp5YzRPdnJpeWxUcHBoYzdLYWxwV0hkdW5YNCtlZWZ6V2FCdFc3ZDJpU2p3Snh6NTg0aE1URVJpeGN2VmdSaEhSd2NFQjBkeldyUVNRSUNBakIwNkZCa1oyY2pNek1UdTNidGdsNnZ4NEVEQnhTMTErVGowQk1uVGxqTXpKQitGNG1qb3lPQ2c0TVZyKy9hdFl0TnBlalFvWVBaTEQzanNmU25uMzdLcmp1dVhidW1HRS8zN3QwYlE0Y09OVG5HK2ZQbk1YdjJiTVZuQUpqZVVKWGZaSmJ6OFBCQVltSWkyclZycDdoQkRKU2U4WGRwUmNFSEM2NWZ2MjZTTGhzV0ZsYmdmaEVSRVlVS1BzaVh2UUVNUldObXpKZ0J3QkRZbUQ1OU9seGNYQlJmOGpadDJxQkxseTY0ZS9jdXE3enE3dTZPaVJNbklqazVXVkZQSWI5MkZrUStXRFV1SkdNOCtKYWNPblZLVVNoUk1tclVLUHo2NjYrSWpJd0V4M0dLL2J0MjdjcCt6czdPVm5UTTkrL2Z4N3AxNjVDVWxJUW5UNTVnK3ZUcGFOS2tDYzZmUDUvdnllWFRUejhGQUpNYUdGOS8vVFdieGlKZklxaEZpeFptN3l5cVZDcUxIWSsxZnZqaEI1YW1adHhoVnF0V0RUMTc5aXp5VWozT3pzNmxmcG1mTEQzM1Q3WWUzZU91Uk4zRC93OTIrTHovcEorbDN0N2taMTlmWHdpQ3dPdDBPcFUwZ05McjlTb0FuSk9URTU5M2NRNVJGRGxCRUhoUkZQbThRVFh2NHVMQ0E1Q2VaeGZ6Z2lEd2FyV2FVNmxVdlBSWWVpM3ZlWTdqT0JYeUJtM1MrK2I5ckJKRmtkTnF0ZERwZEx6eDh5cVZDcnhoa2pNdjI0LzlyTkZvT0k3alhnZlFJKysxalRrNU9Zc2NIUjFac0VNVVJVWGdRemFvWk05TC8zZHdjREM3Ylg3SGtQK3MxV29WeDh0dlcvblBHbzFHZXA5S0FMNEY4SXE1djcrRkFlc2RVUlEzQ29Kd1ZLVlNKZXAwdXJTWW1KaUNseG13b2ZEd2NLbHRDQTRPUmtKQ0FnQkRMUjc1OHJyR1MyMHVXN2JNSkFENElySm5ZbUppV0dhQk9VNU9UdGk3ZHkvcmo0M3JLeXhidGl6ZlpZTmRYRnl3WnMwYUxGdTJ6R3hCNG5YcjF1Rzc3NzREWVBnM1dMZHVYZHk3ZHcrSmlZazRlL1lzbWpkdmpqSmx5aUFqSTRNVms0eUxpMk5UTnV6dDdWRy9mbjJyZmxkN2Uzc3NXTENBL1M1ZmZmVVZXclJvd2U0c0FZWjUxRE5uem1UbkJaVktwYWc3OUcrV21ZdDdUOU16M3RFaTU0NThqalgrLytLVU4vb1pBT0RxNmlydjkxZy9KcVhjNjNRNk5zcVcra0FBY0hCd1VQU1pVRjdZUWhBRTN0N2VYbjVNaUtMSTJkblpRZGJYS1k0cDljblNZNDFHdzJtMVdvaWl5R2swR3VOdGViMWVyMWFyMVZyOGYvL044enl2RWtWUkpRZ0NyOVZxZVJqT0JXb1lycVhWUE05emVkdnhvaWlxOGg2cnBEYnhQSy9pT0k0WFJkR0Y1L2toS3BXcUZvQ2szTnpjV1lJZ3NDdExlM3Q3UmFERVV0K1k5enVhOU0zR2ZiSjhQK21pUHI5akd2ZTU4bkZEWWZZemZrM0t2SlFGblNTTEFYU1ZiU3QvelZ4Lzlrd1V4VjJpS0c3bE9DNHVOemMzSnlzcjYvYk5temZ6TC9ieWdnUUZCUlg3TVhOemN4VjFlcnAwNllMYXRXdkQxZFVWaVltSnVIdjNMdXYzQUNpV2ZqUWVvMWthUDdkcDB3Wmp4NDQxdWFGMzY5WXQ5T3paTTkrc1czTkxKMSs5ZWhWcGFXa0lDQWhneDR5SWlEQzdvazltWnFiWmFjOTZ2UjRkT25TQVdxMUc4K2JOV1ZienFsV3JrSjV1V1BCRXBWS2hUWnMyYkI4M056ZVQ0MmkxV2t5ZE9oWDE2OWRYQkNhcVZLbGlzdVQxZ1FNSFdQQmgwS0JCRnBkS2xwTUhLSXlMZGxhdVhObHNScnA4S2gxZ3ZxaisyYk5uV1QwTXRWcXR1Tzc0L3Z2dnNYSGpScnoxMWxzbVFSc0tQdVNQZ2c4V0dHYzlXT3Zldlh1NGRPbVNJZ1VwUHo0K1BvcTFhT1daRldYS2xHRUZIT1hCQjE5ZlgzVHUzQmxSVVZFcytPRG82SWpPblR2ajRjT0hWZ1VmckNIL1lob1hncFFYZUpFNnRYLysrVWNSUmVSNW5nMWExV28xRmk1Y2lEbHo1cUJ5NWNvNGN1UUl0bTdkaWlkUG5yREFRbkp5c2ttUnkrdlhyeXVXTlJzeFlnUzZkKytPT25YcVlOMjZkUVgrRGpkdjNsUThMbXcxWGdjSGh5SXZvU3FScjhSaDNMbTk5ZFpiOFBiMnRrazZXaW5FaW5uQmtBVmhGWE9wNjVMQ3JMOWRtalJxMUtneWdKNTVENTlldVhJbFByL3RTN09HRFJ0bUFzamh6TlRXQUZoeGlRd0FxUUQrQUxBcUtpcnFEN3lBMVMySzR1elpzeXp3QUJpV3dTcXMvdjM3WStIQ2hYamxsVmZRdW5WcnMvTkZuOWV6Wjg5TUF1VEc4c3ZhTXJma3FKeDB0MDdxczU0K2ZZcjQrSGpFeDhmRDFkVlZFU1MydDdkSFVGQVFDdzdzMjdjUExWcTBRSjA2ZFhEMjdGbmN2bjBiNmVucGlqVGN4bzBiV3pVdisvang0N2gzN3g1NjllcUYvZnYzUXhBRVpHUmtZT3pZc1FnUEQyY1pITXVYTDJkQlhzQlFKZDJhQW1oeUtTa3BlUFRvRVY1OTlkVkM3V2RySE1kRHJiSEx1WFBqZXFHVzVyRDA5emN1K1BheUNRZ0lLTTl4WENDQVdnRDBhclU2NmVMRmkvL2FQdmg1QlFRRXNLdGFNOWxwb2lpS09URDAzOWNCYkh6MjdObVAxNjVkZTZuK0VaMDZkWXBkYkFPR20yWnF0UnJCd2NINC92dnZBUmhTN1pzM2J3NjlYcStvS1NRZjR3T1dndzh6WnN5QVZxczErZDVXcTFZTm1abVppaHAwMW9pTWpNU3FWYXRRcGt3Wk5HM2FGQ05HakVEZXpSRkZRTm40M0cydUlDWmdDSTQ0T1RraFBUMWQ4Vm04OXRwcml1eU9ldlhxd2NIQkFYNStmaXdiUTZ2VnNxbDN4amMybHk1ZHF2aE01SUh5RFJzMktBSUxmbjUraWxXZXpERmVDdGxTbHA5eHRyaTVGZmZrV1kvZHVuVlRMRHZxNE9EQU1pems0M3lOUnBOdlBTZEN3UWV6ZERxZDRtSy9zQ0lpSXF3T1BrakxmMlZsWlNFek0xTlJPZmJwMDZmWXNXT0hTVVR6NGNPSCtPT1BQeFNkVzFaV0Z2NzQ0dytMQlF5TjdkNjlXekhOSVRBd1VQSGx6OHJLVWtRUGpXc3F5S2RWU0ozVGQ5OTl4K1lVdDJqUkFqZHYzbFJNZVhCMGRFUllXQmhhdEdoUjVPSmhUNTQ4UWZmdTNiRnQyemFydHBlbmxUazdPMXU5bkdmZnZuMmZ1OENabDVjWFZxOWVyZmlzakRNZkNsTWZ4SnhwMDZaWkxGYlRyVnMzUmVGTVFsNndSQURSSE1lZEZ3VGhENTFPRjNucDBxVlNIeTJTN3VaTHBEdFpoZEcxYTFjY1Bud1lDeGN1eElFREI0cXJhUzljZkh3OFFrTkQ4Zmp4WThWQXJVK2ZQb3JVVkVkSFI3ejIybXRzWUhyOCtISGs1T1NnWnMyYU9IdjJMRVJSUkV4TWpDSTRJSzErbEo4elo4NWc2ZEtsNk5hdEd3WU5Hb1IzMzMwWGE5YXNBV0FJbmd3Wk1nUXJWcXpBM3IxN3NYbnpaclpmelpvMU1XTEVpRUw5cnIvOTloc1dMRmlBZnYzNmxicmdBeUVsSUVzVXhjc0F6b21pZUU2djE1K0plVW51a3BnanIyTldxMVl0bG5YVm8wY1BGbnc0ZWZJa0VoSVNrSlNVcE9ndmpRUFk4cHQzOG90YjR5VTVKUnpINGROUFAwVy9mdjJRa3BLQ0JnMGFJRFEwMUdJeFJva1V4TWpJeU1DeFk4ZlFwMDhmYk5xMENmZnYzMGYvL3YyUm5aME50VnFON2R1M3N3QkpWRlFVM252dlBWWVUvSTAzM21ESHM3ZTNSL2Z1M1JWOUxRQ1RJdXhTOFhaTHdVOTUwTnpiMnh2YnRtMnpPRzFjS3ZZcGFkdTJiWUhCQitPVnBDd1Y3VGZPQmpTM1BIMnRXclhBOHp3cVZLaUFMbDI2S0lJUGN2THJwY0lHdlY5R0ZId3dJekl5VWxHWWkrTTRSRVJFc0RYT2phMVlzUUxyMTY5bmp3OGVQSWdKRXlaWWRWZm52ZmZlczFpaDllSERoNWc3ZHk3OC9mM1JyRmt6OXZ5aFE0ZE0xcHROVEV6RWh4OStXT0Q3U2V6dDdjMSswU1NSa1pHSzlLSUdEUnF3bjNOemM4M1dmQWdJQ0dCTDNJd2VQZHJzR3ZZY3g2RlNwVW93U2gyMXlNUERBODJiTjBlNWN1WGc3dTVlNkl2MVgzLzlsZjFjbUE3aC92Mzd6eDE4a01pREQ1Wk9Ma1VsUDRrVjVqVkNiRVVVeFQ5RlVkeks4L3lCbkp5Y1I1Y3VYVXBDS2MxeU1CWVJFYUVvNU9YczdGeWt3bEF1TGk3NCt1dXZiVHI5NHRWWFg3VzRWSytjSUFoWXVYS2xJZ3ZzalRmZVFJY09IZkxkVDZQUndOWFYxYVRPRVdDNitvU2pveU0wR2cxYXRXcUYvZnYzSXlNakE2ZFBuMVlFcmFPam94RVpHY2tleTlOMExWbTBhQkZFVVdRRHUvZmZmeDhQSGp4ZzB3YVRrcEl3ZVBCZ3haMjZDaFVxWU1XS0ZXYlRrTTNKeU1qQXVISGpjT0xFQ1FES0drR0V2R3hFVVh3RVlJY29pbHNFUWJpWmxKVDA1UDc5KzlhdGlWdEtiTnEwU1ZHN3l4cHZ2dm1teFl5Z08zZnVLRlpQazZZSzYzUTZsQ3RYRHRXclY4ZXRXN2NnQ0FLMmJkdG1zcEtCOFdwbDhndHRhMWZsY0hkM3h5ZWZmSUxVMUZUMDdOblRZbkZNT2VPK1RBb3dMRml3Z0kxTFhWeGNjUHIwYVhUdTNCa1pHUm40NUpOUDJMU2JmdjM2bVl5YmpXOUV1cm01S1lwbEZpUXhNVkdSVlYyM2JsMnJieVphWTkrK2ZZcmpseTlmM2lSelcyS2NhVzF1cW9TRGd3TjhmWDB4ZE9oUXM2dVdBWVpySXZtS0liVnExU3BLMDE4cUZId3d3M2pLUmVQR2pTMEdIZ0JEbEU4ZWZFaEpTY0dwVTZmTUZzUXlsbDlWMnBJa3J3bmg3T3lzaU53YXp6dVRMcWhidG13SnRWcU5IajE2NVB2bDY5cTFLeElTRXVEdTdxNzRyMXk1Y25CemM4T3dZY05ZV2xiOSt2WHgyV2VmNWR2V0hUdDJtRDNSbkR0M1RwRmFiTTJkTmx1UW45QW9GWXY4MStoME9yMUdvM2tvaXVJK1FSQyt2MmlZNEc5YUpLQVUrZXV2dnhTUHBlOW84K2JOMGJCaFEvWjY5KzdkaTl4SDI3cnVnNnVycThWaXM1STdkKzVnM3J4NUp0UFBkdTNhaGVqb2FIVHAwZ1dkTzNjMlNRdVdLMXUyTEJ2bzJ0dmJvM0xseXZEejg4TzVjK2ZZTmxKR1djdVdMVm5XNE9IRGh6Rmt5QkIwNnRRSmpSczNSdm55NWRsZ3VHclZxdm0rcDBRYUJDY2tKRUFRQlBBOGoxbXpaaUVySzR2ZEVaTUhIdXpzN0xCaXhRcFVxRkNod0dOTEhqMTZwSmkrSlorclRjakxRQlRGSkFDL0FsZ1hGUlcxRy8rU1lMRWw1Y3VYTDNTaFdVc1pwSHE5SHZQbnoxZlV3UWdQRDhmS2xTdk4xaDNidVhPbjRsak5temRYWE5RS2dsRGtHMUx5MVRTTW1idFpKcC9lb0ZLcDRPM3RqU2RQbmlneUVwS1NrakJ2M2p3c1hyd1laY3FVWWEvVnFsVkxzWXcwQUJ3N2Rneno1czFUUEplY25JeVBQLzRZOCtmUHR5cVFZcnpDa3p4d3dmTzhvcWluSkNvcUNtUEdqQ253MkgvKythZEpiVDU1elRkajhwdk1nT1U2RFNFaEllamF0YXZpbkNkMzdOZ3h4VGlmd2M2eVlRQUFJQUJKUkVGVWdnOEZvK0NEa2RUVVZIWUhSQ0l2aUdpT241OGYvUHo4RktsRUVSRVJoUW8rMk52Ync5WFZGZmIyOWl3cndOWFZGVjI2ZEVHMWF0VVVBNkozM25rSG8wYU53c1dMRi9IKysrOERNRVEwdDIvZmpvU0VCTHorK3VzRnZ1L2x5NWZCY1J5ZVBuMktwMCtmS2dad2t5Wk5VdHp0NnRLbGk2SlRNUzdTSW1WUWxDbFRCcDA2ZFRLYjhTQlgzS3VCeUZONUpUcWREb3NYTDFZOFY5QkFYVzd0MnJYUHZmeVVWcXRGWW1LaW9yaFBjVmRlSHo5K1BLc0xZc3k0d2pJaHRuRHAwcVg0cWxXcmRyNXo1MDZoNXFPWGxNT0hEMlBhdEdtSzV6NysrR1BNbkRrVDdkdTN4OWRmZjQwbFM1Wmd4NDRkQ0FrSk1kbWY0empGNE5JV1FZYnM3R3pGbk5yQ3ZJZE9wOE9aTTJld2UvZHVIRDE2MUd5eFNBQzRmZnMyd3NQREVSNGVqdHExYTZOTGx5NElDZ295V1lMejQ0OC9ob3VMQzZwV3JZcUtGU3V5dHNqVFlhVUNodi83My85WW5aemc0R0Q0K3ZwaS92ejVBQXlGZHlXV3pvM20wblJkWFYyeGF0VXE4RHlQdExRMDdObXpCMWV2WGpXN2YzWjJObWJPbkltZVBYdWlXN2R1RnZ0YjR6dGVrdkxseTV2OW14UHlYNWFlbnY3eHpaczNpNzZHZUNsejZ0U3BmRE43emJHVTZjcHhuTWwwWnVQVjNPU00rekJwQ29MRWVOV2hvdDZRTXI0TEh4TVRnN1MwTk5ZWFg3MTZWVkg3b0hMbHlsQ3IxU2hYcmh3MmJOaUFtSmdZYk5teUJRY1BIb1JPcDBOdWJxNmk3ZjcrL2toT1RvYW5weWNBdzAyKytmUG5tMTFwN3VqUm8vand3dzh4Wjg0Y1JYRk5jOEVaK2MzZDZ0V3JtNnhrWWU3dlpqeGQyWmhPcDhOUFAvMkVMNy84VXZHZTd1N3VHRHg0TUZKU1VwQ2Ftb3F5WmN2Q3lja0pLcFVLV1ZsWk9IdjJyT0k0bHNiTThxa241bXpkdXBYOXpISGNjOWVKZXhsUThNSElnUU1IRkoyUVJxTXBNRDBWTU53aGs2K0tjT0xFQ1VWSFlNbml4WXRoWjJmSGdoQi8vLzAzKzRmdTVlV0ZTWk1tQVlCaUxWNk80NkJXcTAwaXRXcTEycVNJREdDb2t5QVZlcEdNSHovZVlwdmtTNGNDaHNqdCt2WHJZVzl2ajh6TVRKUDVYdkxPWnViTW1jVSt0YUFvVnE5ZXJRZ0crZnI2bWl5Rmt4OXJhM1lBaHJ0eisvZnZoMHFsZ2thamdWcXRobHF0eGovLy9JTU5HellvT2tQamxMWG41ZTN0VGZPVFNVblQzYmx6cC9qWE5iT0JRNGNPWWRxMGFTWVg1S21wcVpnNGNTS3FWNitPMXExYm8zSGp4cWhjdVRLU2twSVVkMGZ5S3Q5anpabzFFQVFCZ2lCQXA5UGg5OTkvUjI1dUxyS3pzOUdxVmF0Q1ZibytmZm8wZERvZEhCMGRvZFZxa1p1YmkrM2J0eXNHZWVhV0dwTWtKU1hoMXExYmlJMk5SVlJVRkM1Y3VHRDI0dHJIeHdjZmZmUVJ6cDgvajMzNzlpblNkbU5qWXhFYkc0dGx5NWFoVWFORzZOS2xDd0lEQStIcTZvcWdvQ0E4ZVBBQWNYRnhlUHo0TVp5Y25IRC8vbjNGZEVHMVdzM3VDaTFZc0lBTkZ1VjNpdVJMeDdtNXViSFhhdFdxeFQ0ditiUU13RENGWXM2Y09iaDU4eWJXcjErUEV5ZE9GTGlrOUkwYk43Qmt5UklzWDc0Y05XdldSTDE2OVJBUUVLQ29nSC8rL0htVC9kNTQ0dzJNR3plT3FwU1RsODUvS2ZBQUdNYWh4WVhuZVl3Y09SS1RKMC9PZHp0N2UzdlkyOXNyTHVETGxTdUg4dVhMWThLRUNYQndjSUFvaWlaM3o0dmEzNVFwVXdaMmRuWXNFSktZbUlnZVBYcmdsVmRlUVhaMk51TGk0aFRuT1dtY21KU1VoTnUzYnlNMk5oWVBIejYwR0p6ZXVYTW5kdTNhaGREUVVKdy9meDVuenB4UnZGNjllblhjdm4yYjNhUTdlL1lzK3Zmdmo4OC8veHdhalFaWHJsd3hLWWo4MTE5L0tXNFdHbCtYQ0lKZ2N0TVFzRnhZWEsvWDQvRGh3MWk3ZHEyaUJoNWdDTTdNbkRrVFRrNU9PSGJzR0NaTW1NQmV5MXRkeDJUNmVGRnFzTzNmdjE5eFBtbmF0Q2tMMkJETEtQaGdwRisvZnVqWHIxK2g5eHMwYUJBR0RScGs5clV4WThaWVRCa3Fyb0ZPYm00dVZxeFlvY2hLa0ZKaDNkM2R6VVlyclJFVUZBUnZiMi9GbXJseVBqNCtpdUJEU1FRZUpreVlnSGJ0MnJISDY5ZXZOeWthOS83Nzc5c3NEWnJqT0h6NzdiZjVyc29nc2NVU1VJUVE2MGpCQTRtZm54L2k0dUpZZ1BEV3JWc21nNWpDOFBEd0tQUjMvUERodzlpeFkwZSsyMWdxbUhYMDZGR0xmYk5jdDI3ZE1HWEtGRGc1T2FGOSsvWVlPM1lzamg0OWlqMTc5dUQwNmROc0FDbUtJczZmUDQvejU4OGpOamFXVlNxL2Rlc1d4bzBiWi9iWUxpNHV1SFBuamxYdGtNZ0Q5V3ZYcm1WMU5lclhyNCtmZnZvSkFPRHA2WWtaTTJaZzFLaFJGcGRWdHJlM3grREJnM0h6NWsyVHdtUjZ2UjVYcmx6QmxTdFhJSW9pKzd2b2REckZ2d0ZYVjFmTW5qMmI3bFlSUXN3S0RBeEVzMmJOVUxac1dWU3ZYaDBWSzFhRW01c2IzTjNkMmY4Qnd6aFRIbndZUG53NGZIMTljZXpZTVl2SEx1cUZLcy96YU42OHVTSlRPeTB0eldJTnVlRGdZRll2d3JqUW9uUzhEaDA2NE15Wk0yeHF0VWFqd1ZkZmZXV1NCZHlrU1JPc1dMRUNlL2Jzd1lJRkM5anpXVmxaOFBMeXdyVnIxN0JpeFFyRlB2YjI5b29DOEJxTkJzSEJ3U2J0TUxmY3B5WGJ0MjlYdkwvOGQ1azVjeWJyMCtWTE1nUG1zMXlhTjI5ZXBDd1U0NkNNTlpubmhJSVAveGthalFiNzl1MURZbUlpZTA0YTBIRWNCMDlQVDhWVUNxMVdDdzhQRC9aZnVYTGxVSzVjT1J3K2ZKaEZLKzN0N1RGNjlHaFVyRmdSV3EzV2JBSER3aFM1TEU0K1BqNElEQXdFWUVnUGt5S1dvaWpDeTh0THNSNXY3ZHExMGJGalI1dTJwMG1USmdVR0g0WU5HMmJTQ1JKQ1hweTJiZHV5RlJrYU5XcUVsU3RYNHNhTkc1ZzdkMjZCeTFaYW8xT25UaGJuRGx2U3JGbXpmSU1QWGw1ZUpuZUlKTzNidDBkZ1lLQmkzWFNKdFBiNmlCRWo0T2ZucDNoTm85RWdLQ2dJUVVGQlNFaEl3UGJ0MjdGNzkyNUZlbkhmdm4zWno3Nit2aGJiVjV5RHJVNmRPdUhJa1NOc0dXa2ZIeDhNSERoUU1XVkRhbitQSGowd2ZQaHdObmlQam83R3VuWHJUQ3FkdTdpNFlOU29VZXl4V3EzR29rV0xFQklTZ2xkZWVRV0xGaTBxVkkwSVFranBWcFNMeVB3eXFqaU93MWRmZlpYdi9wR1JrWXBwRGxXcVZFSHYzcjJoMFdoUXVYSmxzNFY3TzNic0NEYzN0MEszVmZMUlJ4OGhKaVlHeWNuSitXNFhFaExDcGgzMzZkTUhQLzc0STN0TkNqcTgrKzY3cUZHakJ0TFQwN0Z4NDBhc1g3OGVuMy8rT1E0ZVBJaURCdyt5N1Z1MGFJSEZpeGZEM3Q0ZS9mdjNSMFpHQmxhdFdnVUFHRGx5Skh4OWZjMU9uYWhSb3dZR0RCaUFtSmdZSER4NEVBTUhEbnp1YWNqOSsvZkhsU3RYRkN0UVZLaFFBWFBuemxYVWtpZ29vOEhUMDlOa0txYTFwaytmam95TURCdytmQmkxYTllbUc0eFdvdUREZjBpTkdqV1FrcElDQndjSE5HclVDS05IajJhdlNYZWxLbGFzaUFvVktsaWMyelJ3NEVCTW16WU5KMCtleE1TSkU5bjZ1RFZyMXNUbHk1Zmg2T2dJRnhjWFZLbFNCUU1HREVDclZxMXMvNHVaOGRwcnI1a3RJTWx4SEFZUEhveG16WnBoK3ZUcFNFOVB4NUlsU3dwOVFWQlk5ZXZYVjh6N2tyZW5XclZxQ0FrSnlYZmVHTWR4aXNKMnRtNHZJUzhqT3pzN0JBVUY0ZGF0VzFpeFlnWHM3ZTFScjE0OWJOcTBDUmN1WE1DcFU2ZHcrZkpseE1mSEl5MHREWm1abWZuV2Z1RjVucTJSTGwzc0YxYlRwazNOSHRmVDB4Tk5temJGaHg5K21POWdldEtrU1lpTWpFUm1aaWI3ZlRwMDZJQk9uVHBaTmJqejlQVEVxRkdqTUdMRUNCdzVjZ1RidG0yRFRxZFRGTTN5OHZLQ1NxV0NYcStIV3EyR25aMGRYRnhjMExGalI0d2VQUnFYTDE4MiszdFl3M2hxNHNjZmY0d25UNTZ3Z3BURGhnM0R0bTNia0pHUmdlclZxNk43OSs3bzNyMjdJdU1PTVBUQnk1Y3Z4NE1IRDdCdjN6NFdTQjg4ZUxESmUzaDVlV0hWcWxXb1hyMDZGUUVtNUQ4bUlpS2kwQmUyZ1lHQlZxMGdZVW1MRmkzdzQ0OC80cE5QUHNIZHUzY3hmLzU4TnFacjNMZ3hIang0QUsxV0MwZEhSNVF2WHg3dDJyWERrQ0ZEaXZ4K2dDSEFzWG56Wm16ZnZoM1IwZEZJVDA5blMyUzZ1Ym1oVXFWSzZOS2xpNkpnZk8vZXZiRjE2MWJVclZzWGJkcTBRVkJRa0NMNDZ1VGtoQkVqUnVETk45K0VxNnNyV3JSb2diLy8vaHUzYjkvRzZOR2pNV0RBQUVVVzhkQ2hRMUdqUmcxOCsrMjNyRjVPeFlvVjBhUkpFOXk2ZFF2SnljbW9VcVVLeG93WkE0N2pNSHYyYkFDR2xmNk1GYVhnNU5TcFUzSGp4ZzNFeGNXaGYvLytHRHAwcUVrQmVxMVdpL2ZmZngrcHFhbkl6YzJGSUFnUVJSRXVMaTd3OWZWRjU4NmRDNndyWVlsYXJjYmN1WE9SbHBhR01XUEdtQjI3cTlWcVJZWkxVZC9ydjhTMjViaUxvT3FyRGNkeVBKWUR3TkJCSVpneGRWSkpONmxVZVBMa0NZdHV1cm01NVRzSCtIa0pnb0EvL3ZoREVWalE2L1VXbDVrcHJiS3lzcENRa1BCQ3NnMTBPaDFTVWxKWU1UcVZTc1VHNmYrMno2MDRYTDl4QzhORFA4U0RoL0VRZ2NzY3VPNXhWNkx1RnJ6bnk2RlJvMGF6QU16T2V6ajd3b1VMbjVaa2UwcWJxclVhenVJNHcrY3pkdFFJakIyVi8zcm1oWEh2M2oyNHU3dVhxcm45aVltSmlqNmpzTlBYb3FLaVlHOXZqNW8xYXhaTGY1T2RuVjJxQmtoUlVWSHc5UFNFbDVkWG9mWkxURXlFczdOenFmcGRyQlVkY3hrZlRwaUN2KzgvQUVUeFQ3MWVlT3ZlalpqYkJlOUpDaElRRUZDZTQ3Z2ZBUVNKb3ZpUElBaURMbDY4ZUxEQUhZblZYdVJZWHFmVEthWVdsK1QzUFRjM0Y3R3hzWXJsNlVzYm5VNW45UktmQVBEUFAvOGdNelBUNHBLVkFOaHFSTVpleExYRDQ4ZVB3Zk84VGErTENsSWFyNUgrUEIrRjBlTW40L0hqUkFEaTc4S3puUDUzNzE2SkwrbDJBWlQ1OEs4aFRZdDRFWGllTjhsb0tHMWZLbXZZMjl1L3NHa09hclhhNUU0Y0lhVDBlZVdWVjBxNkNTYWV0KytRcHRnVmw5SjJzVjdVMzQvNlpFTCsrNlFpMzZXQlJxTXAxWUVIQUlYK3JLeVpsbVlwVy9kRlhEc1lyOUJVRXY2TjEwZ2xpWEs3Q1NHRUVFSUlJWVFRWWxNVWZDQ0VFRUlJSVlRUVFvaE5VZkNCRUVJSUlZUVFRZ2doTmtYQkIwSUlJWVFRUWdnaGhOZ1VCUjhJSVlRUVFnZ2hoQkJpVXhSOElJUVFRZ2doaEJCQ2lFMVI4SUVRUWdnaGhCQkNDQ0UyUmNFSFFnZ2hoQkJDQ0NHRTJCUUZId2doaEJCQ0NDR0VFR0pURkh3Z2hCQkNDQ0dFRUVLSVRWSHdnUkJDQ0NHRUVFSUlJVFpGd1FkQ0NDR0VFRUlJSVlUWUZBVWZDQ0dFRUVJSUlZUVFZbE1VZkNDRUVFSUlJWVFRUW9oTlVmQ0JFRUlJSVlRUVFnZ2hOa1hCQjBJSUlZUVFRZ2doaE5nVUJSOElJWVFRUWdnaGhCQmlVeFI4SUlRUVFnZ2hoQkJDaUUxUjhJRVFRZ2doaEJCQ0NDRTJwUzdwQmhCQ0NDR0VFRUwrZTc3YjhCTysyL0JUU1RlREVGSktVT1lESVlRUVFnZ2hwSGo4SDN0M0hsNUZmYi8vLzU2VGZTTWhnQ0NMQmxrRFVSSUV4UlEwb3NWS0JXb1ZxVmErRnBTcUZRVVZaVmVrZ2lKcUJUOHNWYXRZVWNTdENrb3RVTXEreUdvZ0xCSWdRRmdDWVEvWnp2YjdJNzh6NW5CT05zaDRvbmsrcnN2ck9qUHpucG5YSkNyTWZkNkw0UzZVNUFoMEdRQWt0MXNGUlNIaE5lYS9SOElIQUFBQUFOWEM3WEN2ZDh1OUxkQjFBTFdkMiswKzU1YnIyNk9aUldjQ1hZc0h3eTRBQUFBQVZJdjltZW1iSktVRXVnNEFOUTg5SHdBQUFBQUFnS1VJSHdBQUFBQUFnS1VJSHdBQUFBQUFnS1VJSHdBQUFBQUFnS1ZxOUlTVG03L2ZxaW5UWmdhNkRBQlZkT0xFS1owOWR5N1FaUUFBQUFDb0lXcDArTEFsZmF1MnBHOE5kQmtBQUFBQUFPQVMxTGhoRnk2NWo3amxQaG5vT2dCY09yZmI3VExjeWlxd0t6L1F0UUFBQUFBSW5Cclg4OEYxM3JGWVVjRkRiSVphQkxvV0FKZXN5TzV5THptYXVlVkVvQXNCQUFBQUVEZzFMbnpJenM0NEtXbDJvT3NBQUFBQUFBRFZvOFlOdXdBQUFBQUFBTDhzaEE4QUFBQUFBTUJTaEE4QUFBQUFBTUJTaEE4QUFBQUFBTUJTTlc3Q1NRQUFQTlordDBIU3pFQ1hBZnlrY25LTzY4elpzNEV1QTdnbzlkdTBpWWt3d2xPRFpEUUtkQzFBN2VZcWRqcGMzeDNNM0xZbjBKVjRFRDRBQUdxc2RlczNhdDM2allFdUF3QlFTVkcyaUJzTnQ5NHlERFVPZEMxQXJlWTJpb09EYk84MGFOZHUrUEh0Mi9NQ1hZN0VzQXNBUUEzamRyc1BTdTRhOFlja0VFaHV0OXZsTnBUdE1Jcm9Cb0dmRGNPbGxnUVBRQTFnR0tHeUdkZEVubmZIQkxvVUQzbytBQUJxbENMbitmbWhSa1NRVFVIODVSVzFuTHZZNlhJdE92ekREeWNDWFFsd01WcTJhSzRPVnljRnVneWdWc2s5Y1ZMcnZ0dWd3cUtpUUpmaWcvQUJBRkNqSE0zTVBDN3A3VURYQVFDNE5OMVNiOURZa2M4RXVneWdWbG0vY2JPMjc5eWx3dU0xTDN4ZzJBV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CVWNLQUxBQUFBQUlDZjB1Yk5teFVmSDY4cnI3eXkzSFpGUlVWYXVuU3B1ZDJrU1JNbEpTVlYrWDdqeDQ5WGNYR3hKT25lZSs5VisvYnRLM1hlckZtemRPREFBVW5TN2JmZnJzNmRPM3NkUDNMa2lESXlNaVJKWVdGaDZ0YXRXNVZycTA1NWVYbXkyKzJxVzdkdVFPdTRXQWNPSEZCQlFZRWtLU29xU2syYk5nMXdSYjhzaEE4QUFBQUFhZzJYeTZWeDQ4WXBPenRiSFR0MjFCLy8rRWVscGFYNWJmdmhoeDlxMnJScDV2YW9VYU1xREI5eWNuS1VsWldsNU9Sa2hZV0ZTWkwrODUvL3FMQ3dVSktVbHBaVzZmQmgrZkxsK3Y3Nzd5VkpiZHEwOFFrZjFxOWZyeGRlZUVHU0ZCOGZyMFdMRmxYcXV0VnB5NVl0V3Jod29UWnYzcXpkdTNlclI0OGVtamh4WXFYUHo4L1BsOVBwclBhNmdvS0NGQmtaV2FWenhvNGRxMjNidGttU09uZnVySmt6WjFaN1hiVVo0UU1BQUFDQVdtUGx5cFhLenM2V0pHM2F0RW0zM0hLTDMzWW5UNTdVZSsrOTU3WHZ2ZmZlMDI5Kzh4dEZSVVdWZWYzbHk1ZnI1WmRmVm1ob3FNYU9IYXVlUFh0V3FpNlh5MlVHRkRhYlRlSGg0WlU2cnl6UFAvKzhGaTllWE9YelZxMWFWYVgyeDQ0ZDA5eTVjODN0Ly83M3Z6cDkrclRpNHVJcWRmN2d3WVBOZ0tVNmRlellVVysvL2JZa3llbDBxcWlvcU1KelhDNlgxK2Y4L1B3S3p3a05EVlZ3TUsvVmxjRlBDUUFBQUVDdDhlNjc3NXFmRXhJU2RQZmRkL3R0OTdlLy9jM241ZlBJa1NONjlkVlg5Znp6ejVkNS9hMWJ0MHFTaW91THF6VDhJQ01qUTMvNjA1OGtTYTFhdGRMSEgzOWM2WFA5S1M0dU5zT01pMVZVVktUVHAwK1gyeVlwS1VsMTZ0VFIyYk5uSlVrT2gwT2ZmLzY1N3JqampuTFB1K3l5eTJRWXhpWFZWMWtiTm16UVgvN3lseXFkczNIanhrb05ZM24rK2VmVnUzZnZpeTJ0VmlGOEFBQUFBRkFyckZtenhnd0hKR25Zc0dGK3Y3VmV0bXlaRml4WVlHNDNhZEpFaHc0ZGtpVE5temRQclZxMTBuMzMzZWYzSHA1dSs1SzBlUEZpclYyN1ZnNkh3OXozOWRkZmU5VWdxY2Erdks1ZXZWckRoZzJyOG5uVHAwL1g5T25UeTIyellzVUtuMkVSTnB0Tm9hR2hYdnVLaTR2TkhnbitqcGZWRmpVUDRRTUFBQUNBWHp5WHk2VTMzM3pUM083ZXZiczZkdXlvQ1JNbXFILy8vcnJpaWlza1NTZE9uTkNFQ1JQTWRrbEpTWm8rZmJvR0RCaWdQWHYyU0pKZWYvMTFOV3pZMEdmSVJtNXVydmJ2MzI5dWYvbmxsejUxckZpeFFpdFdyUERhbDV5Y3JQcjE2MWZxT1pZdFc2Wk5telpKa2xtUFZESjN3dC8rOWpkSkpUMG5TbXZldkxsR2p4N3Q5M3FMRnkrKzVGNFcxU1V0TFUyVEowODJ0My80NFFjTkdEQkFoWVdGQ2c0TzF0U3BVM1g5OWRlWGVmNVRUejJsWmN1VytleXZVNmVPT25ic1dPSDlkKzdjYWZaMmlZNk9WdXZXclNzOHA3Sy9OeEErQUFBQUFMVlNTa3JLM1M2WDY2amRidjl1Ky9idHhZR3V4MnBmZmZXVmR1M2FKVW1LalkzVmlCRWo5T1dYWCtxTEw3N1FWMTk5cFg3OSttbklrQ0Y2OXRsbmRlTEVDVWxTU0VpSXhvMGJwNmlvS0wzeXlpdTYvLzc3VlZCUUlMZmJyWkVqUjJyY3VIRmVjenFzWHIzYTh1ZFl2MzY5NXN5WjQ3Ty9zTEJRczJmUGxsUVNySlR1MFJFVkZhV1VsQlMvMTl1eFkwZWw3MzJwODFDVVZ0R1FpNnlzTEQzKytPUG0wQkduMDZtbm5ucXF6UGF6WnMwcTgxaGlZcUk1LzBONUhuamdBYlBuU21KaUloTk9WalBDQndBQUFLQjJ1anNvS0tpZnpXYkxTVWxKZWR2cGRNNCtlZkxrZ2V6czdDSkp2NmkrNjdtNXVab3laWXE1UFd6WU1FVkZSWm56UHppZFRzWEZ4V25TcEVuYXNtV0xWN3Ztelp0TEtwa2ZZdkxreVJvNmRLZ2NEb2VjVHFmR2poMnJJMGVPYU9EQWdUSU13MnV5eGlGRGhxaGx5NWFTcEtlZmZ0cGNhblBnd0lFK1FVRGJ0bTNOWVIwMWxjMW1xL0prbEJmcnUrKyswNGdSSTNUbXpCbHpuOXZ0TG5jT2k0cUdXK3pkdTFjdnZmUlNoVzA4ZHV6WW9VR0RCcFhiZnZUbzBVcElTQ2kzRFg1RStBQUFBQURVWW9aaE5KUTBKaWdvNk5rR0RScHNhZENnd1JLWHk3Vyt1TGg0NDQ0ZE93NUljZ2U2eGt2MWozLzhRK2ZPblRPMzMzbm5IYjMyMm12bVpJb0pDUWs2ZCs2Y3Z2amlDN1BOYmJmZDVqTVo1UTAzM0tDLy92V3ZHalZxbE56dWtoL0w5T25UdFhIalJrMmVQRm5YWFhlZDl1N2RxNXljSE4xNzc3MEtDUW1SVlBMaTd0R21UUnVscHFiNjFHaGwrSER1M0RtZm9SNGVwVis0cThMbGNwblB0Vy9mUHYzdmYvL1Q4dVhMbFpLU29pRkRobmkxUFhueXBONS8vMzExN3R4WkhUdDJMSE1KVEx2ZHJxbFRwK3FERHo3d0NoUDY5T21qVzIrOTFkdytkdXlZWG4vOWRaMC9mMTVTeWJDVmlrS0E4K2ZQbThOVktpTXZMNi9DOXBWWkRRTS9JbndBQUFBQUlNTXdRaVZkSitrNm04MTJLanc4L0dCS1NzcG1TZjh0TGk3K0ppTWo0MlNBUzd4b0Y4NkJVSHBlQnFuazVmV0REejd3MnJkbnp4NDk4TUFEZnE4WEVSSGg5ZUtaazVNand6Q1VtNXVyVzIrOVZRY1BIdlJhVmFQMGhKT0xGaTN5bXF2QjQ3cnJycXZVc3p6MjJHTjY2S0dISkVrdnYveXlGaTFhSkVtcVc3ZXVQdnZzTTBrbHcwVmVmUEZGcitjZE9uUm9wYTVmbnZ6OGZIM3p6VGY2NUpOUGRQLzk5NnRQbno2U3BDKysrRUlmZmZTUnBKSVFaZkRnd1FvS0NqTFBXN05taldiUG5xM1pzMmNyS0NoSVU2ZE9WWmN1WFh5dW41MmRyUzFidHNqbGNpazZPbHBCUVVFNmMrYU12dnJxSzBWR1JtclFvRUZhdG15WnBrMmJaZ1lQYmR1MjFaUXBVeFFXRm5iSnp3ZHJFVDRBQUFBQXRaem5XM3dQd3pEcVNxb3I2UnBKRDRTR2hwN3AyTEhqMThYRnhXL1liTFlkNmVucFJaSWNmaTVWSTZXbHBXbml4SWsrenltVnJEUXhaTWdRZmZmZGR6cDgrTEFNdzVEYjdWWm1abWE1MXh3NGNLQSsrZVFUNWVYbDZaRkhIcEhUNmRSYmI3MVZZUzJMRnkvMnUvL2FhNit0MUxORVJFUW9JaUpDaFlXRlhuTk1HSWFodUxpNFNsM2pZbzBaTThhYzBISE9uRGxtK05DOWUzY3pmRGg1OHFUV3IxL3ZGUzZzV2JQRy9PeHl1WlNZbU9qMytzMmJOOWZFaVJNMWRlcFVqUnc1VWc2SFE0TUhEOWJodzRjMVo4NGNmZkxKSjNJNm5XYjdQbjM2Nk5sbm42M1VYQlJKU1VrVnpza3hhTkFnWldSa1NKSTZkZXFrcVZPbmx0dSt2SlUzNEl2d0FRQUFBTFZScE0xbXV6TTVPZG4vVzFBdDRIYTdXNWMxNlovbkpkMXozRENNV0VsL0RBME43ZWQydTNjbkp5Y3ZNUXdqdytGd2JIRTZuUnRyK29TVjhmSHhtamx6cHVyWHI2K1ZLMWVhcTBMRXhzWnF5SkFocWxPbmppWk5tcVRSbzBmcnR0dHVxOVRraEttcHFlclZxNWVtVHAycVcyNjV4ZndtL3FmeTlkZGZlOTN6M0xseldyQmdnVzYvL1hhZnlSeERRME4xK2VXWCs3M08yYk5uZGVyVXFVcmRzMmZQbm1iNHNIdjNicTFmdjE2ZE8zZFdodzRkRkJjWFp3NWpXYmh3b1JrK3VOMXVyVjI3MXJ4R1VsS1NZbU5qeTd4SDY5YXQ5ZEpMTHlrakkwTWJObXp3NnRGUU9uZ0lEUTJWM1c3WC9QbnoxYnAxYTExNTVaVityK2QwT3BXYm0xdXA1eXZkUThYaGNKalBVNUY2OWVyNVhiSVYzdmdKQVFBQW9OWXhEQ05hMGlNVnpiai9TK2FudDRQUC9ndERDRW5CaG1Fa0dvYVJLTWtSSEJ4OEtDZ29hRmZIamgzbkZ4Y1hmNVZuL3drS3YwaWRPblZTYm02dTNubm5IWFBmMEtGRHpkNEM3ZHExMDl5NWMrVnl1WFRublhkV2VMMzQrSGlGaElUbzFWZGZsVlRTSTJIaXhJbCsyejcvL1BPeTIwdCtPUGZkZDUrU2twSjgybmptaDZnTXA5TnBybXpoWWJmYk5YYnNXTTJkTzFmRGhnM3pPdGE2ZFd1OS8vNzdmcS8xMFVjZjZiWFhYdk43clBTOEN6YWJUV2xwYWFwYnQ2NFpWbnowMFVmcTNMbXpiRGFidW5YcnB2bno1MHVTbGk1ZHF0R2pSeXNvS0VnN2QrNzBDamU2ZHUxYTVuUHQyYk5Idlh2M0xuUCtpOGFORyt2SWtTTnl1OTBxTGk3V2dnVUx0R0RCQXEvakY4ck56ZlZha2FTeXRtelpVdW56NXM2ZGEwNHVpcklSUGdBQUFLQldLQ29xT2hNV0ZuYlFNQXlucEtBS1Q2aWxLaGxDU0NWQnhKV1NHa3ZxR0JJU01pRFU2VnhybDAwMTFZc3Z2bWhPUEptU2txSmV2WHA1SGZkMG83K1lKU1dEZzROMTIyMjMrVDAyZnZ4NE0zem8wS0dEMStTSkhsdTNicTMwdmI3NjZpc2RQSGpRNzdGdDI3YnBtV2VlMGRWWFgxM3A2NVdsZEUrRDRPQmdCUWNIcTFldlh2cm5QLzhwU1ZxeFlvV3lzN1BWdEdsVGRlM2ExUXdmenB3NW84MmJONnRUcDA0K0syUjA2OWF0elB1MWFORkNPVGs1WHVGRFdGaVk3cnp6VHZYdDIxY0pDUW5LeWNuUmYvN3pIeTFjdUZDN2R1MHlBNUpldlhycDdObXpPbno0OENVL042eEIrQUFBQUlCYVlmdjI3Y1ZKU1VsVGc0T0RqOXBzdHFoQTF4Tm9icmY3ZHNNdzJ2alo3OU8yakI0aUJ5VnRrTFJKMHVMOC9QeU1Za1VNTkdwbzl2REJCeCtZS3o0RUJ3ZHIxS2hSS2lvcTByRmp4K1J3T0xScjF5NTkrKzIzVmI1dWNuS3lCZ3dZSUtua3BmdkNYZ2VTVkZSVVpINmVPWE9tNXM2ZDYzVzhiOSsrWlE2THVGQmVYcDVtenB6cHN6OHNMRXdSRVJFNmZmcTBCZzBhcEEwYk5wakhDZ3NMdFd2WExyL1hPM2JzV0puM0tqMnN3OU16NC9lLy83MFpQcmpkYnYzclgvL1M0NDgvcmk1ZHVpZzRPTmdjdXJCczJUS2Y4T0d5eXk1VG16WSsvOHA1R1Rac21KWXVYYXFycjc1YS8vem5QNVdlbnE2UFAvNVlDeFlzMEJWWFhHSCswNzkvZjlXdlgxL256cDNUdm4zNzFMdDNiMDJZTU1IdnorV21tMjRxODM1YnRtenhXdEt6OVBQNlc1VkVrdGF0VzZjT0hUcVlJVlYwZEhTNXo0UVNoQThBQUFDb05iWnQyNVl1S1QzUWRkUUVLU2twbDBzeTN3UXJFenE0M2U0aVNmK1Q5Sm1rRGNYRnhRY3pNakpPNmY5ZmpqT2hUYktGRlYrODNidDNhOHFVS1Y3N0Jnd1lvTHk4UEVrbGN4azBiZHBVSzFldXJQSzFTMDg2YUxmYksxeWVjZCsrZmRxM2I1L1h2bTdkdWxVNmZKZzJiWnBPbkRnaHFXU29SMEZCZ1NRcEtpcEtzMmZQMXJScDA5U25UeCt2OENFek0xUDMzWGRmcGE1Zld1bmxTYU9pU3ZLNlpzMmFLU1VsUlpzM2I1WWt6WjgvWDQ4KytxaWlvNk9Wbkp4czNuZkZpaFY2NktHSHRHM2JOdk1hYVdscEZkN3ptbXV1MFRYWFhDT3BaRFVQajdObnoycmJ0bTFlMTVPa2UrNjVSOE9IRHkvemVuRnhjWHI5OWRkOTlydmRiazJmUHQyY3cwSTJ2UXNDQUFBZ0FFbEVRVlFxNmZGU1dGZ29xZVIzMmFOSEQvM21ONzh4ajU4NGNVSXZ2UENDQ2dzTDFiQmhRejMvL1BNVlBnOStSUGdBQUFBQW9LemVEUVZ1dC91Y3BHMkdZZnpMNlhSK2twNmVYdlpYNVRYVTVaZGZicTVpSVpWTUp1Z0pIaVFwSmlZbVVLVlZtV2Z5Uk1NdzFMZHZYN01YZ2lRMWJOaFE0OGVQci9aN1NkNC9vNTQ5ZTVyaHc0a1RKN1J5NVVxbHBhVXBOVFhWREIrT0h6K3VlZlBtZWMwYlVabndRU3JwaldDMzJ6VnIxaXc1blU1bFoyZnJ3SUVET25qd29CbmVIRDE2VkpMVXZuMzdLai9YNmRPbk5YNzhlSy9nSVNvcVN0T25UOWQ3NzcybnBVdVhTaW9KUDlxMmJhdUVoQVF0WExoUWt5Wk5NaWVobkRkdm5qcDE2cVRmL3ZhM1ZiNS9iVVg0QUFBQUFOUnlmbm80YkZkSkQ1SGxEb2RqNWRhdFczZm9aN1MwNW9XaW82UFZybDA3ODF0end6QVVHeHVyK1BoNDFhbFRSMjNidGxWcWFxcjVjbnpnd0FHTkdESENQUCtPTys0d2V3NnNXclZLcWFtcDVzK3NyT0NpWHIxNm1qVnJscVNTWVJXZWI5UkhqQmloWC8zcVY1bzFhNVkrLy96ektqL0xOZGRjb3lWTGx1aldXMjlWOCtiTkszV09ZUmhlcTBhVTVuQTR2Rlo1S0szMC9Ba05HalF3UC8vNjE3L1dLNis4WXM1ajhlV1hYeW90TFUxcGFXbkt5OHZUOWRkZnJ3NGRPbWpjdUhIbU9kSFIwWlZlVG5UaXhJbmFzMmVQcEpLZUpZMGJOMWF6WnMzVXJGa3ozWHp6elJvNGNLQWFOV3FrTTJmT3FFbVRKcFc2cHNlcVZhczBmdng0bnhVd3hvd1pvNlNrSkEwYk5reHIxcXhSVVZHUnpwMDdwOGNlZTB6Tm16ZjNXaTdVOC9Nb0hheWdZb1FQQUFBQUFPUjJ1NDlMV2lUcEM0ZkRrVkZRVUhBNE16UHpiS0RycWk1UFB2bWs3SGE3bWpadHFzc3V1MHhCUWI1emp0YXZYMStTTkgzNmRITmYwNlpOTlh6NGNCMDZkRWd2di95eXRtelpJa2thT0hCZ3VmZXoyV3grVjErb1c3ZXVHamR1Zk5IekJDUWxKU2trSkVTREJ3K3VjSWlIUi92MjdTOXF0WXZTdzBNYU5XcGtmbzZKaVZIWHJsMzF2Ly85VDFMSkpKY0ZCUVc2OHNvcjlkaGpqMGtxbWF4eTllclY1amszM1hSVHBaYWp6TTNOTllNSFNTb3VMbFpXVnBheXNySjgydGFwVTBmTm16ZFhXbHFhL3QvLyszL2xYdmZ3NGNONi9mWFh6Wm92RkI4Zkw2bWtsOHlJRVNQMHdnc3ZTSktPSGoxcTlyS1FTb1p4REJnd1FIMzc5aTB6MElGL2hBOEFBQUJBTGVSMnV3c2tIVElNWTczRDRYZ3ZQVDE5WHFCcnNsSnlzdi81S002ZE82ZERodzZwYmR1MmtxUnZ2LzNXblB2QlpyUHB4UmRmVkdSa3BIYnMyR0VHRHpObXpGQnljckk2ZHV4WWJmWFZyVnRYZmZyMGtlVDlvbitodG0zYmFzQ0FBV3JhdEdtbHc0ZUxrWmVYNS9YQ241Q1E0SFc4ZCsvZWNqZ2M2dFdybDI2ODhVYWZwVUkzYjk2c3MyZC96SzV1dWVXV1N0MDNQRHhjcjcvK3VnNGRPcVJEaHc0cE96dGIrL2Z2MStIRGg3MVczNUJLNW9INC92dnZ5KzFSa1p1YnE1a3paMnIrL1BsbDl2QzRVTy9ldlhYdzRFRzkrKzY3WHZzdnYveHl2ZlBPTytYK2ZsQTJ3Z2NBQUFDZ0ZuSzVYRE9kVHVlRWpJeU16RURYWXJVREJ3NG9JeU5EdWJtNXlzbkowZEdqUjNYa3lCRWRPblJJNTg2ZFUzaDR1RmF0V3FYczdHeXZTUTRmZlBCQmM4bkszcjE3YTlHaVJWcTllclZjTHBkR2poeXBqei8rV0hYcjFxMVNMU2RQbnRUZXZYdTFjK2RPYzU5aEdHcmF0S21lZSs0NXI3YWxWNXZ3aUlpSTBFTVBQVlNsZTBvcTg4VzdyS0VEYTlldTlkcU9qbzdXdW5YcnpPMndzRERkZSsrOWt1UTNCUEVzdXltVmhEZzJtODNyL05LclJWeDRIMytyVXpnY0RoMCtmRmg3OXV6UnZuMzd0R2ZQSHUzY3VWTUhEaHpROWRkZjcvY1pwSks1Si83MXIzOTU3UXNQRDljRER6eWd2Ly85N3o3dFQ1dzRvVldyVm1uLy92MEtDZ3J5Q2p5T0hEbWl2bjM3cWwrL2Z2ckRILzVnOXBSQjVSQStBQUFBQUxWUWVucjZ1b3BiL1RJc1hiclVaN1dMMGtKQ1FwU1RrNlBISDMvY1hPR2hmZnYyZXVpaGgyUzMyMVZVVktUQ3drSU5IRGhRMzMzM25Sd09oM0p6Yy9YaWl5K1dPV1NoTEpzMmJkS2tTWk84OXNYR3hxcXdzRkR6NXMxVFZGU1VRa0pDbEpXVnBjek1IM09oeU1oSTg3Ty9JU1BsMmJadFc3a3Y2UDc4NXovLzhicmZvVU9ITG5veVM1ZkxwYUZEaDNydCsvenp6MzE2VTZ4YXRjcHJkWW5LaUk2TzFxaFJvMlN6MmZ3dW1abVltS2lFaEFTekYwZkhqaDMxM0hQUHllbDBlb1VQbjMvK3VkNTQ0dzN0MkxIRDNIZnR0ZGZxMWx0djFXdXZ2V2FHTi9uNStYcnZ2ZmYwM252dnFYMzc5dXJhdGF2NjlPbWpoZzBiVnFudTJvandBUUFBQU1BdldtVjZKNHdmUDE0SERod3d0M2Z0MnFVdVhicjRYWUxVWStuU3BmcjY2NjkxeHgxM1ZMcVdqaDA3YXRHaVJlYTJZUmpxMkxHandzUEROV1BHREsraENxVTFiZHEwMHZlNFZObloyVjRyUVZ4NzdiV0tpSWl3L0w1RlJVVTZmdng0dFY4M0xTMU5DeGN1MUJOUFBLRmYvL3JYa3FTWk0yZDZ0Vm00Y0tIUGVjSEJ3YnJubm51VWtwS2lDUk1tYU92V3JWN0hNekl5ZFA3OGVmM3hqMytzOXBwL2lRZ2ZBQUFBQVB5aWVjS0htSmdZTlczYVZNMmFOVk9EQmcxVXYzNTkxYTlmWHcwYk5sUkdSb2JYVUlQS3pnOHdlZkprZGVyVVNZMGFOVkp3Y0xDdXV1b3FTU1dyWGZnVEh4K3Z0bTNiNnZUcDAyclVxSkg2OWV0bkJndUppWWxlUXhNOFdyWnNxUTRkT2xUcG1TOUZaR1NrcnI3NmFuT09pOXR2djEwblRwejR5ZTVmM2U2Ly8zNDkvUEREQ2cwTk5mZFZ0THhxUWtLQ3VuVHBJa2xxMWFxVjNudnZQUzFjdUZEdnZ2dXUyU01sTkRSVXI3enlpcUtpb3F3ci9oZUU4QUVBQUFEQUwxcW5UcDIwWk1rU3hjYkdsdG1tU1pNbVhrTXp3c1BEVmJkdVhjWEZ4U2syTmxaMTZ0UlJURXlNWW1KaUZCMGRyYzgrKzB4SGp4NVZreVpOVkZCUUlLbGtKWVJQUC8yMHdubysvUEJEdi90YnRHamhGVDdVcVZOSG5UcDEwckJodzJTejJTcjd1RDVhdFdxbEYxOTgwZSt4QlFzVytLeUVFUjhmcjcvLy9lLzY2MS8vcW5YcjF1bTIyMjdUK2ZQbmxacWFldEUxWE1qZlNpQ3BxYWthT1hMa1JWL3p4UmRmOUJ2ZStPdjVjdGRkZDJuV3JGazZlZktrV1UrWExsM1V1WE5uZGU3YzJlY2N3ekIwMjIyM3FVZVBIdHF3WVlPKy92cHJKU1VscVVXTEZoZGRiMjFqVk53RUFGQ2RPbmJzK0x3a3o4TFg0elp0MnZSQ0lPc0JBS0M2SkxSSkhtTFk5SVlrRGVoL244YU9mQ2JRSlZYSit2WHJWYTllUFRWczJMRENiN1BYcjErdmpJd00zWC8vL1pWYVFySXlIQTZIN0hhN2JEYWJnb0tDTHVtNmVYbDVLaXdzbEZReXAwVlp3VXRoWWFIeTh2TE03UXNuVWN6S3l2S1ptNkU2T1oxT2MyaUxaMkxLbjhyWFgzK3RZOGVPcVh2MzdwWSs0MDlwL2NiTkd2elVzenArUEZlU2U2VXJ2L2llL2Z0M0hBbDBYUkk5SHdBQUFBQkFrdFM1YytjcXRhMUsrOG9JRGc2dXRpQWpPanBhMGRIUkZiWUxEdy8zdStxRWg5VXY1VldkUExNNlZXV3VEbHk2bnk1V0FnQUFBQUFBdFJMaEF3QUFBQUFBc0JUaEF3QUFBQUFBc0JUaEF3QUFBQUFBc0JUaEF3QUFBQUFBc0JUaEF3QUFBQUFBc0JUaEF3QUFBQUFBc0JUaEF3QUFBQUFBc0JUaEF3QUFBQUFBc0JUaEF3QUFBQUFBc0JUaEF3QUFBQUFBc0JUaEF3QUFBQUFBc0JUaEF3QUFBQUFBc0JUaEF3QUFBQUFBc0JUaEF3QUFBQUFBc0JUaEF3QUFBQUFBc0JUaEF3QUFBQUFBc0JUaEF3QUFBQUFBc0JUaEF3QUFBQUFBc0ZSd29Bc0FBQUFBOE12ejRjZWY2ck12NXdXNkRLQldjVHFkS2lnb0RIUVpmaEUrQUFBQUFLZ1dicHZzY3J0ZGhtSFlpdTEyRmR2dGdTNEpxTFhjYnRrTGJFR3VRTmZod2JBTEFBQUFBTlhDNVhSdGxaUVo2RHFBMnM0dGQ3N2tXaEZxUDMwMjBMVjQwUE1CQUFBQVFMVTQrRVA2bW9TRWRqY3BJaXdzMExVQXRWbHhzY1BsekxPZHpNbkpMZ2gwTFI2RUR3QUFBQUNxaXlNcmEvdlJRQmNCb09aaDJBV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BVTRRTUFBQUFBQUxCVWNLQUxBQUFBQVBETFVMOU5tNWdJSXp3MVNFYWpRTmNDMUc2dVlxZkQ5ZDNCekcxN0FsMkpCK0VEQUFBQWdHb1JaWXU0MFhEckxjTlE0MERYQXRScWJxTTRPTWoyVG9OMjdZWWYzNzQ5TDlEbFNBeTdBQUFBQUZCTkRKZGFFandBTllCaGhNcG1YQk41M2gwVDZGSTg2UGtBQUFBQW9OcTFiTkZjSGE1T0NuUVpRSzJTZStLazFuMjNRWVZGUllFdXhRZmhBd0FBQUlCcTF5MzFCbzBkK1V5Z3l3QnFsZlViTjJ2N3psMHFQRjd6d2dlR1hRQUFBQUFBQUVzUlBnQUFBQUFBQUVzUlBnQUFBQUFBQUVzUlBnQUFBQUFBQUVzUlBnQUFBQUFBQUVzUlBnQUFBQUFBQUVzUlBnQUFBQUFBQUVzUlBnQUFBQUFBQUVzUlBnQUFBQUFBQUVzUlBnQUFBQUFBQUVzUlBnQUFBQUFBQUVzUlBnQUFBQUFBQUVzUlBnQUFBQUFBQUVzUlBnQUFBQUFBQUVzUlBnQUFBQUFBQUVzUlBnQUFBQUFBQUVzUlBnQUFBQUFBQUVzUlBnQUFBQUFBQUVzRkI3b0FBQUFBQUtodERoOCtyUHo4ZkhPN1pjdVdsdDR2T3p0YkRvZERraFFWRmFVR0RScVl4OXh1dHd6REtQZjhjK2ZPS1NZbXh0SWFxeUluSjBkNzl1eFJibTZ1ZXZmdUhlaHlVQW1FRHdBQUFBQmdnVU9IRHFseDQ4WitYK3pIangrdjlldlhtOXNiTjI2MHRKYkhIbnRNMmRuWmtxU2JiNzVacjc3NnFvcUtpalIzN2x4OSt1bW5takpsaXE2NjZpcWY4NDRjT2FLSkV5ZnF3SUVEbWpWcmx1cldyV3RKZlFVRkJjckp5VkZXVnBiMjdkdW5mZnYycVcvZnZycjY2cXQ5Mm80Wk0wYi8vdmUvemUzazVHUmRjY1VWbHRTRjZrUDRBQUFBQUFEVkxDOHZUM2ZkZFpjaUlpTFVzV05IcGFhbTZxNjc3Z3BZUFNFaEllWm50OXN0U1hyeXlTZTFidDA2U2RLUUlVUDB3UWNmS0M0dXpteVhuWjJ0UC96aER5b29LRERidi8zMjIrYTFwa3lab3J5OHZDclZFUndjck9IRGgwdVMxcXhabzlkZmYxM0hqaDN6ZTUyRWhBUzUzVzRkTzNiTWEzL3BYaHVTOVBiYmIrdW1tMjd5ZTcrdVhic3FQRHk4U2pYQ0dvUVBBQUFBQUZETkZpOWVMTHZkTHJ2ZHJxVkxseW95TWpLZzRVTm9hS2o1MmVWeVNaSkdqUnFsL3YzNzYrelpzenA4K0xDR0R4K3VHVE5teUdZcm1ScXdhZE9tNnRXcmx6NzU1Qk5KMHRhdFcvWEtLNjlvOU9qUmtxU3Z2LzVhSjArZXJGSWQ0ZUhoWnZnUUhCeXN2WHYzbHRsMisvYnQyclp0bTVZdFcxYnVOUmNzV0tBRkN4YVVlWXp3b1daZ3dra0FBQUFBcUdiZmZQT04xM1oxejB0UVhGeXMvUHo4U3Y4VEZCUmtudXR3T0pTZm42LzQrSGc5OTl4emtxUldyVnJwVDMvNms0cUxpNzN1OC9UVFQ2dDkrL2JtOW9ZTkczVDY5T21McmpzNCtNZnZ2eSsvL0hLL2JSbzNicXpmL2U1MzZ0NjkrMFhmQnpVUFBSOEFBQUNBV3FoeDQ4YVJodzhmenErNEphcHE5KzdkMnJScGs3a2RIUjB0cWVURjNlUGN1WE5lNTVRKzVrK3JWcTBVR3h0cmJrK2VQRmxmZlBIRlJkVzNldlZxZGV2V3phZm13WU1IS3o0K1hsOTk5WlcyYnQxcUh2dmQ3MzZuakl3TXRXM2JWZzgvL0xCMjdkcWxWcTFhNlE5LytJUE9uejh2U1hyLy9mZk45aDA2ZEZCeWNySzV2V2JOR3Yzd3d3K1N2TU9IUm8wYWFkU29VYXBmdjc2V0xsMnFlZlBtU1pMdXVPTU9QZnp3dzVKSzVxZndUSlI1TVR3L2V3UWU0UU1BQUFCUUMxMTIyV1dqR3paczJORGxjbjM2L2ZmZi8xZlN4Yi9od2N0SEgzM2t0WjJYbDZkSEhubWszSE04TDl0bGVmUE5ONVdhbW5ySnRWWEd3WU1IOVplLy9NVm4vODZkTy9Ya2swOUtraVpObXFRSEgzeFFVc2t3anRMaFE5ZXVYVFZ3NEVCeisvVHAwMzdEaCtEZ1lITW95czZkTy8zV0VoRVJvYmZmZmx1elpzMnEwak84OWRaYlhqMDJFSGlFRHdBQUFFQXRaQmhHQzhNdytnVUZCVDJZa3BKeXlEQ005MTB1MTZ6YzNOenM3T3pzWWtuT1FOZjRjNVNkblYzbS9BTldDUW9LVWtSRVJMbHRDZ3NMelI0RU5wdE5rWkdSZnR0ZFRFK0JDNGRxaElXRmVXMTc1cGlRdk1PSEgzNzRRUWNPSEpBa3I3a2Y5dTdkcThXTEYwdVNrcEtTVkZ4Y3JNTEN3aXJWVlBxZXFCa0lId0FBQUlCYXpqQ01KcEpHR1lZeHRFR0RCdDgxYU5EZ2YyNjNlNFBMNWRxUm5wNitMOUQxL1p4TW16YnRrb1lKWEl3YmJyaEJVNlpNS2JmTnVISGpOSC8rZkVsU1ltS2kvdm5QZjViWmR2ZnUzVDZUTkRxZFR0bnRkbk83OVBFTG45ZmZ1UjZsdzRkNTgrWnB6cHc1UHZkZnZIaXhHVDc4OWE5LzlUcldybDA3RFJreXhPZWNVNmRPYWNTSUVXVStFd0tQOEFFQUFBQ0FKTWt3akVoSmFXNjMreWJETUU0RkJRWHRUVTVPM3V4MnUvOTkvUGp4L3pCSFJQbldyRm1qaFFzWG10c3hNVEdhTld1VzMxNEpvMGFOMHBZdFc4enRpbnBMMUsxYjk1SnFpNG1KTVQ5N2xzNlVKTHZkcm9rVEorcXV1KzVTVWxLU3BKTDVKVmF0V3VWMS9wTlBQcW5seTVlYngyKzQ0UWJ6MklXOUVpNTgzdExoUk9rbFAxRzdFRDRBQUFBQWtOdnRsbUVZa2lTajVFTzhwSGpETURwSkduVFpaWmVkYTlTbzBic09oMk5HZW5yNnJrRFdXaFBaN1hhZmIra2ZmdmhoSlNRaytHMS80VXQ0dzRZTkwvcmVUcWZUWndKTGo2Q2dJRVZHUm5xRkQzbDVlZWJuZWZQbW1mOTA3dHhaRXlkT1ZIeDh2TmMxMXE1ZGF3WVBralI4K0hDZE9uVks0ZUhoaW82T3JqQjhLR3ZZUlh4OHZLNjg4a3E1WEM0ZFBIalEzQjhiRzZ1NHVEaEp2c05BdG0vZlh1SDhHS2laQ0I4QUFBQlFhN1JyMSs2S3NMQ3dWTGZiSFZaeDYxODJ0OXVkNEFrYlBNR0QyKzMyYWVkcFk3UFpZaVFOQ1E0T0hwS1NrckpEMGlLMzI3M1M0WEJzMjdadDIyN1Y4Z2tyUTBKQ0ZCY1hwNXljSEVsU1FrS0MrdmJ0KzVQY2U4MmFOVXBMUy9ONzdPcXJyOWFzV2JPOGVrNmNQWHRXVWttUGhOSVRPZWJtNXBvdi9SNTVlWGxlb2NydHQ5K3VsSlFVRFI0OFdKbVptUm8rZkxnYU5XcmtkYzZGZ1VIcG5nK2x3NGVCQXdkcTRNQ0JXclpzbVo1NjZpbHpmNzkrL2J3Q2hsMjdkdmtNNWFpSXpXYXJVbnRZai9BQkFBQUF0VVZ3U0VqSUU1SWV0OWxzb1lFdUp0REtDeHBLSHl2OXVWVFBpRVJKaVlaaERBZ0pDZG5Yc1dQSG5VNm5jLzdwQWxlVW9kcjcwbmZYWFhkcDRzU0pNZ3hEbzBlUDluclJEaFRQNUkvMTY5YzM5eFVXRnFxZ29FRHo1OC9YNGNPSHpmMkRCZzN5ZVdtZk1HR0NqaDQ5S3Fua2hYN0lrQ0dhUDMrKzFxeFpJMG1hTTJlT0Jnd1k0SFZPblRwMXZMYkxDaDg4UHZ6d1E2L3RJMGVPYVByMDZYcjQ0WWQxNnRRcDllN2RXNzE3OTY3ME0zdWNPWFBHYTNsU0JGYmcvMnNBQUFBQWZnSXBLU2wxRGNPNFdsS3REeDRxNGdrWkpQOGhSU2t4aG1GY0krbEttODIyTDBqT3duSmIvOExkZnZ2dGV1T05OM1RYWFhlcFdiTm0rdFd2ZmxWbTJ3dFhpQ2l2N2VUSmszMlcyU3c5bE1GbXN5azA5TWQvcll1TGk4M2pudkRoc3NzdTh6by9Nek5UTTJiTU1MY1RFeFBWbzBjUHJ6YlRwazN6bXNQQ3M2VG12SG56SkpVTUZaazBhWkpXcjE3dGRkNkY4MU9Vbm5EeXd1RW1PM2Z1MU1hTkc3MzJlU2JHREFrSjBaZGZmbW1HSDFYVm8wY1B2ZlRTU3hkMUxxb2Y0UU1BQUFCcUhiZmJYU1JwbzJFWXh3SmRTNkM0M2U1T2htRTB2V0NmVDd2U1FVU3Bkc2NOdzlqcmRyczN1Vnl1QldmT25GbWNsWlZWbU5BbWVZaHY2OW9qTWpKU2d3Y1AxcDEzM3FsVHAwNVZhWG5JOHRxV2ZubjNLRDFwWkZwYW1pWlBubXh1UC9YVVUxcTJiSm1rSDFlZWFOS2tpZGY1NDhlUE40ZGZTTkxUVHovdDlidCsrKzIzOWU2NzcvcmMxN002UlVoSWlDWlBucXk2ZGV0cS8vNzk1dkhnNEdDZk9TUEs2L253NXB0dit0d2pLQ2hJVHFkVDc3enpUbzNvUFlMcXdXOFNBQUFBdGRFWmw4djF3dmZmZjcrdzRxYS9UQ2twS1I5TDZ1Zlp2akI0OEJNNkZMcmQ3aFdTbHJoY3JzMTJ1MzNIOXUzYkQwbnlmVE91eGZyMTYxZHhvMnFRbi8vandpT1JrWkZleDBvdmllbVovREV1TGs0eE1USG14SlI3OSs0MTIvVHMyVk1wS1NubTl0S2xTelZ6NXN4eTd4OFZGV1gycmlpOWFzZVZWMTdwRXhpVXJxZjBzWlVyVjJydDJyVSsxNzd4eGh2MXYvLzlUdzZId3d3dTR1TGl2T2FuS012cTFhdjF5aXV2Vk5nT1B6M0NCd0FBQUtDVzg5ZTdvWlFEYnJkN3hwa3paMmJzM2J2M3pFOVYwODlkblRwMU5ITGt5REtQejVrelIxbFpXZVoyZVcxYnRXcmxzKy9NbVI5L0ZSZUdENmRQbnpZL1IwVkZtWjlidEdqaEZSUklKUy8xVHovOXRKeE9wNEtDZ256dUZ4NGVidmJLQ0E0TzFqWFhYS05ObXpicDlPblRHalJva0diTm1xV01qQXl6ZlhKeXNrK3RwY09IMHNNdVBMMHpKS2x0MjdiYXVYT25lZjhHRFJvb05UVlZRNGNPbFZReXRLUlpzMmFhT0hHaTFxMWI1M01QU1hybGxWZFVyMTQ5djhjUWVJUVBBQUFBQUNSSmJyZmJMdW1RWVJoN1hTN1hCcGZMOVhWNmV2cUtRTmYxY3hRUkVhRzc3NzY3ek9PTEZ5LzJDaC9LYSt0UDZhRU9wU2Q0ZERxZE9uVG9rTGxkZXZXS2R1M2ErWVFQWThhTVVWeGNuUHIzNzYrZVBYdXFUNTgrYXRLa2labzJiYXI4L0h5TkhEbFN6enp6aktTU2tHcmF0R2thUFhxMGxpeFpvanZ2dkZNN2QrNzBHakp5NDQwMyt0UmFlbjRMenh3VWtwU2FtcW92dnZoQ1VWRlI2dEtsaXhrK1NDWExlWllPVVR4eWMzT1ZuWjN0OTJkeTRUd2FxRmtJSHdBQUFJQmF6dTEybnpJTVk2bWtoWksrejgvUC8ySG56cDBuQWwwWC9EdDkrclJYejRld3NEQzk5dHBycWx1M3JqWnYzdXgxekxNTXBzUGg4QW9zSk9sM3YvdWRicjc1WmprY0R2M3d3dy9hdm4yN1pzNmNxUmt6WnVnM3YvbU5ldlRvNFRNY0p6UTBWSk1tVGRKbm4zMm0zLy8rOTNyZ2dRZk1ZM0Z4Y2JyKyt1dDk2aTBxS2pJL2wxNHk4NFliYmxCb2FLaHV2dmxtcndreksrT0tLNjdReXkrL3JPKy8vMTZUSmsycTBya0lETUlIQUFBQW9KWnl1VnpiRE1PWVhsQlE4SW5ENGNqTHpNd3NsbFNiRjZ6NFdkaTBhWlBYZGtwS2loNTU1Qkd2aVIwOWtwS1NWRnhjckdlZmZWYXJWcTN5T3VicEtaQ2RuVzJlbTVlWHArRGdZRDM2NktPU1NsYkZ1SkROWnRNOTk5eWplZlBtZWZWVzZOMjd0ODlxRnBKMDh1Uko4M1BwbmcvaDRlRzY1cHByZE04OTkyamx5cFVWUG5kcFlXRmhhdE9talU2Y0lDUDd1U0I4QUFBQUFHcWhjK2ZPUFo2Wm1YazgwSFg4a2hRV0ZwWTVKTUJmMjlMOHZlUmY2SW9ycmxCb2FLaFdyUGh4Skl6TlpsUHIxcTNWckZrejdkdTN6NnQ5ang0OTFLaFJJejMxMUZOYXMyYU56L1crL2ZaYjNYUFBQZHE5ZTdlNUx5UWtSQWtKQ1JYV2N2TGtTZjN0YjM4enQwTkRRM1hmZmZmSjdYWjd6U0d5WU1FQzVlWGxtZHV4c2JGZTF4a3dZSURhdDI5ZjVmQWhLeXRMdi8vOTc3MVcvWkRrTjRCQnpVRDRBQUFBQU5SQ0JBL1ZiL2Z1M2ZyVG4vNTBVZWRXWnBXTXVYUG5xbUhEaGxxeVpJbTVyME9IRG9xS2lsTHo1czJWbFpXbGtKQVExYXRYVDJscGFlclZxNWY2OSsvdk5iZUV6V1l6VjZsd3VWejY4NS8vTEp2TlpoNVBURXlzY0FoRVhsNmVoZzRkNnJWVTUvMzMzNjk2OWVxcGUvZnVjamdjNWlTWXVibTVYdWQ2aG9GNGRPblNwY0xuOXNkdXQvc01JeWt1THZhYXhOSXpnU1pxQnNJSEFBQUFBUGlabUR0M3JsZFBBczhFajVNblQvWnFsNTZlcmdjZmZOQ3JaMEI0ZUxoZWZ2bGxMVm15UlBQbXpaUGtPMGxqdDI3ZHlyMi93K0hRRTA4ODRiWEN4VlZYWGFXSEhucElOcHROeWNuSldyNTh1ZGRTb0I0aElTRVZYcit5UEhNK1NDVkxnNzcxMWx2Njg1Ly83TlVtUGo2K1d1NkY2bUdydUFrQUFBQUFvQ2JvMWF1WE9uVG9JS2xrM29PZVBYdjZiZGUrZlh2MTZ0WEwzSTZQajllTUdUUFVyVnMzUGZQTU0wcEpTZkU1SnlvcVNuMzY5Q24zL3NIQndSbzRjS0RxMXEwclNZcU9qdGFycjc1cXp1WGdxZTFDaG1GbzZOQ2hxbCsvZnNVUFdZN0hIMzljNzd6empsNSsrV1cxYWROR2JkcTAwVzkvKzF1L2JXKysrZVpMdWhlcUZ6MGZBQUFBQUtBYU5HL2VYRysrK2FabDEyL2N1TEVpSXlQMTFsdHZhZHEwYVhLNzNXVyt6QWNGQlduNDhPR0tqbzdXNXMyYjlmTExMNXR0SXlNak5XM2FOTTJlUFg4cEs0SUFBQ0FBU1VSQlZGdno1OC9Yc1dQSDFLWk5HdzBkT2xUMTZ0V3JzSTZ1WGJ0cXpwdzVHanQyckI1OTlGRmRlZVdWNXJIT25UdXJjK2ZPQ2c4UFYzaDR1S0tpb3RTa1NSTjE3ZHBWclZ1M3Z1U2ZRZlBtelgzMk5XM2FWUFhyMTllSkV5Y1VFeE9qeXkrL1hQZmVlNi9mZ0FXQlEvZ0FBQUFBQU5VZ09qcGFxYW1wbHQ4bk9EaFlRNFlNTWVkdUtNOWpqejBtbDh2bE5hK0RWTkpyNHNFSEg5U0REejVZN3ZrdFc3YlV4bzBiZmZZM2FOQkFNMmZPOU5uZnZuMTd2L3NyMHJkdlg5MXl5eTJTZmh3dUVSc2JxLy8rOTcrUzVEV0pwVC9mZlBPTmdvTjV2YTNKK08wQUFBQUF3TS9RaFlIQ3BiWUxwUGo0ZUo4NUdnekRVRnhjWEtYT0ozaW8rV3IrdjRVQUFBQUFBT0JuamZBQkFBQUFBQUJZaXZBQkFBQUFBQUJZaXZBQkFBQUFBQUJZaXZBQkFBQUFBQUJZaXZBQkFBQUFBQUJZaXZBQkFBQUFBQUJZaXZBQkFBQUFBQUJZaXZBQkFBQUFBQUJZaXZBQkFBQUFBQUJZaXZBQkFBQUFBQUJZaXZBQkFBQUFBQUJZS2pqUUJRQUFVRnFqbGkwYmhBVkY5allNVzlOQTF3SUVscXZZNlhZdE9yaHIyMFpKN2tCWEF3REFwU0I4QUFEVUtLRWhrYmNiYnR0cmhxSFlRTmNDQkpMYmJYTUcyWXprSm0zYi91WFF6cDBuQWwwUEFBQ1hnbUVYQUlBYXhlYTJOU2Q0QUNURFVKRGhWdk1nWndqL1BRQUFmdmJvK1FBQXFMR3U3M3l0dWx6WEtkQmxBRCtwbkp6aldyQndrYzZlUFJmb1VnQUFxRGFFRHdDQUdxdkxkWjAwNUxGSEFsMEc4Sk5LMzVxaFZXdlhFVDRBQUg1UkdIWUJBQUFBQUFBc1JmZ0FBQUFBQUFBc3hiQUxBQUFBQU5YdXc0OC8xV2Rmemd0MEdVQ3Q0blE2VlZCUUdPZ3kvQ0o4QUFBQUFGQXQzRGJaNVhhN0RNT3dGZHZ0S3JiYkExMFNVR3U1M2JJWDJJSmNnYTdEZzJFWEFBQUFBS3FGeStuYUtpa3owSFVBdFoxYjduekp0U0xVZnZwc29HdnhvT2NEQUFBQWdHcHg4SWYwTlFrSjdXNVNSRmhZb0dzQmFyUGlZb2ZMbVdjN21aT1RYUkRvV2p3SUh3QUFBQUJVRjBkVzF2YWpnUzRDUU0zRHNBc0FBQUFBQUdBcHdnY0FBQUFBQUdBcHdnY0FBQUFBQUdBcHdnY0FBQUFBQUdBcHdnY0FBQUFBQUdBcHdnY0FBQUFBQUdBcGx0b0VBQUFBVUMzcXQya1RFMkdFcHdiSmFCVG9Xb0RhelZYc2RMaStPNWk1YlUrZ0svRWdmQUFBQUFCUUxhSnNFVGNhYnIxbEdHb2M2RnFBV3MxdEZBY0gyZDVwMEs3ZDhPUGJ0K2NGdWh5SllSY0FBQUFBcW9uaFVrdUNCNkFHTUl4UTJZeHJJcys3WXdKZGlnYzlId0FBQUFCVXU1WXRtcXZEMVVtQkxnT29WWEpQbk5TNjd6YW9zS2dvMEtYNElId0FBQUFBVU8yNnBkNmdzU09mQ1hRWlFLMnlmdU5tYmQrNVM0WEhhMTc0d0xBTEFBQUFBQUJnS2NJSEFBQUFBQUJnS2NJSEFBQUFBQUJnS2NJSEFBQUFBQUJnS2NJSEFBQUFBQUJnS2NJSEFBQUFBQUJnS2NJSEFBQUFBQUJnS2NJSEFBQUFBQUJnS2NJSEFBQUFBQUJnS2NJSEFBQUFBQUJnS2NJSEFBQUFBQUJnS2NJSEFBQUFBQUJnS2NJSEFBQUFBQUJnS2NJSEFBQUFBQUJnS2NJSEFBQUFBQUJnS2NJSEFBQUFBQUJnS2NJSEFBQUFBQUJnS2NJSEFBQUFBQUJnS2NJSEFBQUFBQUJncWVCQUZ3QUFRQ0M0WEM3WmJKWEw0QjBPaC9uWk1Bd0ZCUVZWV3gzbno1OVhYbDZlR2pac1dHM1gvRG16MiswS0NncXE4SGVUbTV1cjR1SmlTVkpvYUtqcTE2OWY3YlZrWldXcFNaTW1DZ2tKcWZackE2Z2RUcDA2cGFOSGo2cHQyN1l5RE1QY2YrYk1HV1ZrWkpqYjExMTNuWUtEUzE3TlhDNlg3SGE3d3NMQ3FuU3Z3NGNQcTFHalJqNy8vOHpMeTlQUm8wZk43Y3N1dTB4MTZ0UzVtTWZ4NjhDQkF5b29LSkFrUlVWRnFXblRwdFYyYlgrS2k0dmxkcnNsU1VGQlFlYlBEVFVmdnlrQVFLMnpZc1VLdmZiYWF4b3laSWh1dnZubWN0dE9uVHBWNzcvL3ZybDk2NjIzYXRLa1NaZDAvNXljSEwzNTVwdmF2bjI3OXUvZnI4VEVSTTJlUGZ1aXJ0V25UeC96OHh0dnZLSG16WnZyNk5Hak9uUG1qTi8yWVdGaGF0YXNtVEl6TTh1OFpyMTY5VlMvZm4yZE9YUEc2eStzMWFsUm8wYUtqWTMxMlQ5bnpoek5uRGxUVjExMWxYNzFxMS9wMFVjZjlXbVRtNXVyTys2NFEzYTdYWkkwYk5ndzNYdnZ2ZFZhbjhQaDBMMzMzaXVYeTZVV0xWcm82YWVmMXJYWFhsdXQ5d0R3eS9mNTU1OXJ4b3daaW8rUFYycHFxcDU0NGduVnExZFBQL3p3Z3g1Ly9IR3ozYkpseXhRZEhTMUpldTIxMTdScTFTcU5HVE5HblRwMXF0UjlIQTZISG5qZ0FSbUdvZTdkdSt1MjIyNVRTa3FLSkdudDJyVWFQbnk0Mlhia3lKRzYrKzY3cSswWng0NGRxMjNidGttU09uZnVySmt6WjFicGZLZlRxYmx6NXlvOVBWMHZ2ZlNTVjBqalQxcGFtb3FLaWlSSkR6MzBrTjgvSjFBekVUNEFBR29OdDl1dHA1NTZTc3VYTDVja2pSczNUcTFhdFNyelc1cU1qQXg5OE1FSFh2czJiTmlnM056Y1MvcW1QVDQrWGl0WHJ0UzVjK2NrU1R0MjdOQ2VQWHZVb2tXTEtsOHJPenZiL096cENmQi8vL2QvK3ZlLy8rMjMvVlZYWGFXMzMzNWI5OTEzWDVuWEhEaHdvQjU3N0RFdFdiSkVMNzc0WXBWcnFvem5uMzlldlh2Mzl0bS9ldlZxRlJVVmFjZU9IZVpmbkMvMGozLzh3d3dlR2pkdXJPN2R1eXMzTjlkdjI2aW9LRVZFUkdqNTh1WEt5c29xdDZhb3FDamRkZGRka3FSOSsvYVpQODlkdTNaVjY3ZUVBR3FQYjc3NVJwSjA4dVJKclZ5NVVtUEhqcFZVOHNKZG1xZTN3cHc1Yy9UeHh4OUxraDUrK0dIZGM4ODlldkxKSnhVYUdscnVmWllzV2FLVEowOUtrajc5OUZQWjdmWXkveDlhV1U2bjAzekpMNC9MNWZMNm5KK2ZYK0U1b2FHaENnNE8xcWxUcC9UNDQ0OXJ4NDRka3FTa3BDVGRmLy85bGI1ZmRmWkVoUFVJSHdBQXRZWmhHR3Jac3FVWlB1VGw1V25FaUJHYU5XdVdUN2ZOczJmUGFzeVlNVjUveVpHazA2ZFBhOXk0Y1hyenpUY3IvSGFtTENFaElicjU1cHMxYjk0OGM5K0NCUXU4dmdXckx1SGg0Wktrd3NKQ3Y4ZHROcHY1bDlxeTJ2eFVDZ29LdEhuelpuTzdhOWV1UG0weU1qTDA2YWVmbXR1SER4OVd6NTQ5eTd6bTRNR0ROV0RBQU0yZlAxOUxsaXdwOS80TkdqUXd3NGZTM2FHam82TXZLaGdDVUx0dDNicFZCdzRjTUxkNzl1eHAvbG5qR1RiZzRRa2Y2dFdycDRpSUNITVl3eWVmZktMMDlIUzk4c29yYXRLa1NabjMrdnp6ejcyMisvZnZmOG4xYjlpd1FYLzV5MStxZE03R2pSdlZyVnUzQ3R0NUF1aTR1RGl2WU9YTk45L1V0ZGRlcThURXhETFBMZjNuY21XSFQ2Sm1JSHdBQU5RcWd3WU4wcElsUzh4dndYZnMyS0ZwMDZacHlKQWhaaHU3M2E2bm4zN2E2eStOaVltSjVqY3phOWFzMFJ0dnZLRW5uM3pTNS9ycDZlazZjdVJJaFhWNFFnR1BmLy83MzJyZHVuV0Y1eVVtSnFweDQ4Ym10L0tsRlJVVm1YOWhsVXIrVXJacTFTcEpVdmZ1M2YwT3hVaExTOVBreVpOMSt2UnAzWExMTFZXcXVTcmNibmVGMzZDdFhyM2FuRjhqTWpKUzdkdTNWMzUrdmd6RFVFUkVoUEx5OGpScTFDaWZ2N1JiWWUzYXRlYm5ldlhxNmR0dnZ5MjMvUTAzM0tDNmRldGFYUlpRclZxMmJGa25NelB6YktEcitLV2FNMmVPMTNicFlYSVg5bnp3ZklQZm8wY1B0V3paVXNPR0RkUCsvZnNsbGN3YlVkNzhEMXUzYnRXR0RSdk03VzdkdWlraElhRkt0VTZaTWtXSmlZbnEwYU5IbGM2N1ZJWmhhTXlZTWJyMzNudmxjRGprY0RqMDNIUFA2Y01QUC9UYjI4UHBkSHI5N0ppVDUrZUY4QUVBY0NtQ0V4SVNnck95c2dMN2xYa1ZoSWFHYXNTSUVYcmtrVWZNZmQ5Kys2MEdEaHlvbUpnWTJlMTJqUm8xU3BzMmJUS1A5K2pSUStQSGoxZi8vdjIxZS9kdVNkTHMyYk1WRnhlbkFRTUdlRjEvenB3NVdyaHdZWlhyeXNuSjBhaFJveXBzOSt5enp5b3VMczV2MndFREJpZzJObGFwcWFtU1NyNGRtakJoZ2lSNWhSS2w3ZHExU3hNbVRQQWJabHpvNDQ4L1ZyTm16U3BzNTA5bVpxYjY5ZXRYYnB2U1A3ZWJicnBKVHp6eGhMNy8vbnZGeHNacTBhSkZHak5tak5jd2s4VEVSSjh1dDBWRlJlYnZTQ29aU2lGSnJWcTFNb2U1bEhiOCtIR2Y0UmhPcDFQcjFxMHp0L2Z2MzI5MmxTN0xPKys4US9pQW41MlltSmpuazVPVG05cHN0dG4vWDN0M0hoZFY5ZjRCL0hObmhrMUFFUkZNelZCd1FkRVkwMUpUeS8zbmttdXBhYVZaYm1uaVZ1YStoZnVhZTVxWVM2bTVMNW1tcGFhUm9xTGdMaUxtQ2dLaHNzNTJmMytNYzc5em1Sa1daUnlMei92MThoWDMzSFB2UFRNUXpIM3VPYzl6NXN5WmZRQjBlUjVFK1hMLy9uMGNQSGhRMnE1VHB3NENBd09sYlZzekh3RGo4cmkxYTlkaS9QanhpSXlNeElJRkMzSmQ2cGN6eDBMLy92MExOTmJseTVkajdkcTFBSUNvcUNnTUh6NGNUazVPS0Y2OE9HclhycDNuOFpjdlg1YVdXbmg0ZU9RcmtHNytlaXBWcW9TUFB2b0lxMWV2QmdERXhjVmgzYnAxK09TVFR5eU95L20zcktCSk9jbXhHSHdnSXFLbjl1cXJyL29wRklwdlM1WXNlVTZuMC8wWUV4TnpBWUFoendNZHJHN2R1bWpXckJrT0h6Nk1idDI2WWNDQUFYQjNkMGRHUmdaR2pCaUJreWRQU24zOS9mMHhmdng0T0RrNVllclVxZWpkdTdlMFBHSHg0c1ZJU2tyQzhPSERYOWgxcDl1MmJjdDEvNTA3ZC9Mc1l6SnQyalM0dWJrQk1DWjVMRnUyN0RPUHp5UXpNeFBIamgyVHRsdTBhQ0ZMOURsanhnejg4Y2Nmc21QOC9Qd3diZG8wNmNObldsb2FoZzRkS3UydldiTW1PbmZ1REFEbzE2K2YxZXR1MmJJRjA2ZFBsN1dkUG4wYWp4N3hZVEFWQ2VVVUNrVlhBRjNWYXZVOUFEL3E5Zm9OR28zbXBrS2hlSHp4NHNXOG81SmsxWVlORzJSUDZIdjE2aVhiYnl2bmc0bUhod2Ztelp1SEd6ZHVvRktsU2phdmMvYnNXZGxNclNaTm11UzZaQ0duVFpzMlllWEtsZEwyNXMyYmtabVppVW1USmlFb0tFaTJ6NVpldlhwSkNTZURnb0lLbkhBU01PWWEyclZyRjVLU2t0QzJiVnQwNmRJRjNidDN0K2lYY3luazk5OS9qeDA3ZGxnOTU4c3Z2NHpaczJjWGVDeGtQd3crRUJIUlV4TUV3UWxBRlVFUTJqZzVPWTFXcTlVUm9paXUxK3YxdnpnN095ZWZQbjA2RFlBK3IvTTR3b2dSSTlDdlh6L3BTZFNOR3pjd2V2Um8yVk56RHc4UHpKNDlHOFdLRlFOZ2ZIbytiZG8wakJneFFucHF0WEhqUnNUR3htTE1tREY0NVpWWG52OEx5Y05iYjcwRkFFaE9Uc2JObXpjdE1xZjcrUGlnUm8wYUFJeDVMaTVkdWlTOWpoWXRXa2o5Ly96elQ4eWFOVXM2cmxPblRraElTTWozT0hRNkhTWk9uSWh5NWNyQjE5Y1gzdDdlc3YyLy9mYWJGTlJ4ZFhWRi9mcjFwZUNEVnF0RlltSWlBT01VVzNkM2Q2U21wdUx3NGNQNDZLT1BNR25TSktTbnAyUHExS25TekFnZkh4L01tREhqcVVxd21lZmlNTStKWVpLZG5TMTkvMVVxRlZRcTFRc2JmQ0xLTDBFUVhnSXdYS1ZTZmFaVUtpOEFpRlNyMWFmMGV2Mko2T2pvODQ0ZTM3L0puVHQzWkxscEFnSUNjUFhxVlh6eHhSZFNXODZiYUdzNWJuSXFWYXFVN1BlVFhxK1gvVjRHSU9XdHlZLzE2OWRqL3Z6NXNyWnk1Y3BoOE9EQjBuWmNYSnhGZ0RhbnVMZzQ2ZXRMbHk2aGI5Kyt1ZllmTzNhc3hiSVFOemMzZlBIRkY5RHI5V2pWcXBYRkxEWmJFaE1UcGI4UE9lVU04SkRqTWZoQVJFU0ZSaENFK2svK3BZcWlHRlc3ZHUxVEJvUGh1RTZuKyt2OCtmUDV2MU45RHZ6OC9PRG41d2ZBZUxNNVk4WU1XVTRDRHc4UExGbXl4T0tKMDF0dnZZVXhZOFpJeXhrQVkxS3VidDI2WWYzNjlRZ0xDOFBVcVZPbGZlSGg0YktuUUdQSGpyVmE1Y0ZrNU1pUnNpZjh2WHIxa2lYOFVpcVYwT3YxVWgvenhGN2g0ZUdvWExteU5EWkJFREJuemh3b0ZBcnBRK2JodzRmUnVIRmo2WmpnNEdETW5Uc1hnREhwNWZqeDQ3RjQ4V0w0K1BpZ1hyMTZVdW0zbk1rb3pXY1lGRVJvYUtqVmtwWG1IOVE5UFQxbE4veE9UazVZc0dBQmxpMWJodURnWUx6ODhzc1lNR0FBa3BLU0VCc2JpNDgrK2tqMlFiNTgrZkpZdW5RcHlwUXBVK0R4UFh6NFVKYVk4dE5QUDdXWXd0eWhRd2NweVBINTU1L25tWm1kNkYvR1ZSQ0UxMFJSckEzZ1E2VlMrVUN0Vmw4U1JYR3pScVBaY3ZIaXhUUkhEL0JGdDNEaFFxa2lEMkNjRGFEVDZYSk42cHVmaEw4NWx4eHMzcndaVjY1Y2tiWGxOd2ZDNHNXTEVSNGVMbXZ6OC9QRHNtWExaRXNpMHRQVFpjc1E4NUtXbHBabmYxdlZNSm8zYjU3djY5Qy9FNE1QUkVSVTZBUkI4QUxRUkJURnR3UkIrTVRaMlRreEpDUWtRcWZUclRwLy92eEpPR0JkOGVyVnEvSGRkOTladEUrWk1nVlpXVm15d0lPbnB5ZVdMbDJLNnRXcld6MVg1ODZkNGVycWlrbVRKa2xQVm1yV3JDbk5vakNmUHR1aVJRdFo4T0hubjMrV2xnTGtsSnFhaW9pSUNGbGJ4NDRkTFo3ZW01NjI1K1RpNGdJM056ZnB4bDBVUll3ZlB4NmxTcFdTU204bUppYkN5OHRMT3Via3laTlNnTUswUHZuQmd3Y1c1NzkxNjViVk1SZUdhOWV1SVNZbUp0YytnaUJJUVpoYnQyNmhXYk5tMkxScEV3RExKNGlOR3pkR1Nrb0svUHo4Q2p6ellkMjZkYktmaFp4UHp0TFQwMlY1SndxYTFPMC94RnFwbDV4dGVXNmJCNkl5TXpNdHpxblJhR1J0T3AwdTEyMEE4UFB6azlxMFdxMXNmMVpXVmpGWFYxZmxrMG8xZ2lpS3JsV3JWdlUwNzZQWDZ5M09hVEFZQlBPY0hqbjc1TncyR0F5NTdqZjE4ZlQwelBjeE9mZm4zQVlBVVJRRkFOSnNyWHdjNDJaMnJHeUhZSHlUM0ovODh4Y0VvYldMaThzaXRWcTlXYS9YYjFBcWxkY05Cb1B1M0xsekNXQ3VDTW1SSTBkdzZOQWh1MS9uM3IxN1dMWnMyVk1kdTJiTkdvdkV5T1hMbDhmeTVjdngwa3N2RmNidzhzMVdrdWI2OWV0ajVzeVpGdTEvL3ZrbmR1N2NLVzEvOWRWWE52UHRtSUxuOU9KZzhJR0lpQXFGdFFvRWdpQW9BSGdEOEZZb0ZOV2NuWjAvVnF2VjF3RnMxdXYxV3pRYXpjM0xseTgvQXFDMU9MaVFhYlZhcTArV2REb2QzbnZ2UGV6YnR3L1IwZEVBakxNQkRoNDhpT1BIajl1Y1B0cWdRUU1zWHJ3WVk4YU13VC8vL0dPMThnVmd2RG10WExteU5IMDBLaW9LRnk5ZXRCclkyTHg1czFUdEFRRFVhalVxVktoUTROZGF0V3BWNmV1Y1ZScUNnb0lRRkJTRTh1WEw0L2J0MjhqSXlMREl5TzduNTRlUWtCQlptM253d2NQREE2VktsU3J3dUFESUFoOG1wa1JudG1pMVdtemV2Qmt4TVRHSWpvNlczZnhiODhNUFArQ0hIMzZBVXFsRTJiSmxNWDM2ZEFRRkJTRW1Kc2FpNG9ZcG16eGdmS3BvQ21pWUhEMTZWRGJ6SkdlUXhON0JCNFVBVjNjM29VdnQycldUbnR4WUNxYi9LaFFLMmJaNXUra205RW03NGtsQVROWTN0K05oL1RPaTFNZjhITmJhQUVBVVJWTVVUbmp5dThEcU9Vei9kWEZ4RVo3MHRkVldvSE1DRUpSS3BmUzFJQWlDVXFsMEFWRHp5WEhGbFVybGFIZDM5NzdteDVtdW45dFl6ZnBBRUFTRmFYem0xOHA1dkxYem11MEhBSVg1T1o4RXpxUStTcVV5MS9OYUdhdkZPWjhzRHpLL3ZydDV5V0JCRUtUZjVlYS8wMDE5QkVId0FOQkhwVkwxRVVVUmdpQ2txTlhxaFhxOWZyOU9wNHNxNmpraWtwS1NNR1hLRkt2N1dyVnFKZnZkZlBqd1lTbFhnU0FJbUQ5L1ByNzY2aXZwNzlSNzc3MkhOOTk4VTNZT1UyQlpwOU5oOU9qUlNFOVBmNnB4NXJ6WkR3Z0l3SklsUzFDNmRHbUx2c0hCd2Zqenp6OXpQVi9mdm4ybDhzUjE2dFRCTjk5OGsydC84NWx0dHBJMGI5cTB5ZXBNQ1BPcUhvSWdvR1BIanF4NDhTL0M0QU1SRWRtTmpRK3ZBUUJHcTFTcVlTcVY2cEphclQ0bWl1SUpBTWZQbmowYmIvMU05aVVJQW9ZUEg0NmxTNWZDMDlNVGh3NGRRa1JFQkVxVUtHRVJmSWlQajBkWVdCZ1NFeE94ZnYxNmJOeTRFZHUyYmJNNVN3SUF1bmZ2TGx1S3NYVHBVaXhldkZqVzU5R2pSOWl3WVlPc0xXY2xqYndrSmliaSt2WHJhTmFzR2E1Y3VZTGp4NDhqTFMwTkNvVUNYbDVlQ0FrSmtXNmt3OExDTUdmT0hNVEh4ME9yMVVybExDdFhyb3pQUC8vY1lzYUFlZG5SSGoxNkZEaWJ1aTIzYjkvT3M0d2xZSnk1OHVEQkE0dDJIeDhmZE96WUVjbkp5ZGkzYjU4c3dLVFg2NUdhbWlyTlNNbFpMU09udERUTDJlVFhybDNEL2Z2M3BTVWM1b25kU3BRb2dYTGx5dVU1OW1maG9qU1VVeW1VTTNMTzdnRGtNejVNTjQyQ0lGak1CQkZGMGFMdHlmR0M2UmpUT1F3R0F3d0dnL0dPOXNtMmFiL3AvMmZ6RzFUVGVVM255WGw5ODc0NXoyRitmTTZiWHZOdFFSQ2cxK3RoZnBOc2ZxNmN6SSt6Tm42ejY3c0FxSmVqVGVaWjJncmEvcXg5QzJOYzV2dXNmZC9NOXovNWZuc0RHSzFVS3ZzcWxjcS8xV3IxeHRRTVhYR2dhT1pBT1h2MkxGSlRVNjN1ZS9ubGwyWFZnc3dURzN0NGVLQlJvMGF5Mzd1QmdZR3laWFhtVnF4WWtlZHNzZnlxVzdjdTVzeVpZekZMUUsvWEl5a3BLVi9uTUErYTYzUTZtKzlCVGs4VHhEYWZIU2lLSW43ODhVZDg5TkZIQlQ0UE9RYUREMFJFampWQXJWWjNkUFFnbm9FekFGbnRSZk1QdGJuZGRBQndCYUFHRUtKUUtIcUpvcGlvVnF1ak03VFFadXNNdVg0NGZocU5HalZDcVZLbGtKMmRqWG56NWxuc3IxbXpKcFl0VzRZNWMrWllQVDR6TXhOcjE2NUZlSGk0dEpaMzNMaHhXTEJnZ2MxS0NpWnQyN2JGc21YTHBBOXlFUkVST0hEZ2dLeWUrcng1ODJRM3Z6VnExTEI0Nm1VdUt5dExldEprWXNyRHNHUEhEa3lZTUFFQU1IandZS25FWlAvKy9hVXB0Y0hCd1hqOTlkZWw3MHZ2M3IzUnBFa1RxOWZLenM2V0pmVGF0V3VYUmVXSmdnZ0tDc0xZc1dNQkFILzg4WWZWRzJOelRrNU9HRGh3b1BSRTBjWEZCYSs5OWhyZWVlY2RORzNhRkJxTkJsdTJiSUc3dXp1NmRPbUNodzhmNHN5Wk03aDc5eTVhdEdpUjc2ZGlQajQrZU9XVlYzRDY5R2xaKzRFREI2UVB0MGVPSEpIYTY5U3BVK2cvcHprcGxRcFhzeWY4ZWZUOTN3MmZ0WnRGYTB3QkF4UHpKVVBtZ1ltYzU4bHZ2OXlPc3phV3ZJN0xHY3pJaTYzalJGR0VhR3pJRkFSQkQ4RDhwTll1SU9hNGJzNCtGc2NJZ21EdmM5bzh4dXk4ZWZYM0JsRE15dGdLUWdtZ21DQUl4ZlY2ZlRGQlVGZ01zcWdvU0pVSjgwQm9pUklsQ25TZE8zZnU1THR2VmxZV2poOC9iblZmeDQ0ZE1YcjBhS3ZMMDVLU2t0Q21UWnNDalFzd0JtRHllOXltVFp2ZzZ1b0tEdzhQR0F3R203a2dUQ0lpSWl3Q3lBc1hMc1RGaXhjeGNlSkVxUm9UdmJnWWZDQWllczVFVWRRREVKOU1sUzBqQ0VMQnMrSzlJQXB5RTVBSEowRVFQQXdHUTNGQkZCOFcxa25OVmE5ZUhkV3JWOGZqeDQrdEJoOXNTVTlQeDZaTm03Qmh3d2FMcHprblRwekFtVE5uckNaUU5PZms1SVIrL2ZwaDJyUnBVdHZNbVRNUkVoSUNYMTlmSEQ1OEdMdDM3NVlkTTJUSUVKdm4yN1ZyRjc3KyttdWJtYndqSXlPeGZmdDJBTUNaTTJla3BRYXJWNitXTFhzNGN1UUk0dU9OazAyMmJ0MHFQVWw3KysyM1VhdFdMYWxmemc5NzkrL2Z4LzM3OTNOOXpia3hIME51SmVUTXRXM2JGcmR2MzBhZE9uV2dWcXZoN095TW1KZ1l6Snc1RS92MjdaTVNzZjN5eXkvWXVuVXJQRDA5OGZqeFk1dUJEUmNYRjR1Z2hLZW5KNlpNbVlLZVBYc2lPRGhZS3YyNWZ2MTZkTzNhRlZldlhwWE5BSG5qalRjSzlMcWZoaWpDOERRQmpxY05panpQYXozdjYxazVUalFZREdzTkJzTWVHSDhuaTRJZ2lIcTlYalRmTm4xdE1CaE0yeEFFd1dENldxL1h5L29KZ2lEcWREcnA2L3kwQVlCU3FUUThPYmVvMVdwbC9SUUtoU2dJZ3FqUmFHVGJDb1ZDek03T2xyWUJRS1ZTR2JLeXNxU3ZuNXhiVEU5UEZ4VUtoYWhVS3FYL0NvTHdIUUJaRWhvYlMrZ3Mya1JSdkFIZ3BDaUtFUWFENFMvVHNndi9xaUdoZG83SnZiREtsU3NITHk4dlpHVmx3Y2ZISjllWlZ1YjdDanFEcW5idDJ0aS9mejhBWTJuTjMzLy8zV3EvRXlkT1lOcTBhUmJqVUtsVStQTExMd3RVR2NOZUprNmNpSWtUSnlJMk5oYmR1bld6MlUrajBXRFJva1ZXOS8zNjY2K0lpNHZEM0xselpiTkw2TVhENEFNUjBYTW1pdUlaUVJEaUFBUTRlaXoyWUNzZ2tjdVU2Vmk5WGo5RkZNWGowZEhSTi95cmhVd1VCRGorRXhHTWdZZTJiZHRLTXdkTUJFRkFtelp0OE5sbm4rVzdva0tuVHAyd2MrZE9hYlpDYW1vcVFrTkQ4ZVdYWDJMY3VIR3l2aDA2ZExBb2lXbE9vVkRZRER5NHVia2hKaVpHVm83TnhEeEpWMDRSRVJIU2RGWS9QejlaOEtHd2swMjZ1cnBLWDV2V1FMdTZ1dWFhN1YybFVxRi8vLzZJaW9yQ2tpVkxjT2pRSWRtNlphVlNpWll0VzJMZ3dJRzRjZU1HYXRhc0NmTmtmam1GaG9iYS9LQzdjZU5HcEthbVNzR0g1T1JrYk4yNkZXZlBucFdOcDFtelp2bDd3YzhnVzJ0NG9GUUlaeUdLMllJeHQ0QkNGRVZUM2dIVGVuNEJnRUlRQktuZExEZUNBay95QWp4cEU1NEVQazNicHR3c09YTVpDT2JIUFpuZFlONFBPZnM5U1dabzJvYjVQc0NZRE5Ic0dqRHY5K1QzZ1hrZUJjSHNkNFNzMzVOWkRLWnp3dXg4RnR2bXJNeWEwTUs0M0d0dlFiNG4veVZxdFZxV2I4ZEswc21jaDJTSW9yaERGTVdmZERwZFRFWkdSbEpjWE53aldKL1pVU1FGQlFXaFhidDIyTE5uajgzZ3d6Ly8vSU1iTjI1STJ3VXQwMXl6cGpGdFNjK2VQVkdyVmkyTDRNUE5temV4YU5FaW0wR0p3WU1INXhsNGNIRnhrVW8xVzNQMjdGazhmR2o1ck1ESnlRa05HalN3ZXN5SkV5Znc2cXV2U244RENwSVFjc2FNR2JMS0hsNWVYbmo0OEtIME0zdjkrblY4OE1FSG1ENTl1czNyaytNeCtFQkU5SnlscGFVZGNuRngrVDluWjJkM1I0K2xFSlFWQkdFNUFLdFpFVzA4TFlzWFJYR0R3V0Q0WGFsVUp1bDB1c2N4TVRGeFZnNTNPSjFPWnhGNGFOaXdJUVlQSG96S2xTc1g2RndLaFFMang0L0hSeDk5QkkzR21KUHQ2dFdyK1BUVFQyWDkvUHo4OGl4amFXdUs3cVJKazlDNmRXdHMyTEJCK25CbmZrUHY0dUlpKzU1b3RWb3BpT0hrNUNSTjI4ODVJNkJhdFdwWXNHQkJmbDZtVGVQSGo1ZmVTeGNYRjZuZHk4c0x2cjYrNk5peEk3Nzk5dHRjenpGczJEQ0x4R2RlWGw1bzE2NGR1bmZ2RG8xR2c5bXpaK09QUC83QXh4OS9MS3RWWHhDbFM1ZEc2ZEtsVWFWS0ZWeTllaFVBc0hMbFN0blBRdE9tVGEwbXp5eHNPbEdSOUUrNnZ0ZmYxMkxpQUZtMUNHdGZTMnNhcWxldkxnREdhaEdtaWhEbWxTRzBXcTNVMTFRQlFSUkZ3Y3ZMU3pCdmUzS2NSVitEd1NCck05MUU2UFY2aGVsY3B2Mm1Odk4yVXlEQzI5dGJkbjN6L1RtdmFXcDNkWFdGS0lxQytYRm1mYTFlQzREZzd1NE9VUlM5RlFyRmRFRVFHZ0I0Q09CLzY0bUtPQ3NCWWxFVVJRMkFSd0N1QXRpUWtaR3gvc3FWSzQrdEhVOUdJMGVPaEwrL1AvYnMyV096eitIRGgyV0JuaG8xYWhUb0dnRUJBV2pZc0NGQ1EwTXRBZ3g3OSs3RjNyMTdiUWFvQVZoZG5uRHMyREg0K3ZxaVNwVXFBSXkvVzYzTkVoUkZFVXVYTHBVdFFUTVBIbXUxV3JSczJSTC85My8vSisxUFRrN0c1TW1Ua1pXVkJUOC9QMHljT0RIZnIxVVVSY3lhTmNzaWVENXIxaXhrWldWaHpKZ3gwcExGdExRMERCa3lCRU9HREdFZWlCY1VndzlFUk05WmJHeHNOb0JZUjQrak1JU0VoRHdFb01tNWJ0emt5WUxtZEJnL3ZQNEpZSEZVVk5TZmVBN1ZMUXFUaTRzTDJyUnBnL2ZmZng4QkFjWUpLd2FEQWJkdTNTclFFNnZLbFN0ajNMaHhVajZHbkp5ZG5URjM3bHdVTDE0ODEvT1VLVk1HclZ1M3hodHZ2SUZKa3laSjdWV3FWSUZLcFVLdlhyM1FxMWN2QU1hYlpOUFRxYlZyMTBySkZ3Rmc5T2pSVXBieGtTTkg0dDEzMzdWNXZmek9DU0JyaVFBQUlBQkpSRUZVOExERi9PZkRQUGdBQU8zYXRVT25UcDN5REQ2TUdqVUtYYnQyQldDc050S21UUnMwYXRRSTU4K2Z4NXc1YzNEa3lCSHBBLzJtVFp2UXNXTkhsQzlmL3FuSDNLZFBIM3oxMVZjQVlCR0U2dEdqeDFPZjl4bmtsVU5BdXR1NGVQSGlVMTBndndubUNzdmR1M2VmNi9YVWFuVnBRUkRTOGIvWkZtUXBTeFRGQ3dCT2lhSjRTcS9YbjRncHJPeUdSVUIrS3VEODl0dHZzdTNhdFd2bjJuLzkrdlZvMUtpUjlQZEdwVkpoOXV6WnNqd3ZKbzBhTlVKRVJJVFZCTDI1MmJoeEl5SWlJdURyNjR0NjllcGh4SWdSRmpNVFVsTlRNV1hLRkZuZ3dkM2RIVXVYTGtWNGVEZ09IejRNd0RoTG9WcTFhdkQzOThlQkF3Y3djK1pNYWRuaXJsMjdVS2RPSGJSdDJ6YlBNV1ZsWldIS2xDblNFaE9UUVlNR1Njc2R2Ly8rZXd3Yk5reGFFaWVLSWhZdVhJalkyRmlNR3pkT1ZsbURISS9CQnlJaXNvY2tBTkdDSUp3MkdBeC82blM2aVBQbnp5YzRlbEM1K2VHSEg5Q3FWU3RabTBxbHdvQUJBOUM1YzJlTDJRYkp5Y25vM0xrektsZXVqQ1pObXFCRml4YjV5bC9RdEdsVHJGMjdGckd4bHZHbmR1M2E1U3RoV2VYS2xmSDExMThEZ0N6NEFBQUpDUW15RzJYenAxODVsMCtZOTN2dzRJRnNUR2xwYVFWNk9tVkxpeFl0TUhqd1lGbUp5NXpCaHdFREJ1Q2ZmLzdKODF6bHk1ZEhlSGc0S2xTb2dMdDM3MkwvL3YxWXVIQ2h4ZFRtK3ZYclk5eTRjUVZLUG1Zd0dIRGx5aFhaKzkraVJRdXNYNzhlNTgrZmwvVnQyYktsTk8yWjZMOUNGTVVFQU50RVVkeHNNQmhpVTFKU2ttL2Z2cDNwNkhIOTE4VEZ4ZUhFaVJQU2R1WEtsVkcyYk5sY2oxbTFhaFhtejUrUDExOS9IZVBIajBmWnNtVnQzbFFYTDE0Y1U2Wk13Y0NCQXdFQTc3enpEb0tEZ3pGOSt2UmNyMkVLRGlRbUptTFhybDBZTldxVWJQL3g0OGN4WmNvVWl3RGx1SEhqRUJ3Y2pKRWpSeUlpSWdMWjJkbDQvUGd4QmcwYWhJb1ZLOHFxVXdER21XVjVKUmtHaklHSFBuMzZ5SlphQU1DNzc3NkxQbjM2U052Ky92NVl1M1l0Um80Y0tTdkR1WGZ2WHRTcFV3ZnQyN2ZQODFyMC9ERDRRRVJFaFVZVXhVaFJGSDlTS0JUN05ScE53dm56NTFQd2dzOXllUFRvRVVhTUdJSERodzliM1BpN3U3dmJMSGRwcXY1dzdkbzFYTHQyRFZsWldRZ05EYzMxV3IvLy9qdm16SmxqTTFuanRtM2JrSmlZaUMrKytPS3BuOWd2V0xEQWFzMTB3RGk3d1paVnExWmgxYXBWMHZiUW9VTnpUWmFXWHlrcEtSQkZNZGZnZzdXbmR6bnBkRG9jT25RSWYvMzFGMDZlUEduMVBheFRwdzc2OWV1SEdqVnFZUFhxMVZpM2JoM0dqaDJMZHUzYTJUeXZ3V0RBd1lNSHNXTEZDcFFvVVFLclY2K1c3UThLQ3JJSVBqUnQyalRQOFJMOUc0aWltQUpnSDREVlVWRlJPL0dDLzc3K0w1ZzNiNTRzS055NmRldGMrMmRsWlVtQjRwTW5UeUk5UFQzUGE3eisrdXNZUEhndzFHbzFRa0pDY1BEZ3dUeVBNWjhwNGVQakl5M2R1M3YzTHViTm0yY3pmNFMzdHpjQTRLV1hYc0pYWDMyRnlaTW5BN0JNVE96bDVZV1BQLzRZNzczM25zWGZBTUF5MzRpcnF5dmF0V3NuQ3o3MDZORURJMGFNc0RqVzA5TVRpeGN2eG9RSkU2Uy9mejE2OUdEZzRRWEU0QU1SRVQwMW5VNm5kM0p5dWl1SzRzOEdnMkhOdVhQbnpnSEkrNUhHQzJUMjdOblNCOEdiTjIvbSs3aWNOK2E1NVlBNGR1d1lWcXhZa2ErcDhNZU9IVU5FUkFSYXQyNk5qei8rT0Y5VGVGOTBPVDhzVy92Z21SZVZTb1ZmZi8zVjRnT3doNGNIV3JkdWpRNGRPcUJTcFVyWXYzOC94bzhmajRRRTQwU2JxVk9uSWlBZ3dPcU1rcU5IajJMSmtpWFNqQS96bVNzNm5RNWhZV0ZXRTNkT21EQUJvaWpLU3FVUy9SdWxwYVY5RlJzYis4alI0eWdxZnYvOWQ5bE1BRmRYVjNUc21IdTFiZlBFdWdEeVhjM0JWdUFjZ0ZRdTJpUXRMVTAybzZGQ2hRcElTa3JDOHVYTHNYdjNidWgwdW54ZHMzMzc5cmgxNjVaRkVQZWxsMTdDcWxXcmJDN2ZTMHBLa29JV0p0OS8vejNHakJrRGpVYUR4WXNYWStqUW9mamdndzlzWHR2SnlRblRwazFENmRLbDhlalJJd3dmUGp4Zlk2Ym5pOEVISWlKNmF1ZlBuNy9uNysvZktqNCszbmFaZ2hlYytST29xMWV2eXA3Q1oyUmt3R0F3UUtGUVdCeVhNNUJncXRwZ2twYVdocjE3OTJMejVzMVNPY3VjQWdNRDBhRkRCNnhZc1VKS21HVWEwNTQ5ZTdCbnp4Nm8xV3EwYjk4ZVRaczJ6VmRtOEE4Ly9GQjJVNXlabVlsOSsvWWhLaW9LWThhTWtTMUYrT3V2djdCdjN6NDBiTmdRRFJzMmxPMExEQXhFU0VoSW50ZkxTOG1TSlJFWkdXblI5alRHalJ1SHFLZ29BTVoxelcrOTlSWWFOR2lBbEpRVS9QVFRUOWl4WTRjcys3cUhod2RDUTBOUnJWbzFpM010WGJwVTlwNEQvMXVHa3BpWWlBa1RKbGlNMjBTajBXRDA2TkdJajQ5SG56NTlvRkx4NHhUOU96SHc4UHljTzNmT29ySlIxNjVkWlV2NnpIUGptSElZbUZmWjhmUHprMVVMeXErY3M4disrdXN2ZE92V1RmcmJsclBVYzhXS0ZmSGd3UU9wWkxPSnE2c3JldlhxaFJVclZsaGNJems1R2NlUEg4Zk5temVoVkNwbGYxdnYzYnVIOTk1N0Q5MjZkVVAzN3QzaDQrTWo3WXVQajhlZ1FZTXNaclA5L1BQUE9ISGlCTjU5OTExTW5qdzV6eGtpZ1BIOUd6NTh1S25xVFo3OTZmbmpYMHNpSW5vV3V2ajQrUHc5RW5sQkpDY25XMjFYcTlYbzFhc1hmdnJwSjZsTnE5Vmk3dHk1YU4yNnRWUUJ3bUF3NE5LbFM5aXlaWXZVejhQREF4VXJWZ1FBSERseUJMdDM3OGJ4NDhlbHFoWTVxVlFxOU96WkV3TUdESUN6c3pPYU5tMktpUk1ueXRhcm1rUkZSU0VxS2dwZmYvMDFhdFdxaGU3ZHV5TWtKQVMzYnQyeWVDMkNJS0I2OWVxb1hyMjZWRzV6Ly83OTBzeUR5TWhJS1k5RFptWW01c3laZy9UMGRPemZ2eDlIamh4QjQ4YU4wYVpORzlTdlh4OHFsYXBBOWRLVGs1Tng0c1FKT0RrNVNmOU00dzhQRDVmMU5XVlR6MHZ0MnJYaDVlVUZkM2RqWVJndkx5OXMyclFKWGw1ZXVIRGhBbzRkTzRhVksxZGFyQWxXS3BWbzFhb1ZRa05EcFErNW9pZ2lKU1ZGNnBNejhOQ2tTUlAwNjljUDY5YXR3NG9WSzVDWktWL3EzcWRQSDV3OWV4Wm56cHlSMmxhc1dJRmZmLzBWWDM3NUplcldyWnV2MTBSRVJjK05HemN3Wk1nUVdmVWhQejgvOU8zYlY5YXZWS2xTVWhCMHc0WU4yTFp0bSt4M1VYNS9kK1prZnJNUEdHZll0V3ZYRHFWTGwwWnFhcXJGVEw1cTFhb2hLQ2dJL3Y3K1V2QzhkdTNhbURCaEF2UjZ2U3o0c0hYclZpeFlzQUNYTGwyUzJsNTc3VFUwYjk0Y2MrZk9sV1pOWkdSa0lEdzhIT0hoNGFoUm93WWFObXlJRGgwNjRJc3Z2cEFGSGp3OFBLVGZ6OG5KeWRLMXBrNmRpcElsUzhMRHd3TUtoVUlLTHBnU1hoc01CbWkxV21nMEdtZzBHdW5yeno3N3pGRUpnc2tLQmgrSWlLaElPWHIwcUVWYm56NTlNR0RBQUNpVlNvdWtrUnMzYnNUR2pSdHpQV2VEQmcya0owZ0pDUWsyMThhYStvNFlNVUsybktKTW1USllzV0lGRGh3NGdJVUxGMXJOWjZEWDYzSDkrblVFQlFYaDZ0V3IrUHp6enkzNnVMbTVZYzJhTmRpMmJSdnUzTGtqMjJjS0NHZzBHamc3T3lNMU5SV3Z2dm9xa3BLU29OUHBrSldWaFFNSER1REFnUVB3OXZiRzVNbVRDMVFyM1ZSS05DOStmbjZvVmF0V3ZzNXBLcFg1OTk5L1kvUG16WWlOamNXMWE5Y1FHeHVMakl3TWkvNGVIaDdvM0xrenVuWHJaakc5OStEQmcxYVBVYXZWR0RwMEtJS0RnekZ4NGtTTDhuZ3FsUXBqeDQ1RisvYnRrWjJkalZHalJ1R1BQLzZROXNmRnhXSEFnQUZZdEdnUmE4c1RrVlhlM3Q1NCtQQ2hkRk90VUNnd2VmSmtGQ3RXVE5hdmJ0MjZzcGx5T1lPZ3paczNmNnJyVjZ0V0RWNWVYbEpTU2NENHQ4cTBQTTJjaTRzTG1qVnJCZ0I0KysyM2NlREFBUXdaTWdRdFdyUUFBQ3hmdmx6VzMxcU9JWlZLaGE1ZHUwS3RWaU1zTEF3NWk2VmN1SEFCNmVucDZObXpKeG8yYklpNHVEaHBuTXVXTGNPU0pVdGtBWDdBK0RBZ01URlJ5cmVVSDRJZ1BQVjdSdlpoT1krVWlJam9QNnh1M2JyU05QbGl4WXBoL3Z6NUdEUm9rRFF0OWEyMzNySjRTcFNiWXNXS3lUSnZkKzNhRlkwYk43WjYzVysvL1JhTEZpMnltY2VoWmN1VzJMWnRHMGFOR21VMSszbFlXQmpLbFN0bmRSbEJ5WklsVWJac1diaTd1OHNDRDY2dXJ1amV2VHQyN2RxRk1XUEdTQm5TWDNycEpVeWJOZzE3OSs1Rm56NTlaRXM2c3JPelViMTY5WHkvQjZicm0yWi8yS0pVS2pGMjdOZ0NMMVBRYURTWU0yY090bTdkaXVqb2FGa1FvVVNKRW1qVHBnMm1UNStPWDM3NUJhR2hvVmJYRmVkTVp1Ym41NGVaTTJkaTFhcFZDQTRPQmdDOC8vNzdzcW02M3Q3ZVdMUm9rWlMwek1YRkJYUG16RUhuenAxbDUzcnR0ZGRRdjM3OUFyMG1JaW82U3BRb2dYbno1a2xMSm9ZTkcyWjF0dFNBQVFQdyt1dXZXN1E3T3p2amd3OCtRSnMyYlo3cStrNU9UaGc5ZW5TZXlYMVZLaFdtVEpraUxRWDU0SU1Qc0hYclZpbndBQmlUTytiRzM5OGY5ZXJWQTJETWhSUWVIbzVwMDZiSnlqdzdPenRqMXF4WmNIZDNSNWN1WFFBWXF4a3RXclFJeFlzWHgralJvN0ZxMVNvMGJOaFFta1gzTkY1NzdUWDQrdm8rOWZGVStEanpnWWlJaXBTZ29DQU1IandZUC96d0F4WXRXaVQ3UUFRWUsxeXNXTEVDMzN6ekRjNmRPeWViSm11aVZDcFJzbVJKMUtwVkM3MTY5Ykk0eDlpeFkzSG16QmxvTkJvMGI5NGMzYnAxazI1dzgrTGk0b0t1WGJ1aVM1Y3VPSHo0TUhidTNJbUlpQWowN05sVGVyTHU3ZTBOWDE5ZlBIejRFTVdMRjBkZ1lDQSsvZlJUS0pWS2RPclVDZXZYcjRkS3BVS1hMbDN3emp2djVQcGgwY2ZIQjRNR0RVTHYzcjN4MDA4L1lkMjZkWGovL2ZmaDVlV1ZyL0dhZS9YVlYzSGp4ZzJMZGljbko5U3FWUXNEQnc2RVdxMHU4SGtEQXdQUnFWTW5iTnUyRGErODhncXFWcTJLcWxXcm9sYXRXcWhaczJhK3FtVzBiTmtTMTY5Zng2cFZxL0RlZSs4aE5EVFVvaFJudFdyVnBPdTBiZHNXSTBlT1JQSGl4V1Y5VERNaEdqZHVqS2xUcHlJek14T1RKMC9tK21JaXlsVkFRQUJHang2TjVPUmttOHNBdkx5OHNHelpNangrL0JpSmlZa1FSUkhPenM3dzlmVjlxbHdQNXBvM2I0NVhYbmtGMjdkdlIxeGNITEt5c2lDS0lweWNuRkNxVkNrRUJnYmluWGZla1FWdnJlWG42ZEtsQzlhc1dTTXRZeXRidGl6cTFhdUh1blhyb203ZHVoYkhDSUtBVnExYW9XWExsamgxNmhUMjdObUQ0T0JnQkFRRUFEQUdIZHExYTRlK2ZmdEtsVE1BNDZ3MHRWcU56TXhNeE1mSDQvNzkrOGpLeW9KT3A1UCtHUXdHNlBWNmlLSUlnOEZnRVdSK21yODNaRi84UzBsRVJDOFUvMm9oRXdVQmt3QWdkRkIvaEE0YVVPalhNSzMvTDFXcVZLR2YyK1RpeFlzb1Y2NmNMSm5ZMDBwS1NvS25wMmUrcTBTa3BLVElQc1FWaENuWThqUWZkRE16TTVHZW5nNkZRZ0dGUWdHbFVna25KeWU0dUxnODg4MTVWbFlXQkVGNHFrb1pKcUlvSWlvcUNyVnIxN2JaSnlVbEJWZXVYTW5YVEliVTFGUmN1M2F0MFBNOVJNZGN3T2NqUnVIVzdUdUFLRWJxOVlidWYxK0xpU3ZVaXhSUmFyVzZ0Q0FJNndHMEZFVXgwV0F3ZkhqdTNEbnJ0V25wcWZoWERRa1ZGRmdBQUI5LzJBUGpSMy9oNkNGUklkdXpadzhTRXhQUnRHblRRcW5JeEFTUmhTdnlkQlFHRC84U0R4NGtBUkNQR1RJMFhXL2V2SFF2endPZkE4NThJQ0tpSWtjUUJMc0dIZ0FVZU5sQ2JncXlEQVRBVXdjZWdLY0xPcGk0dWJsWnpDWW9MTS82MUE4d2Z0OXpDendBeHZjdXYwc292THk4bUdpU2lJcWNkdTNhRmVyNUdIZ29PcGp6Z1lpSWlJaUlpSWpzaXNFSElpSWlJaUlpSXJJckJoK0lpSWlJaUlpSXlLNFlmQ0FpSWlJaUlpSWl1Mkx3Z1lpSWlJaUlpSWpzaXNFSElpSWlJaUlpSXJJckJoK0lpSWlJaUlpSXlLNFlmQ0FpSWlJaUlpSWl1Mkx3Z1lpSWlJaUlpSWpzaXNFSElpSWlJaUlpSXJJckJoK0lpSWlJaUlpSXlLNFlmQ0FpSWlJaUlpSWl1Mkx3Z1lpSWlJaUlpSWpzaXNFSElpSWlJaUlpSXJJckJoK0lpSWlJaUlpSXlLNFlmQ0FpSWlJaUlpSWl1Mkx3Z1lpSWlJaUlpSWpzaXNFSElpSWlJaUlpSXJJcmxhTUhRRVJFUkVSRS96MGJOdjZFTFR0Mk9Yb1lSRVdLWHE5SFptYVdvNGRoRllNUFJFUkVSRVJVS0VRRnRCQkZneUFJQ28xV0M0MVc2K2doRVJWWm9naHRwa0pwY1BRNFRManNnb2lJaUlpSUNvVkJiNGdCRU92b2NSQVZkU0xFRE1Ed2g3TTI5WkdqeDJMQ21ROUVSRVJFUkZRb2JsMk5qdkQzci80VzNGeGNIRDBXb3FKTW85RVo5R21LbElTRTI1bU9Ib3NKZ3c5RVJFUkVSRlJZZFBIeEYrODdlaEJFOU9MaHNnc2lJaUlpSWlJaXNpc0dINGlJaUlpSWlJaklyaGg4SUNJaUlpSWlJaUs3WXZDQmlJaUlpSWlJaU95S3dRY2lJaUlpSWlJaXNpc0dINGlJaUlpSWlJaklyaGg4SUNJaUlpSWlJaUs3VWpsNkFFUkVSRVJFOU45UXNsS2xFaDdPbnZXVUVNbzRlaXhFUlp0Qm85Y1pUdDZLUFgvZDBTTXhZZkNCaUlpSWlJZ0toYWVUWnlzRmhQbUNnTEtPSGd0UmtTWUtHcFZTc2FwMDllcWpIbHk4bU9ibzRRQmNka0ZFUkVSRVJJVkVJUWhCRER3UXZRQUV3UmtLb1ZheGROSFQwVU14NGN3SElpSWlJaUlxZEVIVnFxQjZ0YXFPSGdaUmtaS1VuSUlUSjA4aEt6dmIwVU94d09BREVSRVJFUkVWdXBiTm1pQjAwQUJIRDRPb1NJazhIWVdMbDY4ZzY4R0xGM3pnc2dzaUlpSWlJaUlpc2l2T2ZDQWlvaGZXWHlkUEFWanU2R0VRUFZjSkNRL3c4TkVqUncrRGlJaW9VREg0UUVSRUw2d1RrYWR4SXZLMG80ZEJSRVJFUk0rSXl5NklpT2lGSW9yaUxVQjhJVXBDRVRtU0tJb0dVY0J0blpETmFSQkVSUFN2eDVrUFJFVDBRc25XcCs5MkZ0eVVDaWhacW8yS09GR2pOeGgrdlh2MWFyS2pSMEpFUlBTc0dId2dJcUlYeXYzWTJBY0FWanA2SEVSRVJFUlVlTGpzZ29pSWlJaUlpSWpzaXNFSElpSWlJaUlpSXJJckJoK0lpSWlJaUlpSXlLNFlmQ0FpSWlJaUlpSWl1Mkx3Z1lpSWlJaUlpSWpzaXNFSElpSWlJaUlpSXJJckJoK0lpSWlJaUlpSXlLNFlmQ0FpSWlJaUlpSWl1Mkx3Z1lpSWlJaUlpSWpzaXNFSElpSWlJaUlpSXJJckJoK0lpSWlJaUlpSXlLNFlmQ0FpSWlJaUlpSWl1MUk1ZWdCRVJFUkVSRVQwOU83ZHU0Zkl5RWdBUUZCUUVDcFhybXkxMytYTGwzSDkrblZVcVZJRkZTdFdoRXFWOSsxZ2ZIdzhmdi85ZHdCQXlaSWwwYkZqUjZ2OWR1L2VqY3VYTDZOaXhZcW9XTEVpYXRXcUJTY25wNmQ4UmRhbHA2Y2pJaUpDMnE1VXFSSXFWYW9rYmV0MHVueTlKbklNZm1lSWlJaUlpSWdLaVU2bnc2Wk5tMUN2WGowRUJBUUFBTFJhTGJSYTdUT2QxOVhWRlFxRjlZbnJGeTVjd09USmt3RUFBd2NPdEJsOCtQNzc3M0hnd0FFQXdPZWZmNDdldlh2bmVkM1kyRmdzWHJ3WWdQRm0zMXJ3SVNVbEJiTm56MFo2ZWpvQW9HTEZpdGk4ZVhQZUw2cUFIajE2aEZHalJrbmJ2WHIxd3BBaFE1Q1ZsWVd3c0RCa1ptWmkxcXhaTnQ4bmNpd0dINGlJaUlpSWlBckJtVE5uRUJZV2h2ajRlRlNzV0JIcjE2K0hxNnNyNXMyYjk4dzM0NnRXcllKYXJjYVdMVnN3ZmZwMG0vMldMVnVHWmN1V3lkckdqUnVIVnExYTRjaVJJMUpieFlvVmNlWEtGWXZqUFR3OFVLNWN1UUtOYmVuU3BWTGdBUUI2OSs0dDI4NnBXTEZpVUNxVkJicUdhV3ptTWpNekFSZ0RLV2ZPbkFFQXpKMDdGMTk4OFVXQnowMzJ4K0FERVJFUkVSRlJJUkJGRVRkdjNnUUEzTGh4QTdObXpjS0VDUk1jUENxamd3Y1BJanM3VzlvZVBueTQxWDROR3piRXdvVUw4MzNleTVjdlk4ZU9IYksyaVJNbjVuck1Eei84Z0twVnErYjdHaWJ1N3U2eTdheXNMQURBNE1HRDBiOS9mMmkxV216Y3VCRmx5cFRCaHg5K1dPRHprMzB4K0VCRVJFUkVSRlFJWG52dE5mVHExUXRyMXF3QkFPemN1Uk5ObXphVjlYRnpjN040Z205TFVsSVNSRkdVdFRWdTNCZ3Z2L3l5ckMwcUtnb3JWNjRFQUx6enpqdG8zYnExYkgrRkNoVXdjT0RBQXIyVy9FaExTOE9vVWFNc3htZ3ZDb1VDN3U3dTBxd0swOHlIVjE5OUZWOSsrU1hDd3NMZzR1S0NVcVZLUFpmeFVNRXcrRUJFUkVSRVJGUkkrdmZ2ajBPSER1SFdyVnNBZ0Y5KytRV2VucDdTL280ZE8yTGt5SkhTOXViTm0zSDA2RkVBUUtkT25kQ3NXVE5wWDRzV0xaQ1NraUk3djYrdkwxYXVYSWw3OSs1SmJjbkp5ZExYWjgrZVJWSlNrclN0VUNqUXFGRWphVHdBOE5sbm44SE56UTBBY1BUb1VTbFpaY3VXTGZGLy8vZC8rUFBQUDZXbEN3YURRVHJ1eG8wYmVQUE5Od0VBWDMvOU5YYnQyb1hidDI5TCswdVhMbTExT1VWQ1FvSXNRS0ZRS0pDV2xvWldyVnBaOU0yTGFiWURBQnc2ZEVnYWo0bE9wME5ZV0JqQ3dzS3dZOGNPbEM1ZHVzRFhJUHRnOElHSWlJaUlxQWhTcTlYdkdneUcrMXF0OXVURml4YzFqaDdQZjRXenN6TysvUEpMekpneEE4T0dEVU9USmswd2MrWk1XWjlIang3aDNMbHpBSURqeDQ5TEZSeEtseTROWjJkbkFFRHQyclZ0WHVQczJiT0lpNHV6dXUvV3JWdXlRSU1nQ0xoOCtiS3NqNmVuSjdwMjdRb0EyTFZybDlUZXYzOS8rUHY3NDQ4Ly9wRGQ1SnVJb2lpMXIxbXpCdWZQbjVmdDc5V3JGOTUvLzMxWjI4OC8vNHp4NDhkTDIzWHExRUZnWUNEUzB0S3NYcU1nREFhRHhUbjBlajMwZXIyMG4xNGNERDRRRVJFUkVSVk43eXFWeW00S2hTSkJyVmF2MU92MTYxTlNVdjYrZmZ0Mk5nRGV0VDJEQmcwYVlOdTJiVGJMUGw2L2ZoMURodzYxYU4rMWE1Y1VETmkwYVZPZTEvSDM5OGVrU1pNUUdSbUpKVXVXQUFBNmQrNk05dTNiWThXS0ZZaUlpSUFvaXJLWkVRQ3dZY01HZE96WUVYRnhjYmgyN1JvQUlEQXdFUDcrL3ZsK2pUa0REd0F3Zi81OCtQdjdvMzc5K2dDQW1KZ1loSVdGU2ZzOVBEd3dlZkprQ0lLUTcrdlFmd2VERDBSRVJFUkVSWmdnQ0g0QXhpbVZ5aTlMbHk1OXRuVHAwcjhaRElaSWpVWnordEtsUzM4RGVENEwrdi9sVHA0OGllWExsOHZhK3ZidEs5MkkyNE9MaXdzQ0FnSmtNeDI4dmIwUkVCQWdMZlZRS0JUbzNMa3p0bXpaZ29vVksrTEdqUnU0ZmZzMlZxNWNpWXNYTDBySGRlN2NXZm82T0RnWWl4WXRBZ0NzWHIwYVVWRlJBSUF5WmNwZzdOaXgwR2cwbURwMUtsSlRVMUdtVEJrVUwxNGNWNjllaFY2dng5Q2hRekZ1M0RpSW9vaHAwNlpKSlVhVlNpVW1UWnFFTW1YS0FERG12cGcyYlZxQlgvT1BQLzZJbUpnWUFNWUVsR1BIanJYWnQwU0pFZ1UrUDlrUGd3OUVSRVJFUkFSQkVKd0J2QTdnZFlWQzhZK3JxK3N0dFZvZEJlQ1FScVBaZStIQ2haUThUbEdrL2ZQUFA5SlNDdk0yYTBKQ1F2RG5uMzhDTUphRzNMcDFLd0JqMVlZZVBYb0FnTFQ4SWpkWHJseEJvMGFOWkcyclZxM0NxbFdyWkcyalI0OUd4NDRkNGVUa2hQZmZmeDhHZ3dIaDRlRlNIZ1lmSHg5MDZOQkI2bCt5WkVrMGFOQUFCb05CdG1TaVdMRmlhTkNnQVFEQXk4c0xreWRQeHVMRmkrSHU3bzYrZmZzaUxpNE9PcDBPa3laTmtsM2YyZGtaczJiTmtvMVZwVkk5VmM2SHlNaElLZmlRblozOVZPY2d4MkR3Z1lpSWlJaW9pTXRaclVBUWhKSUFTZ0tvQmFDWHM3UHp3OXExYSsvUmFEUUxGQXJGcGVqbzZHd0FPZ2NNOVQvaDZOR2pVaUpKVTJsT3dGaTI4dWVmZndZQUJBUUUyRHkrVktsU2VQejRNUURnNGNPSDBHaitsN0xEM2QwZHhZb1ZrN1pOQ1NDRGdvSUFBTDE3OThicTFhdGwzL09oUTRmQzFkWFY0am9uVDU1RWFtcXF0SzNSYUdBd0dLQlFLQkFTRW9LZmZ2b0pLcFVLR1JrWjZOU3BFK2JPbld0MXZPM2F0VU53Y0xETjExTVFKVXVXbEw3VzZYUklTMHZMZC9VUWNpd0dINGlJaUlpb0tDcW1VQ2c2aFlTRUJEbDZJSTRpaW1JVlcydnZUVGVtcHYyQ0lKUUEwTlBaMmJtYktJclhRa0pDZmhNRTRZSk9wenVyMSt0UE0yRWxVTDU4ZVhUbzBBRy8vLzQ3SGoxNmxHdmYxYXRYVzgyWmNQRGdRUnc4ZUJBQXBJU1ExcGlXZDZ4ZHV4YUxGeStXN2V2V3JSdWlvNlBScGswYnRHM2JWcFozNHViTm03aDY5YXJGK2I3OTlsdUlvb2dXTFZyQXljbEphdCt4WTRlczMrM2J0OUduVHgrTUhUc1dXVmxaaUlxS3dxbFRweEFaR1NrTGdPUzBiZHMyYk51MkRWV3JWa1gxNnRWUnRXcFZOR3ZXRE43ZTNtalJvZ1V5TWpKc0htdXVYNzkrOFBiMmxyV2xwS1F3K1BBdndlQURFUkVSRVJVNWdpQjRBQmhRbEJQZldabnRZTkdlTXdnQlFDVUlRcEFnQ0VFQWRDcVY2bzVTcWJ4U3UzYnQzUnFOWm1kYUVaNExVYU5HRGRTb1VRTVhMMTdNTS9qZzZ1cHFkYWFCT2ZNZ1FFN3g4ZkdZUDM4K2poMDdCc0NZMitEaHc0Y0FnSzFidCtMaHc0YzRkZW9VVnExYWhVOCsrUVMrdnI3WXZuMDdqaDQ5Q3AzTzhwdjA5OTkvWS96NDhRZ0xDMFA5K3ZVeGMrWk1KQ1ltNHJmZmZyUG9HeE1UZys3ZHU5c2NteUFJZU91dHQ2RFJhS1NsSlNaWHJsekJsU3RYQUJpclhuaDdleU1qSXlQZlZTKzBXaTNLbGkwcmEzdnc0QUVxVktpUXIrUEpzUmg4SUNJaUlxSWlJVHM3KzZHTGkwc0NBSU1nQ0FwSGorZEZsYzhnQkdBTVJMd2lDRUo1QUEyZG5KeUdPQnNNSjdSaTBRM281SWNnQ0ZpeFlrVysrdTdidDArMkxZb2lKazJhaEwxNzkwcmZrOXExYTZORGh3NllPSEVpQUtCU3BVcTRmZnMySGp4NGdMdDM3MkxseXBVb1diSWtMbDI2SkozSDJka1puMy8rT1ZRcUZaWXNXWUswdERRQVFGWldGcXBVcVFLbFVvazFhOVpJSlN2em8xeTVjbWpkdWpYYXQyK1BjdVhLQVFDdVhidUduVHQzNHBkZmZwSGx2L0R5OGlwUVpRMXpwb1NWSmdrSkNVOTFIbnIrR0h3Z0lpSWlvaUxoNHNXTG11RGc0RGxPVGs0M0FCUjM5SGdjVFJURjFvSWdWTFhTYnRIWHhneVJXd0JPaWFKNFJoQ0VneGtaR1JjMGd0dndJanlaeEtxa3BDVFpiQU1uSnlkY3UzWU52WHYzdG5tTWw1Y1g5dTdkYTlFdUNBSjhmWDJsNzFHVEprMHdkZXBVSEQ5K1hPcFRyMTQ5ZlBqaGgxaTNiaDIrKys0N0RCa3lCRldyVmtYUG5qMlJsWldGSmsyYVlPalFvU2hmdmp3QW9HblRwbGkzYmgxMjc5NE5wVktKRHovOEVILy8vVGUyYjk5dWNYMFBEdytJb2dpdFZvdUFnQUM0dXJyaWpUZmVRT1BHalZHMXFzV1BFaXBYcm95UkkwZGkrUERoaUk2T3h2SGp4M0htekJuNCt2cEtQMU96WjgrV0JUbkdqaDJMOVBSMEFFRE5talh4eVNlZlNQdjgvZjNoNXVZbXU4YmR1M2R0dm8vMFltSHdnWWlJaUlpS2pQUG56MGNEaUhiME9GNEVhclg2SlFEU0hXTitnZzZpS0dZRCtCM0FGZ0NuTkJyTnJRc1hMdnlESitVNC9hdUYySEhFL3o3Mzd0M0RzR0hEcEJ0OXdMamt3bUF3NUxyVUlETXowK2Erdm4zNzRyZmZmb09ibXhzYU4yNk1YMy85RlRxZERxR2hvUUNNSlN6Mzc5OFBYMTlmZlB6eHg4ak96a1owZERRYU5td0lYMTlmVks1Y0dXZk9uTUdaTTJla2N3WUVCT0N6eno3REs2KzhBamMzTjV3NmRVb0tDQVFIQjB2NUtYeDlmVEY5K25URXg4ZWplZlBtNk4rL1A5YXNXWU0xYTliayt6MXAwNmFOckR5bXFYcUdpWG1PQ205dmI0dHFIb0R4UFRTOWYzLy8vWGUrcjAyT3hlQURFUkVSRVJIWm10MlFLWXJpWXdEbkJVSFlydGZyTjBkSFJ5Yys1Nkg5YXkxZnZoeXVycTZ5SklrNWN6M1VyMThmTFZ1MmxQcm50WXpBMmRrWkV5Wk1RSjgrZlRCNTh1UkNIYTlwT1VqbHlwVUJHRXRyZHVyVVNaWWNNekF3RUlHQmdRQ015elR5bTYvQkpMZkVsUGxWc1dKRmFSbEpYRnljYk45ZmYvMkY0T0JnSnFISEluT21BQUFIb2tsRVFWUjhBVEg0UUVSRVJFUlV4Rm1aNFhBUnhoa2lSM1U2M2JHWW1KaExZR25OQWpNWURNakl5SkJWbVBEMDlKVDFDUWdJUVB2MjdRRUFQL3p3UTc1eUdMaTR1RmprUHJBbUlTRkJtdEZTdkhoeFdRbE9XK2NGSUFVWHVuVHA4a0xleEFjR0JrckJoMnZYcmlFN08xc2ErOXExYTNIbHloWDA3dDBiblR0M2hydTd1eU9IU21ZWWZDQWlJaUlpSW9paStBREFyd0MyNlhTNkM1bVptWGRqWTJOekw5dEFGa3o1Q2t5OHZMeVFtUGkveVNLbVpJd21zYkd4VW42RnZLcGttRlNyVmszS0NURml4QWpjdVhNSGdMSE1acWRPbmFSK1RaczJsYXBnOU83ZEcyM2J0clY2UGljbko1UW9VVUxhZG5OelE1VXFWZkR4eHg4ak1qSXlYMk5xMDZZTit2WHJaM1hmMkxGamNlSENoWHlkeDV4T3A4T05HemR3Ky9adDNMcDFDN2R1M1lLUGp3K3FWNitPM2J0M1MzMU9uejR0TGQrNGVmTW1VbE5Uc1dEQkFpUW1KbUxFaUJFRnZpN1pCNE1QUkVSRVJFUkZrQ2lLbVFEdUNJSVFxZFBwd3FPam8zYzVla3ovZHZmdjM4ZjkrL2VsYlI4Zkg0d1lNUUtqUjQrVzJzcVZLeWRWbHdDTXl3VCsrdXV2cDc3bWpSczNjUFBtVFFCQWNuS3l6WDdmZlBNTnZ2bm1HNnY3Z29PRDhmMzMzOHZhSms2Y0tBdEk1TVhEd3dNdnYveXkxWDJtV1FrNUpTVWxJVEV4RVFrSkNYanc0QUVTRWhKaytTNk9Iejh1UzZZSkFNMmJOOGVubjM0cWE5dStmVHNhTkdpQVI0OGV5ZDcvaWhVcjVudjhaSDhNUGhBUkVSRVJGVUVHZzJHNVhxOFB1M0RoUXF5angvSmZrWnljTEMxaEtWNjhPSll0V3lZcmwybGFMaEViKzcrM1hLVlN5WklzQXBBcU9saExBdnE4Vkt0V3JVRDl0Vm90SGo5K2JIV2Z0WktkV1ZsWmFOV3FWWUhIcFZLcEVCZ1lDRjlmWDJsR3lXKy8vWWF6Wjg5YUJGOEsraHJJdmhoOElDSWlJaUlxZ3FLam8wODRlZ3ovTlRWcTFNRGd3WU94Yk5reUxGeTRFUDcrL2podzRJQzAvOVZYWDRWU3FaUWQwNzE3ZHd3Yk5nd0E4T0RCQTdpNnVrS3BWT0xVcVZOSVRVMlYrdVU4cnFCR2pScUZ6cDA3Vzkxbkk5bG9nV3pmdnQxcWVVNWJYRjFkVWJKa1Nmenp6ei81UHNiUHp3LysvdjRRQkFIdnZQTU92dnZ1TzJuZm9FR0RaRUVjVjFkWFZLbFNKZC9uSnZ0ajhJR0lpSWlJaUtpUWZQVFJSNmhidHk2Q2dvS3djK2RPM0w1OVc5cFh0MjVkQU1hRWlZY09IUUlncjM0eGJOZ3dLWkZpVHFWTGx3WmdYQTV4OE9CQnFkMjgyc1RLbFNzUkhoNXVkZCs4ZWZPd2NPSENQTWYvNXB0dll0YXNXWG4yS3d4bHlwU3hDRDc0K3ZxaVFvVUtlUG5sbDJYL0xWKyt2R3o1Um84ZVBmRGpqejhpSXlNREFDeXFialJxMU1oaVJnazVGcjhiUkVSRVJFUkVoU2dvS0FnQWNQZnVYUWlDSUMyZmVQdnR0d0VZWnpGNGVYbFpIRmV6WmsycndZZkF3RUNwdW9WR283RlozbEtuMDBHbnMxNlVSS3ZWUXF2VjVqbjI3T3pzUFBzVWxrNmRPcUZGaXhaU2tLRjgrZklXcFVodDhmTHl3b3daTXpCczJEQ0xaUjJDSUtCbno1NzJHREk5QXdZZmlJaUlpSWlJN0dEZ3dJRm8xS2dSSms2Y0NCOGZIMVNxVkNuWC9yVnExY0xtelp1bGJVRVFFQndjakFrVEpraExJMXEyYkltQWdBQzdqYmxDaFFyNTdxdFVLcUZRS0FBWXkzS2Fsby9rTkhMa1NFUkhSd09Rei9UbzBxWExNNHpVT0V2aisrKy94NG9WSzNEaHdnVThmdndZZ1lHQjZOKy9QMnJXclBsTTU2YkM5K3lMZTRpSWlJaUlpQUQ0Vnd1WktBaVlCQUNoZy9vamROQUFSdy9waFpDZG5ZMTc5KzdCMzk4LzEzNVpXVm00YytjT2xFb2xuSjJkNGUzdG5lK1pBRVFBRUhrNkNvT0hmNGtIRDVJQWlNY01HWnF1TjI5ZXV1Zm9jUUdjK1VCRVJFUkVSR1JYTGk0dWVRWWVBT09zQUh2T2FpQnlKSVdqQjBCRVJFUkVSRVJFLzIwTVBoQVJFUkVSRVJHUlhUSDRRRVJFUkVSRVJFUjJ4ZUFERVJFUkVSRVJFZGtWZ3c5RVJFUkVSRVJFWkZjTVBoQVJFUkVSRVJHUlhUSDRRRVJFUkVSRVJFUjJ4ZUFERVJFUkVSRVJFZGtWZ3c5RVJFUkVSRVJFWkZjTVBoQVJFUkVSRVJHUlhUSDRRRVJFUkVSRVJFUjJ4ZUFERVJFUkVSRVJFZGtWZ3c5RVJFUkVSRVJFWkZjTVBoQVJFUkVSRVJHUlhUSDRRRVJFUkVSRVJFUjJ4ZUFERVJFUkVSRVJFZGtWZ3c5RVJFUkVSRVJFWkZjTVBoQVJFUkVSRVJHUlhUSDRRRVJFUkVSRVJFUjJwWEwwQUlpSWlJaUk2TDluMmNwd3JGNjd3ZEhESUNwUzlIbzlNak96SEQwTXF4aDhJQ0lpSWlLaVFpRUNXb2lpUVJBRWhVYWpnVWFqY2ZTUWlJb3NVWVEyVTZFME9Ib2NKbHgyUVVSRVJFUkVoY0lBM1NrQXNZNGVCMUZSSjBMTUFBeC9PR3RUSHpsNkxDYUNvd2RBUkVSRVJFVC9HVTcrL3RWTENXNHVMbzRlQ0ZGUmxxM1JHdlJwaXBTRWhPaDBSNCtG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2p3L0QvbUFpZDdNQlhIRkFBQUFBQkpSVTVFcmtKZ2dnPT0iLAoJIlRoZW1lIiA6ICIiLAoJIlR5cGUiIDogImZsb3ciLAoJIlVzZXJJZCIgOiAiMTYxNjg4MzQ5MCIsCgkiVmVyc2lvbiIgOiAiIgp9Cg=="/>
    </extobj>
  </extobjs>
</s:customData>
</file>

<file path=customXml/itemProps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11392</Words>
  <Application>WPS 演示</Application>
  <PresentationFormat>宽屏</PresentationFormat>
  <Paragraphs>280</Paragraphs>
  <Slides>29</Slides>
  <Notes>24</Notes>
  <HiddenSlides>0</HiddenSlides>
  <MMClips>2</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Arial</vt:lpstr>
      <vt:lpstr>宋体</vt:lpstr>
      <vt:lpstr>Wingdings</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mycomputer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chenjiawei</dc:creator>
  <cp:lastModifiedBy>陈昊旸</cp:lastModifiedBy>
  <cp:revision>105</cp:revision>
  <dcterms:created xsi:type="dcterms:W3CDTF">2025-04-23T07:53:00Z</dcterms:created>
  <dcterms:modified xsi:type="dcterms:W3CDTF">2025-05-19T13:50:00Z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7F6DBD481C184C7794780977E56F18CF_13</vt:lpwstr>
  </property>
</Properties>
</file>