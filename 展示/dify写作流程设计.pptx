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20" r:id="rId5"/>
    <p:sldId id="386" r:id="rId6"/>
    <p:sldId id="387" r:id="rId7"/>
    <p:sldId id="388" r:id="rId8"/>
    <p:sldId id="389" r:id="rId9"/>
    <p:sldId id="294" r:id="rId10"/>
    <p:sldId id="349" r:id="rId11"/>
    <p:sldId id="350" r:id="rId12"/>
    <p:sldId id="362" r:id="rId13"/>
    <p:sldId id="352" r:id="rId14"/>
    <p:sldId id="359" r:id="rId15"/>
    <p:sldId id="390" r:id="rId16"/>
    <p:sldId id="374" r:id="rId17"/>
    <p:sldId id="360" r:id="rId18"/>
    <p:sldId id="376" r:id="rId19"/>
    <p:sldId id="378" r:id="rId20"/>
    <p:sldId id="377" r:id="rId21"/>
    <p:sldId id="361" r:id="rId22"/>
    <p:sldId id="354" r:id="rId23"/>
    <p:sldId id="379" r:id="rId24"/>
    <p:sldId id="355" r:id="rId25"/>
    <p:sldId id="281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851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4" pos="7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9" autoAdjust="0"/>
    <p:restoredTop sz="92866" autoAdjust="0"/>
  </p:normalViewPr>
  <p:slideViewPr>
    <p:cSldViewPr snapToGrid="0" showGuides="1">
      <p:cViewPr varScale="1">
        <p:scale>
          <a:sx n="124" d="100"/>
          <a:sy n="124" d="100"/>
        </p:scale>
        <p:origin x="808" y="168"/>
      </p:cViewPr>
      <p:guideLst>
        <p:guide orient="horz" pos="2118"/>
        <p:guide pos="3851"/>
        <p:guide pos="512"/>
        <p:guide pos="712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CA76-B799-4CDE-9068-35594054F5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2561866" y="-185945"/>
            <a:ext cx="12192000" cy="6858000"/>
            <a:chOff x="-9441874" y="-1384720"/>
            <a:chExt cx="12192000" cy="6858000"/>
          </a:xfrm>
        </p:grpSpPr>
        <p:pic>
          <p:nvPicPr>
            <p:cNvPr id="1026" name="Picture 2" descr="http://pic.97uimg.com/back_pic/00/01/88/75/dab74c05ca1b40a8122bedf0e8ad055b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420"/>
            <a:stretch>
              <a:fillRect/>
            </a:stretch>
          </p:blipFill>
          <p:spPr bwMode="auto">
            <a:xfrm>
              <a:off x="-9441599" y="-1384719"/>
              <a:ext cx="12191450" cy="685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-9441874" y="-1384720"/>
              <a:ext cx="12192000" cy="68580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82210" y="2938825"/>
            <a:ext cx="562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4800" b="1" spc="300" dirty="0">
                <a:solidFill>
                  <a:schemeClr val="bg1"/>
                </a:solidFill>
              </a:rPr>
              <a:t>北京航空航天大学</a:t>
            </a:r>
            <a:endParaRPr lang="zh-CN" altLang="en-US" sz="4800" b="1" spc="3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0915" y="433895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汇报人：</a:t>
            </a:r>
            <a:r>
              <a:rPr lang="en-US" altLang="zh-CN" b="1" dirty="0">
                <a:solidFill>
                  <a:schemeClr val="bg1"/>
                </a:solidFill>
              </a:rPr>
              <a:t>G233</a:t>
            </a:r>
            <a:r>
              <a:rPr lang="zh-CN" altLang="en-US" b="1" dirty="0">
                <a:solidFill>
                  <a:schemeClr val="bg1"/>
                </a:solidFill>
              </a:rPr>
              <a:t>组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9" name="Jewel - Simple Gifts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0" y="-1211826"/>
            <a:ext cx="6096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51" y="2662728"/>
            <a:ext cx="1399822" cy="1399822"/>
          </a:xfrm>
          <a:prstGeom prst="rect">
            <a:avLst/>
          </a:prstGeom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1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" grpId="0" animBg="1"/>
      <p:bldP spid="5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4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7282"/>
            <a:ext cx="5312229" cy="3905382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39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858003" h="3917120">
                <a:moveTo>
                  <a:pt x="6843510" y="0"/>
                </a:moveTo>
                <a:lnTo>
                  <a:pt x="6858003" y="3917120"/>
                </a:lnTo>
                <a:lnTo>
                  <a:pt x="10100" y="3917120"/>
                </a:lnTo>
                <a:lnTo>
                  <a:pt x="10100" y="2356597"/>
                </a:lnTo>
                <a:cubicBezTo>
                  <a:pt x="11605" y="1577905"/>
                  <a:pt x="-1382" y="1039438"/>
                  <a:pt x="122" y="260746"/>
                </a:cubicBezTo>
                <a:cubicBezTo>
                  <a:pt x="2672562" y="2903059"/>
                  <a:pt x="5345001" y="2082125"/>
                  <a:pt x="6843510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rot="16200000">
            <a:off x="3793994" y="-16037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9" h="6879174">
                <a:moveTo>
                  <a:pt x="6868899" y="197279"/>
                </a:moveTo>
                <a:cubicBezTo>
                  <a:pt x="6865271" y="1808265"/>
                  <a:pt x="6858008" y="6879174"/>
                  <a:pt x="6858008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9" y="1257529"/>
                  <a:pt x="4524842" y="1741029"/>
                  <a:pt x="6868899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94012" y="4178180"/>
            <a:ext cx="316801" cy="316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0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756816" y="4137191"/>
            <a:ext cx="1121410" cy="39878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pipeline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294012" y="4668883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0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756816" y="4627894"/>
            <a:ext cx="1960880" cy="39878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上下文长度限制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66392" y="2985413"/>
            <a:ext cx="3847848" cy="64633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lvl="0"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lvl="1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lvl="2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lvl="3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lvl="4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lvl="5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6pPr>
            <a:lvl7pPr marL="914400" lvl="6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7pPr>
            <a:lvl8pPr marL="1371600" lvl="7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8pPr>
            <a:lvl9pPr marL="1828800" lvl="8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目录 </a:t>
            </a:r>
            <a:r>
              <a:rPr lang="en-US" altLang="zh-CN" sz="3600"/>
              <a:t>| CONTENT</a:t>
            </a:r>
            <a:endParaRPr lang="en-US" altLang="zh-CN" sz="3600"/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294012" y="5174330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56816" y="5132676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endParaRPr lang="zh-CN" altLang="en-US" sz="2000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668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Dify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规划模型工作流程可视界面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1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06045" y="853440"/>
            <a:ext cx="11859260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170" y="5929630"/>
            <a:ext cx="11593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参考例子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Topic Research</a:t>
            </a:r>
            <a:endParaRPr lang="en-US" altLang="zh-CN" dirty="0"/>
          </a:p>
          <a:p>
            <a:r>
              <a:rPr lang="zh-CN" altLang="en-US" dirty="0"/>
              <a:t>模型</a:t>
            </a:r>
            <a:r>
              <a:rPr lang="en-US" altLang="zh-CN" dirty="0"/>
              <a:t>: gpt-4o</a:t>
            </a:r>
            <a:r>
              <a:rPr lang="zh-CN" altLang="en-US" dirty="0"/>
              <a:t>；功能：领域调研；流程思路：反复搜索直到用户满意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745" y="853440"/>
            <a:ext cx="9069070" cy="4964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668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Dify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规划模型工作流程可视界面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2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06045" y="853440"/>
            <a:ext cx="11859260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170" y="5929630"/>
            <a:ext cx="11593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参考例子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Translation and Polish</a:t>
            </a:r>
            <a:endParaRPr lang="en-US" altLang="zh-CN"/>
          </a:p>
          <a:p>
            <a:r>
              <a:rPr lang="zh-CN" altLang="en-US"/>
              <a:t>模型</a:t>
            </a:r>
            <a:r>
              <a:rPr lang="en-US" altLang="zh-CN"/>
              <a:t>: Gemini 2.0</a:t>
            </a:r>
            <a:r>
              <a:rPr lang="zh-CN" altLang="en-US"/>
              <a:t>；功能：翻译润色；流程思路：线性流程，拆解任务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" y="853440"/>
            <a:ext cx="11617960" cy="4861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668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Dify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规划模型工作流程可视界面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3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06045" y="853440"/>
            <a:ext cx="11859260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7248" y="5486498"/>
            <a:ext cx="11593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参考例子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Related Work Generation</a:t>
            </a:r>
            <a:endParaRPr lang="en-US" altLang="zh-CN" dirty="0"/>
          </a:p>
          <a:p>
            <a:r>
              <a:rPr lang="zh-CN" altLang="en-US" dirty="0"/>
              <a:t>模型</a:t>
            </a:r>
            <a:r>
              <a:rPr lang="en-US" altLang="zh-CN" dirty="0"/>
              <a:t>: </a:t>
            </a:r>
            <a:r>
              <a:rPr lang="en-US" altLang="zh-CN" dirty="0" err="1"/>
              <a:t>Deepseek</a:t>
            </a:r>
            <a:r>
              <a:rPr lang="en-US" altLang="zh-CN" dirty="0"/>
              <a:t> r1</a:t>
            </a:r>
            <a:r>
              <a:rPr lang="zh-CN" altLang="en-US" dirty="0"/>
              <a:t>；功能：文献调研，知识总结；流程思路：构建知识库，网页检索，条件判断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6" y="933315"/>
            <a:ext cx="11906637" cy="4233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668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Dify</a:t>
            </a:r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规划模型工作流程可视界面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4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06045" y="853440"/>
            <a:ext cx="11859260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2125" y="5681980"/>
            <a:ext cx="11593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参考例子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Experiment Assistant</a:t>
            </a:r>
            <a:endParaRPr lang="en-US" altLang="zh-CN" dirty="0"/>
          </a:p>
          <a:p>
            <a:r>
              <a:rPr lang="zh-CN" altLang="en-US" dirty="0"/>
              <a:t>模型</a:t>
            </a:r>
            <a:r>
              <a:rPr lang="en-US" altLang="zh-CN" dirty="0"/>
              <a:t>: </a:t>
            </a:r>
            <a:r>
              <a:rPr lang="en-US" altLang="zh-CN" dirty="0" err="1"/>
              <a:t>Deepseek</a:t>
            </a:r>
            <a:r>
              <a:rPr lang="en-US" altLang="zh-CN" dirty="0"/>
              <a:t> r1,Qwen-VL</a:t>
            </a:r>
            <a:r>
              <a:rPr lang="zh-CN" altLang="en-US" dirty="0"/>
              <a:t>；功能：参照模板生成表格代码，数据分析；流程思路：问题分类，文件处理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1" y="809190"/>
            <a:ext cx="11235284" cy="486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整体框架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5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06045" y="950595"/>
            <a:ext cx="11859260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本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论文写作辅助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项目整体采用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线性的、指令驱动的、检索与生成交替迭代​​的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流程</a:t>
            </a: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580515"/>
            <a:ext cx="12192000" cy="4418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启动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6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853757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启动与核心检索准备 (START &amp; Core Search Setup)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流程从 ​​"START"​​ 开始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，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预设了一系列​​必填的核心检索操作指令​​ (如 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文档中的标题与摘要、查找文档中的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introduction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、相关工作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等)，它们构成了后续每个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检索步骤的关键词，并以此为根据进行生成</a:t>
            </a: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75354" t="6161"/>
          <a:stretch>
            <a:fillRect/>
          </a:stretch>
        </p:blipFill>
        <p:spPr>
          <a:xfrm>
            <a:off x="8937625" y="-8890"/>
            <a:ext cx="3162935" cy="6557645"/>
          </a:xfrm>
          <a:prstGeom prst="rect">
            <a:avLst/>
          </a:prstGeom>
        </p:spPr>
      </p:pic>
      <p:pic>
        <p:nvPicPr>
          <p:cNvPr id="12" name="图片 11" descr="截屏2025-06-11 18.20.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2840990"/>
            <a:ext cx="8576945" cy="3102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章节撰写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7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章节撰写循环 (Retrieve-Generate Loop Per Section)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对于论文的​​每一个核心章节​​（包括标题/摘要、引言、相关工作、方法、实验、结果分析、结论）：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​​检索:​​ 首先执行对应章节的​​预定义检索操作​​。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​​生成:​​ 基于检索到的相关资料和​​统一的、具体的任务指令​​，调用大模型​​生成该章节的初稿内容​​。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10" name="图片 9" descr="截屏2025-06-11 18.23.12"/>
          <p:cNvPicPr>
            <a:picLocks noChangeAspect="1"/>
          </p:cNvPicPr>
          <p:nvPr/>
        </p:nvPicPr>
        <p:blipFill>
          <a:blip r:embed="rId1"/>
          <a:srcRect b="24432"/>
          <a:stretch>
            <a:fillRect/>
          </a:stretch>
        </p:blipFill>
        <p:spPr>
          <a:xfrm>
            <a:off x="802640" y="2675890"/>
            <a:ext cx="10624185" cy="3474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提示词设计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4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896788" y="1069199"/>
            <a:ext cx="10398424" cy="9678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通过一个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系统提示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为大模型说明身份信息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，以便更专业地完成论文撰写任务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对于每个任务，详细专业地描述任务要求、现有内容以及格式要求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426" y="2364571"/>
            <a:ext cx="3925109" cy="36111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806" y="2182228"/>
            <a:ext cx="3137329" cy="156431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97859"/>
            <a:ext cx="2908860" cy="2526553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2499031" y="5979715"/>
            <a:ext cx="1566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系统提示词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9590629" y="2518501"/>
            <a:ext cx="1809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结合大纲和上下文生成初步论文提示词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9590628" y="4699471"/>
            <a:ext cx="18097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结合检索内容、大纲和上下文生完善后论文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dirty="0"/>
              <a:t>提示词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整体流程演示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8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展示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pipeline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rPr>
              <a:t>demo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4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7282"/>
            <a:ext cx="5312229" cy="3905382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39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858003" h="3917120">
                <a:moveTo>
                  <a:pt x="6843510" y="0"/>
                </a:moveTo>
                <a:lnTo>
                  <a:pt x="6858003" y="3917120"/>
                </a:lnTo>
                <a:lnTo>
                  <a:pt x="10100" y="3917120"/>
                </a:lnTo>
                <a:lnTo>
                  <a:pt x="10100" y="2356597"/>
                </a:lnTo>
                <a:cubicBezTo>
                  <a:pt x="11605" y="1577905"/>
                  <a:pt x="-1382" y="1039438"/>
                  <a:pt x="122" y="260746"/>
                </a:cubicBezTo>
                <a:cubicBezTo>
                  <a:pt x="2672562" y="2903059"/>
                  <a:pt x="5345001" y="2082125"/>
                  <a:pt x="6843510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rot="16200000">
            <a:off x="3793994" y="-16037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9" h="6879174">
                <a:moveTo>
                  <a:pt x="6868899" y="197279"/>
                </a:moveTo>
                <a:cubicBezTo>
                  <a:pt x="6865271" y="1808265"/>
                  <a:pt x="6858008" y="6879174"/>
                  <a:pt x="6858008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9" y="1257529"/>
                  <a:pt x="4524842" y="1741029"/>
                  <a:pt x="6868899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94012" y="4178180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756816" y="4136526"/>
            <a:ext cx="1218603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pipeline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294012" y="4668883"/>
            <a:ext cx="316801" cy="316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756816" y="4627894"/>
            <a:ext cx="1960880" cy="39878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上下文长度限制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66392" y="2985413"/>
            <a:ext cx="3847848" cy="64633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lvl="0"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lvl="1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lvl="2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lvl="3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lvl="4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lvl="5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6pPr>
            <a:lvl7pPr marL="914400" lvl="6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7pPr>
            <a:lvl8pPr marL="1371600" lvl="7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8pPr>
            <a:lvl9pPr marL="1828800" lvl="8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目录 </a:t>
            </a:r>
            <a:r>
              <a:rPr lang="en-US" altLang="zh-CN" sz="3600"/>
              <a:t>| CONTENT</a:t>
            </a:r>
            <a:endParaRPr lang="en-US" altLang="zh-CN" sz="3600"/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294012" y="5174330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56816" y="5132676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xinference</a:t>
            </a:r>
            <a:endParaRPr lang="en-US" altLang="zh-CN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1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5640" y="95059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Xinference</a:t>
            </a:r>
            <a:r>
              <a:rPr lang="zh-CN" altLang="en-US"/>
              <a:t>是一个开源的分布式推理框架，支持多模态、多种模型，具备动态资源调度、异构算力支持、企业级特性等优势，提供丰富的</a:t>
            </a:r>
            <a:r>
              <a:rPr lang="en-US" altLang="zh-CN"/>
              <a:t>API</a:t>
            </a:r>
            <a:r>
              <a:rPr lang="zh-CN" altLang="en-US"/>
              <a:t>和可视化操作界面，可助力企业高效构建和部署</a:t>
            </a:r>
            <a:r>
              <a:rPr lang="en-US" altLang="zh-CN"/>
              <a:t>AI</a:t>
            </a:r>
            <a:r>
              <a:rPr lang="zh-CN" altLang="en-US"/>
              <a:t>应用。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2595" y="2105025"/>
            <a:ext cx="8941435" cy="40519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73825" y="9505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https://inference.readthedocs.io/zh-cn/latest/index.html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xinference</a:t>
            </a:r>
            <a:endParaRPr lang="en-US" altLang="zh-CN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2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74850"/>
            <a:ext cx="4657725" cy="4486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52525"/>
            <a:ext cx="6117590" cy="542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xinference</a:t>
            </a:r>
            <a:endParaRPr lang="en-US" altLang="zh-CN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1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741680"/>
            <a:ext cx="10227310" cy="570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QWEN3-235b-int8</a:t>
            </a:r>
            <a:endParaRPr lang="en-US" altLang="zh-CN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4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9" name="图片 8" descr="qwen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1680"/>
            <a:ext cx="12192000" cy="589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生成结果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5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25805"/>
            <a:ext cx="12192000" cy="5893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4057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生成结果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6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05435" y="950595"/>
            <a:ext cx="11618595" cy="5598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30000"/>
              </a:lnSpc>
            </a:pP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741680"/>
            <a:ext cx="12195175" cy="5900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4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7282"/>
            <a:ext cx="5312229" cy="3905382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39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858003" h="3917120">
                <a:moveTo>
                  <a:pt x="6843510" y="0"/>
                </a:moveTo>
                <a:lnTo>
                  <a:pt x="6858003" y="3917120"/>
                </a:lnTo>
                <a:lnTo>
                  <a:pt x="10100" y="3917120"/>
                </a:lnTo>
                <a:lnTo>
                  <a:pt x="10100" y="2356597"/>
                </a:lnTo>
                <a:cubicBezTo>
                  <a:pt x="11605" y="1577905"/>
                  <a:pt x="-1382" y="1039438"/>
                  <a:pt x="122" y="260746"/>
                </a:cubicBezTo>
                <a:cubicBezTo>
                  <a:pt x="2672562" y="2903059"/>
                  <a:pt x="5345001" y="2082125"/>
                  <a:pt x="6843510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rot="0" vert="horz" wrap="square" lIns="91440" tIns="45720" rIns="91440" bIns="45720" numCol="1" spcCol="0" anchor="ctr" anchorCtr="0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rot="16200000">
            <a:off x="3793994" y="-16037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9" h="6879174">
                <a:moveTo>
                  <a:pt x="6868899" y="197279"/>
                </a:moveTo>
                <a:cubicBezTo>
                  <a:pt x="6865271" y="1808265"/>
                  <a:pt x="6858008" y="6879174"/>
                  <a:pt x="6858008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9" y="1257529"/>
                  <a:pt x="4524842" y="1741029"/>
                  <a:pt x="6868899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94012" y="4178180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756816" y="4136526"/>
            <a:ext cx="1218603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pipeline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294012" y="4668883"/>
            <a:ext cx="316801" cy="316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0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756816" y="4627894"/>
            <a:ext cx="1960880" cy="39878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上下文长度限制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66392" y="2985413"/>
            <a:ext cx="3847848" cy="64633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lvl="0"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lvl="1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lvl="2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lvl="3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lvl="4" algn="r"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lvl="5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6pPr>
            <a:lvl7pPr marL="914400" lvl="6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7pPr>
            <a:lvl8pPr marL="1371600" lvl="7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8pPr>
            <a:lvl9pPr marL="1828800" lvl="8" algn="r">
              <a:spcBef>
                <a:spcPct val="0"/>
              </a:spcBef>
              <a:spcAft>
                <a:spcPct val="0"/>
              </a:spcAft>
              <a:defRPr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目录 </a:t>
            </a:r>
            <a:r>
              <a:rPr lang="en-US" altLang="zh-CN" sz="3600"/>
              <a:t>| CONTENT</a:t>
            </a:r>
            <a:endParaRPr lang="en-US" altLang="zh-CN" sz="3600"/>
          </a:p>
        </p:txBody>
      </p:sp>
      <p:pic>
        <p:nvPicPr>
          <p:cNvPr id="8" name="图片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294012" y="5174330"/>
            <a:ext cx="316801" cy="316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56816" y="5132676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7971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论文大纲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1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" y="1175707"/>
            <a:ext cx="5120219" cy="498377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718" y="451748"/>
            <a:ext cx="4880029" cy="147848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42"/>
          <a:stretch>
            <a:fillRect/>
          </a:stretch>
        </p:blipFill>
        <p:spPr>
          <a:xfrm>
            <a:off x="4717718" y="2024303"/>
            <a:ext cx="4703465" cy="398856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613" y="85212"/>
            <a:ext cx="3026432" cy="272051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848" y="3042217"/>
            <a:ext cx="3261963" cy="320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7971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部分虚拟数据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2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43" y="1027030"/>
            <a:ext cx="5170171" cy="55325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287" y="1027030"/>
            <a:ext cx="5177113" cy="55434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38885" y="219710"/>
            <a:ext cx="7971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生成效果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3694" y="237055"/>
            <a:ext cx="1203844" cy="488496"/>
            <a:chOff x="-3694" y="237055"/>
            <a:chExt cx="1203844" cy="48849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237055"/>
              <a:ext cx="1200150" cy="488496"/>
              <a:chOff x="0" y="254454"/>
              <a:chExt cx="1795510" cy="73251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0" y="254454"/>
                <a:ext cx="1487837" cy="732518"/>
              </a:xfrm>
              <a:custGeom>
                <a:avLst/>
                <a:gdLst>
                  <a:gd name="connsiteX0" fmla="*/ 0 w 1487837"/>
                  <a:gd name="connsiteY0" fmla="*/ 0 h 914400"/>
                  <a:gd name="connsiteX1" fmla="*/ 1487837 w 1487837"/>
                  <a:gd name="connsiteY1" fmla="*/ 0 h 914400"/>
                  <a:gd name="connsiteX2" fmla="*/ 1487837 w 1487837"/>
                  <a:gd name="connsiteY2" fmla="*/ 914400 h 914400"/>
                  <a:gd name="connsiteX3" fmla="*/ 0 w 1487837"/>
                  <a:gd name="connsiteY3" fmla="*/ 914400 h 914400"/>
                  <a:gd name="connsiteX4" fmla="*/ 0 w 1487837"/>
                  <a:gd name="connsiteY4" fmla="*/ 0 h 914400"/>
                  <a:gd name="connsiteX0-1" fmla="*/ 0 w 1487837"/>
                  <a:gd name="connsiteY0-2" fmla="*/ 29029 h 943429"/>
                  <a:gd name="connsiteX1-3" fmla="*/ 820180 w 1487837"/>
                  <a:gd name="connsiteY1-4" fmla="*/ 0 h 943429"/>
                  <a:gd name="connsiteX2-5" fmla="*/ 1487837 w 1487837"/>
                  <a:gd name="connsiteY2-6" fmla="*/ 943429 h 943429"/>
                  <a:gd name="connsiteX3-7" fmla="*/ 0 w 1487837"/>
                  <a:gd name="connsiteY3-8" fmla="*/ 943429 h 943429"/>
                  <a:gd name="connsiteX4-9" fmla="*/ 0 w 1487837"/>
                  <a:gd name="connsiteY4-10" fmla="*/ 29029 h 943429"/>
                  <a:gd name="connsiteX0-11" fmla="*/ 0 w 1487837"/>
                  <a:gd name="connsiteY0-12" fmla="*/ 0 h 914400"/>
                  <a:gd name="connsiteX1-13" fmla="*/ 820180 w 1487837"/>
                  <a:gd name="connsiteY1-14" fmla="*/ 10659 h 914400"/>
                  <a:gd name="connsiteX2-15" fmla="*/ 1487837 w 1487837"/>
                  <a:gd name="connsiteY2-16" fmla="*/ 914400 h 914400"/>
                  <a:gd name="connsiteX3-17" fmla="*/ 0 w 1487837"/>
                  <a:gd name="connsiteY3-18" fmla="*/ 914400 h 914400"/>
                  <a:gd name="connsiteX4-19" fmla="*/ 0 w 1487837"/>
                  <a:gd name="connsiteY4-20" fmla="*/ 0 h 914400"/>
                  <a:gd name="connsiteX0-21" fmla="*/ 0 w 1487837"/>
                  <a:gd name="connsiteY0-22" fmla="*/ 0 h 914400"/>
                  <a:gd name="connsiteX1-23" fmla="*/ 820180 w 1487837"/>
                  <a:gd name="connsiteY1-24" fmla="*/ 2721 h 914400"/>
                  <a:gd name="connsiteX2-25" fmla="*/ 1487837 w 1487837"/>
                  <a:gd name="connsiteY2-26" fmla="*/ 914400 h 914400"/>
                  <a:gd name="connsiteX3-27" fmla="*/ 0 w 1487837"/>
                  <a:gd name="connsiteY3-28" fmla="*/ 914400 h 914400"/>
                  <a:gd name="connsiteX4-29" fmla="*/ 0 w 1487837"/>
                  <a:gd name="connsiteY4-30" fmla="*/ 0 h 914400"/>
                  <a:gd name="connsiteX0-31" fmla="*/ 0 w 1487837"/>
                  <a:gd name="connsiteY0-32" fmla="*/ 1248 h 915648"/>
                  <a:gd name="connsiteX1-33" fmla="*/ 867805 w 1487837"/>
                  <a:gd name="connsiteY1-34" fmla="*/ 0 h 915648"/>
                  <a:gd name="connsiteX2-35" fmla="*/ 1487837 w 1487837"/>
                  <a:gd name="connsiteY2-36" fmla="*/ 915648 h 915648"/>
                  <a:gd name="connsiteX3-37" fmla="*/ 0 w 1487837"/>
                  <a:gd name="connsiteY3-38" fmla="*/ 915648 h 915648"/>
                  <a:gd name="connsiteX4-39" fmla="*/ 0 w 1487837"/>
                  <a:gd name="connsiteY4-40" fmla="*/ 1248 h 9156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87837" h="915648">
                    <a:moveTo>
                      <a:pt x="0" y="1248"/>
                    </a:moveTo>
                    <a:lnTo>
                      <a:pt x="867805" y="0"/>
                    </a:lnTo>
                    <a:lnTo>
                      <a:pt x="1487837" y="915648"/>
                    </a:lnTo>
                    <a:lnTo>
                      <a:pt x="0" y="915648"/>
                    </a:lnTo>
                    <a:lnTo>
                      <a:pt x="0" y="124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010747" y="254454"/>
                <a:ext cx="784763" cy="732518"/>
              </a:xfrm>
              <a:custGeom>
                <a:avLst/>
                <a:gdLst>
                  <a:gd name="connsiteX0" fmla="*/ 164731 w 784763"/>
                  <a:gd name="connsiteY0" fmla="*/ 0 h 732518"/>
                  <a:gd name="connsiteX1" fmla="*/ 784763 w 784763"/>
                  <a:gd name="connsiteY1" fmla="*/ 732518 h 732518"/>
                  <a:gd name="connsiteX2" fmla="*/ 619871 w 784763"/>
                  <a:gd name="connsiteY2" fmla="*/ 732518 h 732518"/>
                  <a:gd name="connsiteX3" fmla="*/ 0 w 784763"/>
                  <a:gd name="connsiteY3" fmla="*/ 190 h 73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63" h="732518">
                    <a:moveTo>
                      <a:pt x="164731" y="0"/>
                    </a:moveTo>
                    <a:lnTo>
                      <a:pt x="784763" y="732518"/>
                    </a:lnTo>
                    <a:lnTo>
                      <a:pt x="619871" y="732518"/>
                    </a:lnTo>
                    <a:lnTo>
                      <a:pt x="0" y="19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-3694" y="237055"/>
              <a:ext cx="72067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3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3694" y="6575725"/>
            <a:ext cx="12195694" cy="282275"/>
            <a:chOff x="-3694" y="6575725"/>
            <a:chExt cx="12195694" cy="282275"/>
          </a:xfrm>
        </p:grpSpPr>
        <p:sp>
          <p:nvSpPr>
            <p:cNvPr id="20" name="矩形 19"/>
            <p:cNvSpPr/>
            <p:nvPr/>
          </p:nvSpPr>
          <p:spPr>
            <a:xfrm>
              <a:off x="-3694" y="6575725"/>
              <a:ext cx="9785869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82176" y="6575725"/>
              <a:ext cx="18097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北京航空航天大学</a:t>
              </a:r>
              <a:endPara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1" y="725551"/>
            <a:ext cx="6097376" cy="354514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0" y="4270699"/>
            <a:ext cx="5739688" cy="261798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017" y="769801"/>
            <a:ext cx="5681916" cy="2972079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680" y="3770001"/>
            <a:ext cx="4883211" cy="3251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2561866" y="-185945"/>
            <a:ext cx="12192000" cy="6858000"/>
            <a:chOff x="-9441874" y="-1384720"/>
            <a:chExt cx="12192000" cy="6858000"/>
          </a:xfrm>
        </p:grpSpPr>
        <p:pic>
          <p:nvPicPr>
            <p:cNvPr id="1026" name="Picture 2" descr="http://pic.97uimg.com/back_pic/00/01/88/75/dab74c05ca1b40a8122bedf0e8ad055b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420"/>
            <a:stretch>
              <a:fillRect/>
            </a:stretch>
          </p:blipFill>
          <p:spPr bwMode="auto">
            <a:xfrm>
              <a:off x="-9441599" y="-1384719"/>
              <a:ext cx="12191450" cy="685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-9441874" y="-1384720"/>
              <a:ext cx="12192000" cy="68580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252652" y="2173931"/>
            <a:ext cx="8939348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782210" y="2938825"/>
            <a:ext cx="562662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4800" b="1" spc="300" dirty="0">
                <a:solidFill>
                  <a:schemeClr val="bg1"/>
                </a:solidFill>
              </a:rPr>
              <a:t>谢谢</a:t>
            </a:r>
            <a:endParaRPr lang="zh-CN" altLang="en-US" sz="4800" b="1" spc="3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0915" y="433895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答辩人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16763" y="4312179"/>
            <a:ext cx="20167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导师：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9" name="Jewel - Simple Gifts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0" y="-1211826"/>
            <a:ext cx="6096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51" y="2662728"/>
            <a:ext cx="1399822" cy="1399822"/>
          </a:xfrm>
          <a:prstGeom prst="rect">
            <a:avLst/>
          </a:prstGeom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1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2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" grpId="0" animBg="1"/>
      <p:bldP spid="5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PP_MARK_KEY" val="ce9867bc-ed83-478d-9a86-3e49e93103d7"/>
  <p:tag name="COMMONDATA" val="eyJoZGlkIjoiOGRiMDdjMmZjYzZkZmFiMzc3MTA1ZTBiNzBmZGVlZDA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WPS 演示</Application>
  <PresentationFormat>宽屏</PresentationFormat>
  <Paragraphs>198</Paragraphs>
  <Slides>23</Slides>
  <Notes>18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mycomputer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chenjiawei</dc:creator>
  <cp:lastModifiedBy>陈昊旸</cp:lastModifiedBy>
  <cp:revision>134</cp:revision>
  <dcterms:created xsi:type="dcterms:W3CDTF">2025-06-11T10:33:00Z</dcterms:created>
  <dcterms:modified xsi:type="dcterms:W3CDTF">2025-06-27T07:31:40Z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443D22AF5162435595B7EEA37925819C_12</vt:lpwstr>
  </property>
</Properties>
</file>